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269bb110b74ae8" /><Relationship Type="http://schemas.openxmlformats.org/officeDocument/2006/relationships/extended-properties" Target="/docProps/app.xml" Id="Reebb3d9c8acc414c" /><Relationship Type="http://schemas.openxmlformats.org/officeDocument/2006/relationships/officeDocument" Target="/ppt/presentation.xml" Id="R81d9abdc490640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4c4630e377441f"/>
  </p:sldMasterIdLst>
  <p:notesMasterIdLst>
    <p:notesMasterId xmlns:r="http://schemas.openxmlformats.org/officeDocument/2006/relationships" r:id="R50d8b026339d4c86"/>
  </p:notesMasterIdLst>
  <p:sldIdLst>
    <p:sldId xmlns:r="http://schemas.openxmlformats.org/officeDocument/2006/relationships" id="256" r:id="R7dc6bc6bbb5d40a1"/>
    <p:sldId xmlns:r="http://schemas.openxmlformats.org/officeDocument/2006/relationships" id="257" r:id="Rcd775e3624bd4409"/>
    <p:sldId xmlns:r="http://schemas.openxmlformats.org/officeDocument/2006/relationships" id="258" r:id="R156d5b5704d14bd8"/>
    <p:sldId xmlns:r="http://schemas.openxmlformats.org/officeDocument/2006/relationships" id="259" r:id="R05dad3963c5249a6"/>
    <p:sldId xmlns:r="http://schemas.openxmlformats.org/officeDocument/2006/relationships" id="260" r:id="R36b23cd8b52d4282"/>
    <p:sldId xmlns:r="http://schemas.openxmlformats.org/officeDocument/2006/relationships" id="261" r:id="R8675edf343e64f50"/>
    <p:sldId xmlns:r="http://schemas.openxmlformats.org/officeDocument/2006/relationships" id="262" r:id="R706d5fe348744ad1"/>
    <p:sldId xmlns:r="http://schemas.openxmlformats.org/officeDocument/2006/relationships" id="263" r:id="R10fced2b3d184d01"/>
    <p:sldId xmlns:r="http://schemas.openxmlformats.org/officeDocument/2006/relationships" id="264" r:id="Re2c5d0cda48e472a"/>
    <p:sldId xmlns:r="http://schemas.openxmlformats.org/officeDocument/2006/relationships" id="265" r:id="R8a5dbf96ac8d44f0"/>
    <p:sldId xmlns:r="http://schemas.openxmlformats.org/officeDocument/2006/relationships" id="266" r:id="R2fe345f3d8f54a23"/>
    <p:sldId xmlns:r="http://schemas.openxmlformats.org/officeDocument/2006/relationships" id="267" r:id="R0ad55c3a4faf4956"/>
    <p:sldId xmlns:r="http://schemas.openxmlformats.org/officeDocument/2006/relationships" id="268" r:id="R7c4f9c23cd4b4781"/>
    <p:sldId xmlns:r="http://schemas.openxmlformats.org/officeDocument/2006/relationships" id="269" r:id="Rd86d6a97a1b044cd"/>
    <p:sldId xmlns:r="http://schemas.openxmlformats.org/officeDocument/2006/relationships" id="270" r:id="Rd6f54995aa714776"/>
    <p:sldId xmlns:r="http://schemas.openxmlformats.org/officeDocument/2006/relationships" id="271" r:id="R8c761e30c531414c"/>
    <p:sldId xmlns:r="http://schemas.openxmlformats.org/officeDocument/2006/relationships" id="272" r:id="Rce1f33483fba454e"/>
    <p:sldId xmlns:r="http://schemas.openxmlformats.org/officeDocument/2006/relationships" id="273" r:id="R0220a3e4ecb643da"/>
    <p:sldId xmlns:r="http://schemas.openxmlformats.org/officeDocument/2006/relationships" id="274" r:id="Rc94d235f36f149b8"/>
    <p:sldId xmlns:r="http://schemas.openxmlformats.org/officeDocument/2006/relationships" id="275" r:id="Rec1f3640ea16460d"/>
    <p:sldId xmlns:r="http://schemas.openxmlformats.org/officeDocument/2006/relationships" id="276" r:id="R7e5148f25c8f434b"/>
    <p:sldId xmlns:r="http://schemas.openxmlformats.org/officeDocument/2006/relationships" id="277" r:id="R19072f9c3e0b4d3d"/>
    <p:sldId xmlns:r="http://schemas.openxmlformats.org/officeDocument/2006/relationships" id="278" r:id="R7d0309ef913f4cbc"/>
    <p:sldId xmlns:r="http://schemas.openxmlformats.org/officeDocument/2006/relationships" id="279" r:id="R0d9866a397e84da2"/>
    <p:sldId xmlns:r="http://schemas.openxmlformats.org/officeDocument/2006/relationships" id="280" r:id="Rf2ac4af0c57e4df4"/>
    <p:sldId xmlns:r="http://schemas.openxmlformats.org/officeDocument/2006/relationships" id="281" r:id="Re9bedd3e8df64a46"/>
    <p:sldId xmlns:r="http://schemas.openxmlformats.org/officeDocument/2006/relationships" id="282" r:id="R5487d048f8cf4101"/>
    <p:sldId xmlns:r="http://schemas.openxmlformats.org/officeDocument/2006/relationships" id="283" r:id="R8788e7760554478d"/>
    <p:sldId xmlns:r="http://schemas.openxmlformats.org/officeDocument/2006/relationships" id="284" r:id="R6f5a2b8a6f7b4d0e"/>
    <p:sldId xmlns:r="http://schemas.openxmlformats.org/officeDocument/2006/relationships" id="285" r:id="Rb53e562383ba466d"/>
    <p:sldId xmlns:r="http://schemas.openxmlformats.org/officeDocument/2006/relationships" id="286" r:id="R091ccd3cba3e4033"/>
    <p:sldId xmlns:r="http://schemas.openxmlformats.org/officeDocument/2006/relationships" id="287" r:id="R611517bae9a24990"/>
    <p:sldId xmlns:r="http://schemas.openxmlformats.org/officeDocument/2006/relationships" id="288" r:id="R7400010a85e747a0"/>
    <p:sldId xmlns:r="http://schemas.openxmlformats.org/officeDocument/2006/relationships" id="289" r:id="R0f979c8f2d1d41f5"/>
    <p:sldId xmlns:r="http://schemas.openxmlformats.org/officeDocument/2006/relationships" id="290" r:id="R0349826e51eb4229"/>
    <p:sldId xmlns:r="http://schemas.openxmlformats.org/officeDocument/2006/relationships" id="291" r:id="R51e73277c67745ec"/>
    <p:sldId xmlns:r="http://schemas.openxmlformats.org/officeDocument/2006/relationships" id="292" r:id="R666519af9c364d76"/>
    <p:sldId xmlns:r="http://schemas.openxmlformats.org/officeDocument/2006/relationships" id="293" r:id="Rac8b23fd75a34c3f"/>
    <p:sldId xmlns:r="http://schemas.openxmlformats.org/officeDocument/2006/relationships" id="294" r:id="Rcb6e033aab904838"/>
    <p:sldId xmlns:r="http://schemas.openxmlformats.org/officeDocument/2006/relationships" id="295" r:id="Rc1f39fd0fa0e436c"/>
    <p:sldId xmlns:r="http://schemas.openxmlformats.org/officeDocument/2006/relationships" id="296" r:id="R460f12f4f2494cd5"/>
    <p:sldId xmlns:r="http://schemas.openxmlformats.org/officeDocument/2006/relationships" id="297" r:id="Rd2d26ed00ef9456d"/>
    <p:sldId xmlns:r="http://schemas.openxmlformats.org/officeDocument/2006/relationships" id="298" r:id="Re3981c07c9b84e6a"/>
    <p:sldId xmlns:r="http://schemas.openxmlformats.org/officeDocument/2006/relationships" id="299" r:id="R59668d1a98b744dc"/>
    <p:sldId xmlns:r="http://schemas.openxmlformats.org/officeDocument/2006/relationships" id="300" r:id="Rae86f64fdad44306"/>
    <p:sldId xmlns:r="http://schemas.openxmlformats.org/officeDocument/2006/relationships" id="301" r:id="R4154a43922894d51"/>
    <p:sldId xmlns:r="http://schemas.openxmlformats.org/officeDocument/2006/relationships" id="302" r:id="R0dfd268a4e074c89"/>
    <p:sldId xmlns:r="http://schemas.openxmlformats.org/officeDocument/2006/relationships" id="303" r:id="Rec592076f09647a6"/>
    <p:sldId xmlns:r="http://schemas.openxmlformats.org/officeDocument/2006/relationships" id="304" r:id="R1c34397b75814e43"/>
    <p:sldId xmlns:r="http://schemas.openxmlformats.org/officeDocument/2006/relationships" id="305" r:id="Re4c02db3676a4fc1"/>
    <p:sldId xmlns:r="http://schemas.openxmlformats.org/officeDocument/2006/relationships" id="306" r:id="Rd7d646c67004491f"/>
    <p:sldId xmlns:r="http://schemas.openxmlformats.org/officeDocument/2006/relationships" id="307" r:id="R4790d17f2dc24f9f"/>
    <p:sldId xmlns:r="http://schemas.openxmlformats.org/officeDocument/2006/relationships" id="308" r:id="R8551a87378df46a8"/>
    <p:sldId xmlns:r="http://schemas.openxmlformats.org/officeDocument/2006/relationships" id="309" r:id="R54754a6549bd42ce"/>
    <p:sldId xmlns:r="http://schemas.openxmlformats.org/officeDocument/2006/relationships" id="310" r:id="R0bfa7c1fc5d64d87"/>
    <p:sldId xmlns:r="http://schemas.openxmlformats.org/officeDocument/2006/relationships" id="311" r:id="R80337c84a3da4ffe"/>
    <p:sldId xmlns:r="http://schemas.openxmlformats.org/officeDocument/2006/relationships" id="312" r:id="Rf0aacfdf22ca4fc5"/>
    <p:sldId xmlns:r="http://schemas.openxmlformats.org/officeDocument/2006/relationships" id="313" r:id="R10714ad7307942a5"/>
    <p:sldId xmlns:r="http://schemas.openxmlformats.org/officeDocument/2006/relationships" id="314" r:id="R69500b1193414f08"/>
    <p:sldId xmlns:r="http://schemas.openxmlformats.org/officeDocument/2006/relationships" id="315" r:id="R5db2ac57b565405e"/>
    <p:sldId xmlns:r="http://schemas.openxmlformats.org/officeDocument/2006/relationships" id="316" r:id="R9443c78b29cf41dc"/>
    <p:sldId xmlns:r="http://schemas.openxmlformats.org/officeDocument/2006/relationships" id="317" r:id="R3e37e831035e44be"/>
    <p:sldId xmlns:r="http://schemas.openxmlformats.org/officeDocument/2006/relationships" id="318" r:id="R21ddd9d8d04e47c4"/>
    <p:sldId xmlns:r="http://schemas.openxmlformats.org/officeDocument/2006/relationships" id="319" r:id="R7eb7ec379def48f7"/>
    <p:sldId xmlns:r="http://schemas.openxmlformats.org/officeDocument/2006/relationships" id="320" r:id="R7449a49e56b04646"/>
    <p:sldId xmlns:r="http://schemas.openxmlformats.org/officeDocument/2006/relationships" id="321" r:id="Reb8d9daf61894bd0"/>
    <p:sldId xmlns:r="http://schemas.openxmlformats.org/officeDocument/2006/relationships" id="322" r:id="R333bbfc573ec476d"/>
    <p:sldId xmlns:r="http://schemas.openxmlformats.org/officeDocument/2006/relationships" id="323" r:id="R982533e8e82c4a70"/>
    <p:sldId xmlns:r="http://schemas.openxmlformats.org/officeDocument/2006/relationships" id="324" r:id="R25ebc9da4c8a46a1"/>
    <p:sldId xmlns:r="http://schemas.openxmlformats.org/officeDocument/2006/relationships" id="325" r:id="Rfe6d2ee7694f41e9"/>
    <p:sldId xmlns:r="http://schemas.openxmlformats.org/officeDocument/2006/relationships" id="326" r:id="R195b02d7dbc94f0e"/>
    <p:sldId xmlns:r="http://schemas.openxmlformats.org/officeDocument/2006/relationships" id="327" r:id="Rc0e45a0485034607"/>
    <p:sldId xmlns:r="http://schemas.openxmlformats.org/officeDocument/2006/relationships" id="328" r:id="R0a6bd6ade7b549ed"/>
    <p:sldId xmlns:r="http://schemas.openxmlformats.org/officeDocument/2006/relationships" id="329" r:id="Ree269a937c7246f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d0e7fb8a644a61" /><Relationship Type="http://schemas.openxmlformats.org/officeDocument/2006/relationships/slideMaster" Target="/ppt/slideMasters/slideMaster1.xml" Id="R004c4630e377441f" /><Relationship Type="http://schemas.openxmlformats.org/officeDocument/2006/relationships/notesMaster" Target="/ppt/notesMasters/notesMaster1.xml" Id="R50d8b026339d4c86" /><Relationship Type="http://schemas.openxmlformats.org/officeDocument/2006/relationships/presProps" Target="/ppt/presProps.xml" Id="R0c472b16f7ff48db" /><Relationship Type="http://schemas.openxmlformats.org/officeDocument/2006/relationships/tableStyles" Target="/ppt/tableStyles.xml" Id="R4fb4c94127504875" /><Relationship Type="http://schemas.openxmlformats.org/officeDocument/2006/relationships/slide" Target="/ppt/slides/slide1.xml" Id="R7dc6bc6bbb5d40a1" /><Relationship Type="http://schemas.openxmlformats.org/officeDocument/2006/relationships/slide" Target="/ppt/slides/slide2.xml" Id="Rcd775e3624bd4409" /><Relationship Type="http://schemas.openxmlformats.org/officeDocument/2006/relationships/slide" Target="/ppt/slides/slide3.xml" Id="R156d5b5704d14bd8" /><Relationship Type="http://schemas.openxmlformats.org/officeDocument/2006/relationships/slide" Target="/ppt/slides/slide4.xml" Id="R05dad3963c5249a6" /><Relationship Type="http://schemas.openxmlformats.org/officeDocument/2006/relationships/slide" Target="/ppt/slides/slide5.xml" Id="R36b23cd8b52d4282" /><Relationship Type="http://schemas.openxmlformats.org/officeDocument/2006/relationships/slide" Target="/ppt/slides/slide6.xml" Id="R8675edf343e64f50" /><Relationship Type="http://schemas.openxmlformats.org/officeDocument/2006/relationships/slide" Target="/ppt/slides/slide7.xml" Id="R706d5fe348744ad1" /><Relationship Type="http://schemas.openxmlformats.org/officeDocument/2006/relationships/slide" Target="/ppt/slides/slide8.xml" Id="R10fced2b3d184d01" /><Relationship Type="http://schemas.openxmlformats.org/officeDocument/2006/relationships/slide" Target="/ppt/slides/slide9.xml" Id="Re2c5d0cda48e472a" /><Relationship Type="http://schemas.openxmlformats.org/officeDocument/2006/relationships/slide" Target="/ppt/slides/slide10.xml" Id="R8a5dbf96ac8d44f0" /><Relationship Type="http://schemas.openxmlformats.org/officeDocument/2006/relationships/slide" Target="/ppt/slides/slide11.xml" Id="R2fe345f3d8f54a23" /><Relationship Type="http://schemas.openxmlformats.org/officeDocument/2006/relationships/slide" Target="/ppt/slides/slide12.xml" Id="R0ad55c3a4faf4956" /><Relationship Type="http://schemas.openxmlformats.org/officeDocument/2006/relationships/slide" Target="/ppt/slides/slide13.xml" Id="R7c4f9c23cd4b4781" /><Relationship Type="http://schemas.openxmlformats.org/officeDocument/2006/relationships/slide" Target="/ppt/slides/slide14.xml" Id="Rd86d6a97a1b044cd" /><Relationship Type="http://schemas.openxmlformats.org/officeDocument/2006/relationships/slide" Target="/ppt/slides/slide15.xml" Id="Rd6f54995aa714776" /><Relationship Type="http://schemas.openxmlformats.org/officeDocument/2006/relationships/slide" Target="/ppt/slides/slide16.xml" Id="R8c761e30c531414c" /><Relationship Type="http://schemas.openxmlformats.org/officeDocument/2006/relationships/slide" Target="/ppt/slides/slide17.xml" Id="Rce1f33483fba454e" /><Relationship Type="http://schemas.openxmlformats.org/officeDocument/2006/relationships/slide" Target="/ppt/slides/slide18.xml" Id="R0220a3e4ecb643da" /><Relationship Type="http://schemas.openxmlformats.org/officeDocument/2006/relationships/slide" Target="/ppt/slides/slide19.xml" Id="Rc94d235f36f149b8" /><Relationship Type="http://schemas.openxmlformats.org/officeDocument/2006/relationships/slide" Target="/ppt/slides/slide20.xml" Id="Rec1f3640ea16460d" /><Relationship Type="http://schemas.openxmlformats.org/officeDocument/2006/relationships/slide" Target="/ppt/slides/slide21.xml" Id="R7e5148f25c8f434b" /><Relationship Type="http://schemas.openxmlformats.org/officeDocument/2006/relationships/slide" Target="/ppt/slides/slide22.xml" Id="R19072f9c3e0b4d3d" /><Relationship Type="http://schemas.openxmlformats.org/officeDocument/2006/relationships/slide" Target="/ppt/slides/slide23.xml" Id="R7d0309ef913f4cbc" /><Relationship Type="http://schemas.openxmlformats.org/officeDocument/2006/relationships/slide" Target="/ppt/slides/slide24.xml" Id="R0d9866a397e84da2" /><Relationship Type="http://schemas.openxmlformats.org/officeDocument/2006/relationships/slide" Target="/ppt/slides/slide25.xml" Id="Rf2ac4af0c57e4df4" /><Relationship Type="http://schemas.openxmlformats.org/officeDocument/2006/relationships/slide" Target="/ppt/slides/slide26.xml" Id="Re9bedd3e8df64a46" /><Relationship Type="http://schemas.openxmlformats.org/officeDocument/2006/relationships/slide" Target="/ppt/slides/slide27.xml" Id="R5487d048f8cf4101" /><Relationship Type="http://schemas.openxmlformats.org/officeDocument/2006/relationships/slide" Target="/ppt/slides/slide28.xml" Id="R8788e7760554478d" /><Relationship Type="http://schemas.openxmlformats.org/officeDocument/2006/relationships/slide" Target="/ppt/slides/slide29.xml" Id="R6f5a2b8a6f7b4d0e" /><Relationship Type="http://schemas.openxmlformats.org/officeDocument/2006/relationships/slide" Target="/ppt/slides/slide30.xml" Id="Rb53e562383ba466d" /><Relationship Type="http://schemas.openxmlformats.org/officeDocument/2006/relationships/slide" Target="/ppt/slides/slide31.xml" Id="R091ccd3cba3e4033" /><Relationship Type="http://schemas.openxmlformats.org/officeDocument/2006/relationships/slide" Target="/ppt/slides/slide32.xml" Id="R611517bae9a24990" /><Relationship Type="http://schemas.openxmlformats.org/officeDocument/2006/relationships/slide" Target="/ppt/slides/slide33.xml" Id="R7400010a85e747a0" /><Relationship Type="http://schemas.openxmlformats.org/officeDocument/2006/relationships/slide" Target="/ppt/slides/slide34.xml" Id="R0f979c8f2d1d41f5" /><Relationship Type="http://schemas.openxmlformats.org/officeDocument/2006/relationships/slide" Target="/ppt/slides/slide35.xml" Id="R0349826e51eb4229" /><Relationship Type="http://schemas.openxmlformats.org/officeDocument/2006/relationships/slide" Target="/ppt/slides/slide36.xml" Id="R51e73277c67745ec" /><Relationship Type="http://schemas.openxmlformats.org/officeDocument/2006/relationships/slide" Target="/ppt/slides/slide37.xml" Id="R666519af9c364d76" /><Relationship Type="http://schemas.openxmlformats.org/officeDocument/2006/relationships/slide" Target="/ppt/slides/slide38.xml" Id="Rac8b23fd75a34c3f" /><Relationship Type="http://schemas.openxmlformats.org/officeDocument/2006/relationships/slide" Target="/ppt/slides/slide39.xml" Id="Rcb6e033aab904838" /><Relationship Type="http://schemas.openxmlformats.org/officeDocument/2006/relationships/slide" Target="/ppt/slides/slide40.xml" Id="Rc1f39fd0fa0e436c" /><Relationship Type="http://schemas.openxmlformats.org/officeDocument/2006/relationships/slide" Target="/ppt/slides/slide41.xml" Id="R460f12f4f2494cd5" /><Relationship Type="http://schemas.openxmlformats.org/officeDocument/2006/relationships/slide" Target="/ppt/slides/slide42.xml" Id="Rd2d26ed00ef9456d" /><Relationship Type="http://schemas.openxmlformats.org/officeDocument/2006/relationships/slide" Target="/ppt/slides/slide43.xml" Id="Re3981c07c9b84e6a" /><Relationship Type="http://schemas.openxmlformats.org/officeDocument/2006/relationships/slide" Target="/ppt/slides/slide44.xml" Id="R59668d1a98b744dc" /><Relationship Type="http://schemas.openxmlformats.org/officeDocument/2006/relationships/slide" Target="/ppt/slides/slide45.xml" Id="Rae86f64fdad44306" /><Relationship Type="http://schemas.openxmlformats.org/officeDocument/2006/relationships/slide" Target="/ppt/slides/slide46.xml" Id="R4154a43922894d51" /><Relationship Type="http://schemas.openxmlformats.org/officeDocument/2006/relationships/slide" Target="/ppt/slides/slide47.xml" Id="R0dfd268a4e074c89" /><Relationship Type="http://schemas.openxmlformats.org/officeDocument/2006/relationships/slide" Target="/ppt/slides/slide48.xml" Id="Rec592076f09647a6" /><Relationship Type="http://schemas.openxmlformats.org/officeDocument/2006/relationships/slide" Target="/ppt/slides/slide49.xml" Id="R1c34397b75814e43" /><Relationship Type="http://schemas.openxmlformats.org/officeDocument/2006/relationships/slide" Target="/ppt/slides/slide50.xml" Id="Re4c02db3676a4fc1" /><Relationship Type="http://schemas.openxmlformats.org/officeDocument/2006/relationships/slide" Target="/ppt/slides/slide51.xml" Id="Rd7d646c67004491f" /><Relationship Type="http://schemas.openxmlformats.org/officeDocument/2006/relationships/slide" Target="/ppt/slides/slide52.xml" Id="R4790d17f2dc24f9f" /><Relationship Type="http://schemas.openxmlformats.org/officeDocument/2006/relationships/slide" Target="/ppt/slides/slide53.xml" Id="R8551a87378df46a8" /><Relationship Type="http://schemas.openxmlformats.org/officeDocument/2006/relationships/slide" Target="/ppt/slides/slide54.xml" Id="R54754a6549bd42ce" /><Relationship Type="http://schemas.openxmlformats.org/officeDocument/2006/relationships/slide" Target="/ppt/slides/slide55.xml" Id="R0bfa7c1fc5d64d87" /><Relationship Type="http://schemas.openxmlformats.org/officeDocument/2006/relationships/slide" Target="/ppt/slides/slide56.xml" Id="R80337c84a3da4ffe" /><Relationship Type="http://schemas.openxmlformats.org/officeDocument/2006/relationships/slide" Target="/ppt/slides/slide57.xml" Id="Rf0aacfdf22ca4fc5" /><Relationship Type="http://schemas.openxmlformats.org/officeDocument/2006/relationships/slide" Target="/ppt/slides/slide58.xml" Id="R10714ad7307942a5" /><Relationship Type="http://schemas.openxmlformats.org/officeDocument/2006/relationships/slide" Target="/ppt/slides/slide59.xml" Id="R69500b1193414f08" /><Relationship Type="http://schemas.openxmlformats.org/officeDocument/2006/relationships/slide" Target="/ppt/slides/slide60.xml" Id="R5db2ac57b565405e" /><Relationship Type="http://schemas.openxmlformats.org/officeDocument/2006/relationships/slide" Target="/ppt/slides/slide61.xml" Id="R9443c78b29cf41dc" /><Relationship Type="http://schemas.openxmlformats.org/officeDocument/2006/relationships/slide" Target="/ppt/slides/slide62.xml" Id="R3e37e831035e44be" /><Relationship Type="http://schemas.openxmlformats.org/officeDocument/2006/relationships/slide" Target="/ppt/slides/slide63.xml" Id="R21ddd9d8d04e47c4" /><Relationship Type="http://schemas.openxmlformats.org/officeDocument/2006/relationships/slide" Target="/ppt/slides/slide64.xml" Id="R7eb7ec379def48f7" /><Relationship Type="http://schemas.openxmlformats.org/officeDocument/2006/relationships/slide" Target="/ppt/slides/slide65.xml" Id="R7449a49e56b04646" /><Relationship Type="http://schemas.openxmlformats.org/officeDocument/2006/relationships/slide" Target="/ppt/slides/slide66.xml" Id="Reb8d9daf61894bd0" /><Relationship Type="http://schemas.openxmlformats.org/officeDocument/2006/relationships/slide" Target="/ppt/slides/slide67.xml" Id="R333bbfc573ec476d" /><Relationship Type="http://schemas.openxmlformats.org/officeDocument/2006/relationships/slide" Target="/ppt/slides/slide68.xml" Id="R982533e8e82c4a70" /><Relationship Type="http://schemas.openxmlformats.org/officeDocument/2006/relationships/slide" Target="/ppt/slides/slide69.xml" Id="R25ebc9da4c8a46a1" /><Relationship Type="http://schemas.openxmlformats.org/officeDocument/2006/relationships/slide" Target="/ppt/slides/slide70.xml" Id="Rfe6d2ee7694f41e9" /><Relationship Type="http://schemas.openxmlformats.org/officeDocument/2006/relationships/slide" Target="/ppt/slides/slide71.xml" Id="R195b02d7dbc94f0e" /><Relationship Type="http://schemas.openxmlformats.org/officeDocument/2006/relationships/slide" Target="/ppt/slides/slide72.xml" Id="Rc0e45a0485034607" /><Relationship Type="http://schemas.openxmlformats.org/officeDocument/2006/relationships/slide" Target="/ppt/slides/slide73.xml" Id="R0a6bd6ade7b549ed" /><Relationship Type="http://schemas.openxmlformats.org/officeDocument/2006/relationships/slide" Target="/ppt/slides/slide74.xml" Id="Ree269a937c7246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dbf045af81d4e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f9b507f66423a" /><Relationship Type="http://schemas.openxmlformats.org/officeDocument/2006/relationships/notesMaster" Target="/ppt/notesMasters/notesMaster1.xml" Id="Rebe54f77d0b741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99dda7ad954d2d" /><Relationship Type="http://schemas.openxmlformats.org/officeDocument/2006/relationships/notesMaster" Target="/ppt/notesMasters/notesMaster1.xml" Id="R7447eadcb59f4d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22dad9ac5410d" /><Relationship Type="http://schemas.openxmlformats.org/officeDocument/2006/relationships/notesMaster" Target="/ppt/notesMasters/notesMaster1.xml" Id="R9b670669b1cd45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b3486dbdc4def" /><Relationship Type="http://schemas.openxmlformats.org/officeDocument/2006/relationships/notesMaster" Target="/ppt/notesMasters/notesMaster1.xml" Id="R2265081a850241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c9a8376f1146de" /><Relationship Type="http://schemas.openxmlformats.org/officeDocument/2006/relationships/notesMaster" Target="/ppt/notesMasters/notesMaster1.xml" Id="R815eca7113c246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81d0fc15514ad6" /><Relationship Type="http://schemas.openxmlformats.org/officeDocument/2006/relationships/notesMaster" Target="/ppt/notesMasters/notesMaster1.xml" Id="Rdc55ef3e3b9b4f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f4d155b5b94123" /><Relationship Type="http://schemas.openxmlformats.org/officeDocument/2006/relationships/notesMaster" Target="/ppt/notesMasters/notesMaster1.xml" Id="R3bec84a36aa145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75edeaf8e442bd" /><Relationship Type="http://schemas.openxmlformats.org/officeDocument/2006/relationships/notesMaster" Target="/ppt/notesMasters/notesMaster1.xml" Id="R4db1d94668c845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032b8ec6f1471e" /><Relationship Type="http://schemas.openxmlformats.org/officeDocument/2006/relationships/notesMaster" Target="/ppt/notesMasters/notesMaster1.xml" Id="Rc2dad3e5b05c45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52cc7954a84a0b" /><Relationship Type="http://schemas.openxmlformats.org/officeDocument/2006/relationships/notesMaster" Target="/ppt/notesMasters/notesMaster1.xml" Id="R44d0d1067d3a4e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163ae42165646e7" /><Relationship Type="http://schemas.openxmlformats.org/officeDocument/2006/relationships/notesMaster" Target="/ppt/notesMasters/notesMaster1.xml" Id="Rfb1ad0c19a2d44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9973dae8504675" /><Relationship Type="http://schemas.openxmlformats.org/officeDocument/2006/relationships/notesMaster" Target="/ppt/notesMasters/notesMaster1.xml" Id="Rf66d917a6ac046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b52d4603c9435f" /><Relationship Type="http://schemas.openxmlformats.org/officeDocument/2006/relationships/notesMaster" Target="/ppt/notesMasters/notesMaster1.xml" Id="R3fd63d4c6cfb45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63254ccbe44292" /><Relationship Type="http://schemas.openxmlformats.org/officeDocument/2006/relationships/notesMaster" Target="/ppt/notesMasters/notesMaster1.xml" Id="Rc3304fd898114d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ab18e42bac4bfc" /><Relationship Type="http://schemas.openxmlformats.org/officeDocument/2006/relationships/notesMaster" Target="/ppt/notesMasters/notesMaster1.xml" Id="R105a728d26aa4de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c747ddafc04b7d" /><Relationship Type="http://schemas.openxmlformats.org/officeDocument/2006/relationships/notesMaster" Target="/ppt/notesMasters/notesMaster1.xml" Id="R14808d699c8f492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26e783f8834f27" /><Relationship Type="http://schemas.openxmlformats.org/officeDocument/2006/relationships/notesMaster" Target="/ppt/notesMasters/notesMaster1.xml" Id="Rfebff363f5fe474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a3b95ec9a54789" /><Relationship Type="http://schemas.openxmlformats.org/officeDocument/2006/relationships/notesMaster" Target="/ppt/notesMasters/notesMaster1.xml" Id="R09bc4f91a30145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5aff1de54d457e" /><Relationship Type="http://schemas.openxmlformats.org/officeDocument/2006/relationships/notesMaster" Target="/ppt/notesMasters/notesMaster1.xml" Id="R5917a22bbc9c42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53fa7fc2ff4720" /><Relationship Type="http://schemas.openxmlformats.org/officeDocument/2006/relationships/notesMaster" Target="/ppt/notesMasters/notesMaster1.xml" Id="R6f64d693b6b147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5257baf68d46db" /><Relationship Type="http://schemas.openxmlformats.org/officeDocument/2006/relationships/notesMaster" Target="/ppt/notesMasters/notesMaster1.xml" Id="R6a800cc2b1774c9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850cdceac145d3" /><Relationship Type="http://schemas.openxmlformats.org/officeDocument/2006/relationships/notesMaster" Target="/ppt/notesMasters/notesMaster1.xml" Id="R10e7135449d14c3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fcf79358c147f4" /><Relationship Type="http://schemas.openxmlformats.org/officeDocument/2006/relationships/notesMaster" Target="/ppt/notesMasters/notesMaster1.xml" Id="R9d44b444ab80408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5b043744f404282" /><Relationship Type="http://schemas.openxmlformats.org/officeDocument/2006/relationships/notesMaster" Target="/ppt/notesMasters/notesMaster1.xml" Id="R174f3d08120f4db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21429e1f77f466f" /><Relationship Type="http://schemas.openxmlformats.org/officeDocument/2006/relationships/notesMaster" Target="/ppt/notesMasters/notesMaster1.xml" Id="R65d6b9624c414f5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0ab84a19c984e43" /><Relationship Type="http://schemas.openxmlformats.org/officeDocument/2006/relationships/notesMaster" Target="/ppt/notesMasters/notesMaster1.xml" Id="R2d90f3963cd54dc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9a0f12de164954" /><Relationship Type="http://schemas.openxmlformats.org/officeDocument/2006/relationships/notesMaster" Target="/ppt/notesMasters/notesMaster1.xml" Id="Rccb7c5eee2184a1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8f1b191c3c49d6" /><Relationship Type="http://schemas.openxmlformats.org/officeDocument/2006/relationships/notesMaster" Target="/ppt/notesMasters/notesMaster1.xml" Id="R530a0beeb7f24db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b7995e488564d25" /><Relationship Type="http://schemas.openxmlformats.org/officeDocument/2006/relationships/notesMaster" Target="/ppt/notesMasters/notesMaster1.xml" Id="R10792ccfa3ad48e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6f4bdcc2610486f" /><Relationship Type="http://schemas.openxmlformats.org/officeDocument/2006/relationships/notesMaster" Target="/ppt/notesMasters/notesMaster1.xml" Id="Rd8909d5027b844c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e6ab82ed8b64d3a" /><Relationship Type="http://schemas.openxmlformats.org/officeDocument/2006/relationships/notesMaster" Target="/ppt/notesMasters/notesMaster1.xml" Id="R6738e64ec5dd48e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620fc66573548f9" /><Relationship Type="http://schemas.openxmlformats.org/officeDocument/2006/relationships/notesMaster" Target="/ppt/notesMasters/notesMaster1.xml" Id="R556af80f480846d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8275bcf059b4ced" /><Relationship Type="http://schemas.openxmlformats.org/officeDocument/2006/relationships/notesMaster" Target="/ppt/notesMasters/notesMaster1.xml" Id="Rd894fd5dd89b458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13a37a7ba03477c" /><Relationship Type="http://schemas.openxmlformats.org/officeDocument/2006/relationships/notesMaster" Target="/ppt/notesMasters/notesMaster1.xml" Id="R7a34626d5189477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8a8c15e84464873" /><Relationship Type="http://schemas.openxmlformats.org/officeDocument/2006/relationships/notesMaster" Target="/ppt/notesMasters/notesMaster1.xml" Id="Rc738d0ad04974b1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08d8f270ad04bf0" /><Relationship Type="http://schemas.openxmlformats.org/officeDocument/2006/relationships/notesMaster" Target="/ppt/notesMasters/notesMaster1.xml" Id="R3a658cc4c4a6437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701f81ce71347c6" /><Relationship Type="http://schemas.openxmlformats.org/officeDocument/2006/relationships/notesMaster" Target="/ppt/notesMasters/notesMaster1.xml" Id="R94eab70cf3d742c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27dc9d3221a44ba" /><Relationship Type="http://schemas.openxmlformats.org/officeDocument/2006/relationships/notesMaster" Target="/ppt/notesMasters/notesMaster1.xml" Id="R6b90f6cb0ded4b3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7eed7959892442d" /><Relationship Type="http://schemas.openxmlformats.org/officeDocument/2006/relationships/notesMaster" Target="/ppt/notesMasters/notesMaster1.xml" Id="R48e7d67efed6483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6701ef5994b45df" /><Relationship Type="http://schemas.openxmlformats.org/officeDocument/2006/relationships/notesMaster" Target="/ppt/notesMasters/notesMaster1.xml" Id="R505fee4ed1de420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48939f47c3349af" /><Relationship Type="http://schemas.openxmlformats.org/officeDocument/2006/relationships/notesMaster" Target="/ppt/notesMasters/notesMaster1.xml" Id="R4558a45ea26e49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e6c012eec804b1f" /><Relationship Type="http://schemas.openxmlformats.org/officeDocument/2006/relationships/notesMaster" Target="/ppt/notesMasters/notesMaster1.xml" Id="R7c333666cfe24fa6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ade353aef654da4" /><Relationship Type="http://schemas.openxmlformats.org/officeDocument/2006/relationships/notesMaster" Target="/ppt/notesMasters/notesMaster1.xml" Id="Rcf09827e82344b5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4b32b8429934540" /><Relationship Type="http://schemas.openxmlformats.org/officeDocument/2006/relationships/notesMaster" Target="/ppt/notesMasters/notesMaster1.xml" Id="Rcbf8025ff890433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becfc440bf44730" /><Relationship Type="http://schemas.openxmlformats.org/officeDocument/2006/relationships/notesMaster" Target="/ppt/notesMasters/notesMaster1.xml" Id="R178187d7447d4e7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be97112d5d4344d8" /><Relationship Type="http://schemas.openxmlformats.org/officeDocument/2006/relationships/notesMaster" Target="/ppt/notesMasters/notesMaster1.xml" Id="R59d6a3204629484d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9551ae51210404f" /><Relationship Type="http://schemas.openxmlformats.org/officeDocument/2006/relationships/notesMaster" Target="/ppt/notesMasters/notesMaster1.xml" Id="R79400d040d4e49c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d79510abd9042f7" /><Relationship Type="http://schemas.openxmlformats.org/officeDocument/2006/relationships/notesMaster" Target="/ppt/notesMasters/notesMaster1.xml" Id="R605584382d4941b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69b356bb9ec4417" /><Relationship Type="http://schemas.openxmlformats.org/officeDocument/2006/relationships/notesMaster" Target="/ppt/notesMasters/notesMaster1.xml" Id="R2a820f26bcbb4ab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0dad22c3700b4be1" /><Relationship Type="http://schemas.openxmlformats.org/officeDocument/2006/relationships/notesMaster" Target="/ppt/notesMasters/notesMaster1.xml" Id="Rb909f1e6f02d451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98d0ccbeea6a4758" /><Relationship Type="http://schemas.openxmlformats.org/officeDocument/2006/relationships/notesMaster" Target="/ppt/notesMasters/notesMaster1.xml" Id="R9b4b33d3f8db490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eb02a63254ab4643" /><Relationship Type="http://schemas.openxmlformats.org/officeDocument/2006/relationships/notesMaster" Target="/ppt/notesMasters/notesMaster1.xml" Id="Rcebf362d21d94a16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430b2f48fec64134" /><Relationship Type="http://schemas.openxmlformats.org/officeDocument/2006/relationships/notesMaster" Target="/ppt/notesMasters/notesMaster1.xml" Id="R9d4202028c4f4c4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476a9995e6d41d2" /><Relationship Type="http://schemas.openxmlformats.org/officeDocument/2006/relationships/notesMaster" Target="/ppt/notesMasters/notesMaster1.xml" Id="Ra283c047d65f48b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a1f095dbd2841e4" /><Relationship Type="http://schemas.openxmlformats.org/officeDocument/2006/relationships/notesMaster" Target="/ppt/notesMasters/notesMaster1.xml" Id="Raa810f6b6ef34cfd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ac4167d6b4514d41" /><Relationship Type="http://schemas.openxmlformats.org/officeDocument/2006/relationships/notesMaster" Target="/ppt/notesMasters/notesMaster1.xml" Id="R74f6329713d2433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ab37397150534756" /><Relationship Type="http://schemas.openxmlformats.org/officeDocument/2006/relationships/notesMaster" Target="/ppt/notesMasters/notesMaster1.xml" Id="R869369982f644ba9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15c892569c94d29" /><Relationship Type="http://schemas.openxmlformats.org/officeDocument/2006/relationships/notesMaster" Target="/ppt/notesMasters/notesMaster1.xml" Id="R1778ec55bd6542b3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c2c2f6f8282475f" /><Relationship Type="http://schemas.openxmlformats.org/officeDocument/2006/relationships/notesMaster" Target="/ppt/notesMasters/notesMaster1.xml" Id="R5384b373dcb04a07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8fb50302a2e543fd" /><Relationship Type="http://schemas.openxmlformats.org/officeDocument/2006/relationships/notesMaster" Target="/ppt/notesMasters/notesMaster1.xml" Id="R0706610430704b5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a2f1266605a4063" /><Relationship Type="http://schemas.openxmlformats.org/officeDocument/2006/relationships/notesMaster" Target="/ppt/notesMasters/notesMaster1.xml" Id="Rf225777a9ae54ad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ae1d38a194f416a" /><Relationship Type="http://schemas.openxmlformats.org/officeDocument/2006/relationships/notesMaster" Target="/ppt/notesMasters/notesMaster1.xml" Id="Rc7cc9bf564ad4811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045341f2d6d344b2" /><Relationship Type="http://schemas.openxmlformats.org/officeDocument/2006/relationships/notesMaster" Target="/ppt/notesMasters/notesMaster1.xml" Id="Rbf2edac67cf6481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749f547eb741498c" /><Relationship Type="http://schemas.openxmlformats.org/officeDocument/2006/relationships/notesMaster" Target="/ppt/notesMasters/notesMaster1.xml" Id="R2770e12f99e04e8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aa74cdf8e494f59" /><Relationship Type="http://schemas.openxmlformats.org/officeDocument/2006/relationships/notesMaster" Target="/ppt/notesMasters/notesMaster1.xml" Id="R108eb10840a64cf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ea7297c645094b4c" /><Relationship Type="http://schemas.openxmlformats.org/officeDocument/2006/relationships/notesMaster" Target="/ppt/notesMasters/notesMaster1.xml" Id="R32cde112ea274e0d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6d884b6df7245dd" /><Relationship Type="http://schemas.openxmlformats.org/officeDocument/2006/relationships/notesMaster" Target="/ppt/notesMasters/notesMaster1.xml" Id="R2fdb66706c64497d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7fd1018f8e2d4b9e" /><Relationship Type="http://schemas.openxmlformats.org/officeDocument/2006/relationships/notesMaster" Target="/ppt/notesMasters/notesMaster1.xml" Id="Rd86982d03e4c4159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f483ad1499e24450" /><Relationship Type="http://schemas.openxmlformats.org/officeDocument/2006/relationships/notesMaster" Target="/ppt/notesMasters/notesMaster1.xml" Id="Rc59fa0f634fb4382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b1cfd50471e74985" /><Relationship Type="http://schemas.openxmlformats.org/officeDocument/2006/relationships/notesMaster" Target="/ppt/notesMasters/notesMaster1.xml" Id="R372b431663fe451a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e9e8abe1cf4543dc" /><Relationship Type="http://schemas.openxmlformats.org/officeDocument/2006/relationships/notesMaster" Target="/ppt/notesMasters/notesMaster1.xml" Id="R12a8d550288e4ba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42bdb67e4894656" /><Relationship Type="http://schemas.openxmlformats.org/officeDocument/2006/relationships/notesMaster" Target="/ppt/notesMasters/notesMaster1.xml" Id="R9f91649074dc470c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fa1fef9dd9c4662" /><Relationship Type="http://schemas.openxmlformats.org/officeDocument/2006/relationships/notesMaster" Target="/ppt/notesMasters/notesMaster1.xml" Id="Rfaf3dc9d582446f7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cc3c8ce47e214075" /><Relationship Type="http://schemas.openxmlformats.org/officeDocument/2006/relationships/notesMaster" Target="/ppt/notesMasters/notesMaster1.xml" Id="Rbc3b2ea0d48946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 从 Python 上手 C++ 基础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程序、编译与输入输出流</a:t>
            </a:r>
          </a:p>
          <a:p xmlns:a="http://schemas.openxmlformats.org/drawingml/2006/main">
            <a:r>
              <a:t>你已经会写 Python 程序。进入 C++ 的第一步，是弄清源文件怎样成为正在运行的程序，以及数据怎样进出程序。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Python 与 C++ 的执行方式</a:t>
            </a:r>
          </a:p>
          <a:p xmlns:a="http://schemas.openxmlformats.org/drawingml/2006/main">
            <a:r>
              <a:t>先区分构建过程和运行过程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最小 C++ 程序</a:t>
            </a:r>
          </a:p>
          <a:p xmlns:a="http://schemas.openxmlformats.org/drawingml/2006/main">
            <a:r>
              <a:t>main 是程序入口</a:t>
            </a:r>
          </a:p>
          <a:p xmlns:a="http://schemas.openxmlformats.org/drawingml/2006/main">
            <a:r>
              <a:t>大括号组织函数体，分号结束语句</a:t>
            </a:r>
          </a:p>
          <a:p xmlns:a="http://schemas.openxmlformats.org/drawingml/2006/main">
            <a:r>
              <a:t>退出状态与屏幕输出分别传递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输入输出流</a:t>
            </a:r>
          </a:p>
          <a:p xmlns:a="http://schemas.openxmlformats.org/drawingml/2006/main">
            <a:r>
              <a:t>流连接数据来源、程序与数据去向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头文件、类型与对象</a:t>
            </a:r>
          </a:p>
          <a:p xmlns:a="http://schemas.openxmlformats.org/drawingml/2006/main">
            <a:r>
              <a:t>&lt;iostream&gt; 提供声明和接口</a:t>
            </a:r>
          </a:p>
          <a:p xmlns:a="http://schemas.openxmlformats.org/drawingml/2006/main">
            <a:r>
              <a:t>istream 与 ostream 分别表示输入流和输出流类型</a:t>
            </a:r>
          </a:p>
          <a:p xmlns:a="http://schemas.openxmlformats.org/drawingml/2006/main">
            <a:r>
              <a:t>cin、cout、cerr 是已经存在的流对象</a:t>
            </a:r>
          </a:p>
          <a:p xmlns:a="http://schemas.openxmlformats.org/drawingml/2006/main">
            <a:r>
              <a:t>std:: 指定名字所属的命名空间</a:t>
            </a:r>
          </a:p>
          <a:p xmlns:a="http://schemas.openxmlformats.org/drawingml/2006/main">
            <a:r>
              <a:t>\n 换行，endl 还会刷新缓冲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CMake、构建工具与编译器</a:t>
            </a:r>
          </a:p>
          <a:p xmlns:a="http://schemas.openxmlformats.org/drawingml/2006/main">
            <a:r>
              <a:t>本地项目用 CMakeLists.txt 描述构建目标</a:t>
            </a:r>
          </a:p>
          <a:p xmlns:a="http://schemas.openxmlformats.org/drawingml/2006/main">
            <a:r>
              <a:t>CMake 官方命令行文档与入门教程：</a:t>
            </a:r>
          </a:p>
          <a:p xmlns:a="http://schemas.openxmlformats.org/drawingml/2006/main">
            <a:r>
              <a:t>https://cmake.org/cmake/help/v4.0/manual/cmake.1.html</a:t>
            </a:r>
          </a:p>
          <a:p xmlns:a="http://schemas.openxmlformats.org/drawingml/2006/main">
            <a:r>
              <a:t>https://cmake.org/cmake/help/v4.0/guide/tutorial/A%20Basic%20Starting%20Point.html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最小 CMakeLists.txt</a:t>
            </a:r>
          </a:p>
          <a:p xmlns:a="http://schemas.openxmlformats.org/drawingml/2006/main">
            <a:r>
              <a:t>项目名、目标名与源文件名分别指定</a:t>
            </a:r>
          </a:p>
          <a:p xmlns:a="http://schemas.openxmlformats.org/drawingml/2006/main">
            <a:r>
              <a:t>CMake 版本与 C++ 语言标准分别指定</a:t>
            </a:r>
          </a:p>
          <a:p xmlns:a="http://schemas.openxmlformats.org/drawingml/2006/main">
            <a:r>
              <a:t>沿用已有 S01 的完整程序演示本地构建，不新增题目。CMAKE_CXX_STANDARD 等变量为随后创建的目标设置默认属性。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配置与构建</a:t>
            </a:r>
          </a:p>
          <a:p xmlns:a="http://schemas.openxmlformats.org/drawingml/2006/main">
            <a:r>
              <a:t>-S 指定源码目录，-B 指定构建目录</a:t>
            </a:r>
          </a:p>
          <a:p xmlns:a="http://schemas.openxmlformats.org/drawingml/2006/main">
            <a:r>
              <a:t>配置生成构建系统，构建执行编译和链接</a:t>
            </a:r>
          </a:p>
          <a:p xmlns:a="http://schemas.openxmlformats.org/drawingml/2006/main">
            <a:r>
              <a:t>修改源文件并保存后，再构建并运行</a:t>
            </a:r>
          </a:p>
          <a:p xmlns:a="http://schemas.openxmlformats.org/drawingml/2006/main">
            <a:r>
              <a:t>命令在本地终端执行。修改 CMakeLists.txt 后可重新配置再构建。多配置生成器用 --config 选择配置；单配置生成器在配置时设置 CMAKE_BUILD_TYPE。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运行生成的程序</a:t>
            </a:r>
          </a:p>
          <a:p xmlns:a="http://schemas.openxmlformats.org/drawingml/2006/main">
            <a:r>
              <a:t>多配置构建可用 cmake --build build --config Debug</a:t>
            </a:r>
          </a:p>
          <a:p xmlns:a="http://schemas.openxmlformats.org/drawingml/2006/main">
            <a:r>
              <a:t>路径由平台、生成器和配置决定。表中是本课最小项目的常见路径，不代表所有工程都固定使用这些目录。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本地构建与课堂运行</a:t>
            </a:r>
          </a:p>
          <a:p xmlns:a="http://schemas.openxmlformats.org/drawingml/2006/main">
            <a:r>
              <a:t>配置阶段检查项目目录与工具链</a:t>
            </a:r>
          </a:p>
          <a:p xmlns:a="http://schemas.openxmlformats.org/drawingml/2006/main">
            <a:r>
              <a:t>构建阶段查看编译和链接诊断</a:t>
            </a:r>
          </a:p>
          <a:p xmlns:a="http://schemas.openxmlformats.org/drawingml/2006/main">
            <a:r>
              <a:t>运行阶段确认程序路径与输出</a:t>
            </a:r>
          </a:p>
          <a:p xmlns:a="http://schemas.openxmlformats.org/drawingml/2006/main">
            <a:r>
              <a:t>CPP-Classroom 继续使用单文件练习</a:t>
            </a:r>
          </a:p>
          <a:p xmlns:a="http://schemas.openxmlformats.org/drawingml/2006/main">
            <a:r>
              <a:t>本地构建使用已有 S01 源文件。CMakeLists.txt 和终端命令不粘贴进平台的 C++ 编辑区。相关题号仍为 S01–S80。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 程序错误的发生阶段</a:t>
            </a:r>
          </a:p>
          <a:p xmlns:a="http://schemas.openxmlformats.org/drawingml/2006/main">
            <a:r>
              <a:t>相关练习题号：S01、S02、S07、S08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1.2 类型、变量与算术</a:t>
            </a:r>
          </a:p>
          <a:p xmlns:a="http://schemas.openxmlformats.org/drawingml/2006/main">
            <a:r>
              <a:t>Python 的变量知识可以直接帮助你理解赋值，但 C++ 还要求你明确对象的类型、初始化方式和数值范围。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1.2 声明、初始化、赋值</a:t>
            </a:r>
          </a:p>
          <a:p xmlns:a="http://schemas.openxmlformats.org/drawingml/2006/main">
            <a:r>
              <a:t>创建对象时确定类型和初值</a:t>
            </a:r>
          </a:p>
          <a:p xmlns:a="http://schemas.openxmlformats.org/drawingml/2006/main">
            <a:r>
              <a:t>赋值修改已有对象的值</a:t>
            </a:r>
          </a:p>
          <a:p xmlns:a="http://schemas.openxmlformats.org/drawingml/2006/main">
            <a:r>
              <a:t>const 用来表达不能修改的对象</a:t>
            </a:r>
          </a:p>
          <a:p xmlns:a="http://schemas.openxmlformats.org/drawingml/2006/main">
            <a:r>
              <a:t>相关练习题号：S03、S09、S10、S11、S12、S13、S14、S15、S16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1.2 静态类型与动态类型</a:t>
            </a:r>
          </a:p>
          <a:p xmlns:a="http://schemas.openxmlformats.org/drawingml/2006/main">
            <a:r>
              <a:t>类型系统与编译、解释的执行方式分别比较</a:t>
            </a:r>
          </a:p>
          <a:p xmlns:a="http://schemas.openxmlformats.org/drawingml/2006/main">
            <a:r>
              <a:t>相关练习题号：S03、S09、S10、S11、S12、S13、S14、S15、S16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1.2 整数与浮点类型</a:t>
            </a:r>
          </a:p>
          <a:p xmlns:a="http://schemas.openxmlformats.org/drawingml/2006/main">
            <a:r>
              <a:t>相关练习题号：S03、S09、S10、S11、S12、S13、S14、S15、S16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1.2 格式化输入与输出</a:t>
            </a:r>
          </a:p>
          <a:p xmlns:a="http://schemas.openxmlformats.org/drawingml/2006/main">
            <a:r>
              <a:t>读取按目标变量类型解析</a:t>
            </a:r>
          </a:p>
          <a:p xmlns:a="http://schemas.openxmlformats.org/drawingml/2006/main">
            <a:r>
              <a:t>空白分隔数值，读取位置依次向后移动</a:t>
            </a:r>
          </a:p>
          <a:p xmlns:a="http://schemas.openxmlformats.org/drawingml/2006/main">
            <a:r>
              <a:t>相关练习题号：S03、S09、S10、S11、S12、S13、S14、S15、S16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1.2 整数除法与浮点除法</a:t>
            </a:r>
          </a:p>
          <a:p xmlns:a="http://schemas.openxmlformats.org/drawingml/2006/main">
            <a:r>
              <a:t>赋给 double 发生在表达式计算之后</a:t>
            </a:r>
          </a:p>
          <a:p xmlns:a="http://schemas.openxmlformats.org/drawingml/2006/main">
            <a:r>
              <a:t>相关练习题号：S03、S09、S10、S11、S12、S13、S14、S15、S16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1.2 中间结果的类型</a:t>
            </a:r>
          </a:p>
          <a:p xmlns:a="http://schemas.openxmlformats.org/drawingml/2006/main">
            <a:r>
              <a:t>类型转换发生在乘法之前</a:t>
            </a:r>
          </a:p>
          <a:p xmlns:a="http://schemas.openxmlformats.org/drawingml/2006/main">
            <a:r>
              <a:t>接收变量的类型不会改写已经发生的运算</a:t>
            </a:r>
          </a:p>
          <a:p xmlns:a="http://schemas.openxmlformats.org/drawingml/2006/main">
            <a:r>
              <a:t>相关练习题号：S03、S09、S10、S11、S12、S13、S14、S15、S16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1.2 实数的显示和比较</a:t>
            </a:r>
          </a:p>
          <a:p xmlns:a="http://schemas.openxmlformats.org/drawingml/2006/main">
            <a:r>
              <a:t>fixed 与 setprecision 控制输出格式</a:t>
            </a:r>
          </a:p>
          <a:p xmlns:a="http://schemas.openxmlformats.org/drawingml/2006/main">
            <a:r>
              <a:t>数学函数需要相应头文件</a:t>
            </a:r>
          </a:p>
          <a:p xmlns:a="http://schemas.openxmlformats.org/drawingml/2006/main">
            <a:r>
              <a:t>显示位数与内部精度分别考虑</a:t>
            </a:r>
          </a:p>
          <a:p xmlns:a="http://schemas.openxmlformats.org/drawingml/2006/main">
            <a:r>
              <a:t>按题目指定的容差比较结果</a:t>
            </a:r>
          </a:p>
          <a:p xmlns:a="http://schemas.openxmlformats.org/drawingml/2006/main">
            <a:r>
              <a:t>相关练习题号：S03、S09、S10、S11、S12、S13、S14、S15、S16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1.3 条件判断与输入状态</a:t>
            </a:r>
          </a:p>
          <a:p xmlns:a="http://schemas.openxmlformats.org/drawingml/2006/main">
            <a:r>
              <a:t>条件、分支和逻辑仍然熟悉。需要重新确认的是运算符写法、短路求值，以及流怎样报告一次读取的结果。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1.3 条件与区间</a:t>
            </a:r>
          </a:p>
          <a:p xmlns:a="http://schemas.openxmlformats.org/drawingml/2006/main">
            <a:r>
              <a:t>每次比较产生 bool</a:t>
            </a:r>
          </a:p>
          <a:p xmlns:a="http://schemas.openxmlformats.org/drawingml/2006/main">
            <a:r>
              <a:t>&amp;&amp;、||、! 组合判断</a:t>
            </a:r>
          </a:p>
          <a:p xmlns:a="http://schemas.openxmlformats.org/drawingml/2006/main">
            <a:r>
              <a:t>分支顺序体现规则优先级</a:t>
            </a:r>
          </a:p>
          <a:p xmlns:a="http://schemas.openxmlformats.org/drawingml/2006/main">
            <a:r>
              <a:t>相关练习题号：S17、S18、S19、S06、S20、S21、S22、S23、S24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1.3 短路求值</a:t>
            </a:r>
          </a:p>
          <a:p xmlns:a="http://schemas.openxmlformats.org/drawingml/2006/main">
            <a:r>
              <a:t>左侧条件先执行</a:t>
            </a:r>
          </a:p>
          <a:p xmlns:a="http://schemas.openxmlformats.org/drawingml/2006/main">
            <a:r>
              <a:t>只有左侧为真，&amp;&amp; 才执行右侧</a:t>
            </a:r>
          </a:p>
          <a:p xmlns:a="http://schemas.openxmlformats.org/drawingml/2006/main">
            <a:r>
              <a:t>把安全前提放在危险操作之前</a:t>
            </a:r>
          </a:p>
          <a:p xmlns:a="http://schemas.openxmlformats.org/drawingml/2006/main">
            <a:r>
              <a:t>相关练习题号：S17、S18、S19、S06、S20、S21、S22、S23、S24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1.3 输入流的状态</a:t>
            </a:r>
          </a:p>
          <a:p xmlns:a="http://schemas.openxmlformats.org/drawingml/2006/main">
            <a:r>
              <a:t>eof() 与 fail() 回答不同的问题</a:t>
            </a:r>
          </a:p>
          <a:p xmlns:a="http://schemas.openxmlformats.org/drawingml/2006/main">
            <a:r>
              <a:t>相关练习题号：S17、S18、S19、S06、S20、S21、S22、S23、S24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1.3 检查本次读取</a:t>
            </a:r>
          </a:p>
          <a:p xmlns:a="http://schemas.openxmlformats.org/drawingml/2006/main">
            <a:r>
              <a:t>先执行读取</a:t>
            </a:r>
          </a:p>
          <a:p xmlns:a="http://schemas.openxmlformats.org/drawingml/2006/main">
            <a:r>
              <a:t>再检查读取是否失败</a:t>
            </a:r>
          </a:p>
          <a:p xmlns:a="http://schemas.openxmlformats.org/drawingml/2006/main">
            <a:r>
              <a:t>相关练习题号：S17、S18、S19、S06、S20、S21、S22、S23、S24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1.3 离散分支与优先级</a:t>
            </a:r>
          </a:p>
          <a:p xmlns:a="http://schemas.openxmlformats.org/drawingml/2006/main">
            <a:r>
              <a:t>switch 处理离散选项</a:t>
            </a:r>
          </a:p>
          <a:p xmlns:a="http://schemas.openxmlformats.org/drawingml/2006/main">
            <a:r>
              <a:t>break 结束当前分支</a:t>
            </a:r>
          </a:p>
          <a:p xmlns:a="http://schemas.openxmlformats.org/drawingml/2006/main">
            <a:r>
              <a:t>else if 按顺序选择首个满足的条件</a:t>
            </a:r>
          </a:p>
          <a:p xmlns:a="http://schemas.openxmlformats.org/drawingml/2006/main">
            <a:r>
              <a:t>边界值决定比较符号</a:t>
            </a:r>
          </a:p>
          <a:p xmlns:a="http://schemas.openxmlformats.org/drawingml/2006/main">
            <a:r>
              <a:t>相关练习题号：S17、S18、S19、S06、S20、S21、S22、S23、S24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1.4 循环、EOF 与逐步变化的状态</a:t>
            </a:r>
          </a:p>
          <a:p xmlns:a="http://schemas.openxmlformats.org/drawingml/2006/main">
            <a:r>
              <a:t>循环把同一条规则应用很多次。写之前先回答：从什么状态开始，每次更新什么，什么时候停止。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1.4 for 的执行顺序</a:t>
            </a:r>
          </a:p>
          <a:p xmlns:a="http://schemas.openxmlformats.org/drawingml/2006/main">
            <a:r>
              <a:t>相关练习题号：S25、S26、S27、S28、S29、S30、S31、S32、S73、S76、S79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1.4 半开区间</a:t>
            </a:r>
          </a:p>
          <a:p xmlns:a="http://schemas.openxmlformats.org/drawingml/2006/main">
            <a:r>
              <a:t>索引从 0 开始</a:t>
            </a:r>
          </a:p>
          <a:p xmlns:a="http://schemas.openxmlformats.org/drawingml/2006/main">
            <a:r>
              <a:t>条件 i &lt; n 保证最多执行 n 次</a:t>
            </a:r>
          </a:p>
          <a:p xmlns:a="http://schemas.openxmlformats.org/drawingml/2006/main">
            <a:r>
              <a:t>n 为 0 时不进入循环</a:t>
            </a:r>
          </a:p>
          <a:p xmlns:a="http://schemas.openxmlformats.org/drawingml/2006/main">
            <a:r>
              <a:t>相关练习题号：S25、S26、S27、S28、S29、S30、S31、S32、S73、S76、S79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1.4 读取控制循环</a:t>
            </a:r>
          </a:p>
          <a:p xmlns:a="http://schemas.openxmlformats.org/drawingml/2006/main">
            <a:r>
              <a:t>读取成功后才进入循环体</a:t>
            </a:r>
          </a:p>
          <a:p xmlns:a="http://schemas.openxmlformats.org/drawingml/2006/main">
            <a:r>
              <a:t>哨兵值需要在计算之前判断</a:t>
            </a:r>
          </a:p>
          <a:p xmlns:a="http://schemas.openxmlformats.org/drawingml/2006/main">
            <a:r>
              <a:t>break 结束循环，continue 结束本轮</a:t>
            </a:r>
          </a:p>
          <a:p xmlns:a="http://schemas.openxmlformats.org/drawingml/2006/main">
            <a:r>
              <a:t>相关练习题号：S25、S26、S27、S28、S29、S30、S31、S32、S73、S76、S79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1.4 循环中的状态</a:t>
            </a:r>
          </a:p>
          <a:p xmlns:a="http://schemas.openxmlformats.org/drawingml/2006/main">
            <a:r>
              <a:t>相关练习题号：S25、S26、S27、S28、S29、S30、S31、S32、S73、S76、S79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1.4 更新顺序与边界</a:t>
            </a:r>
          </a:p>
          <a:p xmlns:a="http://schemas.openxmlformats.org/drawingml/2006/main">
            <a:r>
              <a:t>状态变化顺序来自题目规则</a:t>
            </a:r>
          </a:p>
          <a:p xmlns:a="http://schemas.openxmlformats.org/drawingml/2006/main">
            <a:r>
              <a:t>空输入与单元素输入检查初值</a:t>
            </a:r>
          </a:p>
          <a:p xmlns:a="http://schemas.openxmlformats.org/drawingml/2006/main">
            <a:r>
              <a:t>循环条件决定读取次数</a:t>
            </a:r>
          </a:p>
          <a:p xmlns:a="http://schemas.openxmlformats.org/drawingml/2006/main">
            <a:r>
              <a:t>调试时记录每轮变量状态</a:t>
            </a:r>
          </a:p>
          <a:p xmlns:a="http://schemas.openxmlformats.org/drawingml/2006/main">
            <a:r>
              <a:t>相关练习题号：S25、S26、S27、S28、S29、S30、S31、S32、S73、S76、S79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1.5 数组、vector 与一批数据</a:t>
            </a:r>
          </a:p>
          <a:p xmlns:a="http://schemas.openxmlformats.org/drawingml/2006/main">
            <a:r>
              <a:t>Python list 的用途在这里仍然存在，但 C++ 会把元素类型和容器的增长方式写进类型或接口。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1.5 固定长度与动态长度</a:t>
            </a:r>
          </a:p>
          <a:p xmlns:a="http://schemas.openxmlformats.org/drawingml/2006/main">
            <a:r>
              <a:t>相关练习题号：S33、S34、S35、S36、S37、S38、S39、S40、S68、S70、S78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1.5 容器的基本操作</a:t>
            </a:r>
          </a:p>
          <a:p xmlns:a="http://schemas.openxmlformats.org/drawingml/2006/main">
            <a:r>
              <a:t>尖括号写元素类型</a:t>
            </a:r>
          </a:p>
          <a:p xmlns:a="http://schemas.openxmlformats.org/drawingml/2006/main">
            <a:r>
              <a:t>点号访问容器成员</a:t>
            </a:r>
          </a:p>
          <a:p xmlns:a="http://schemas.openxmlformats.org/drawingml/2006/main">
            <a:r>
              <a:t>size 表示当前元素个数</a:t>
            </a:r>
          </a:p>
          <a:p xmlns:a="http://schemas.openxmlformats.org/drawingml/2006/main">
            <a:r>
              <a:t>相关练习题号：S33、S34、S35、S36、S37、S38、S39、S40、S68、S70、S78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1.5 索引的合法区间</a:t>
            </a:r>
          </a:p>
          <a:p xmlns:a="http://schemas.openxmlformats.org/drawingml/2006/main">
            <a:r>
              <a:t>长度 n 对应索引 0 到 n-1</a:t>
            </a:r>
          </a:p>
          <a:p xmlns:a="http://schemas.openxmlformats.org/drawingml/2006/main">
            <a:r>
              <a:t>外部输入索引先检查非负</a:t>
            </a:r>
          </a:p>
          <a:p xmlns:a="http://schemas.openxmlformats.org/drawingml/2006/main">
            <a:r>
              <a:t>负索引不能沿用 Python 的规则</a:t>
            </a:r>
          </a:p>
          <a:p xmlns:a="http://schemas.openxmlformats.org/drawingml/2006/main">
            <a:r>
              <a:t>相邻访问需要先确认另一项存在</a:t>
            </a:r>
          </a:p>
          <a:p xmlns:a="http://schemas.openxmlformats.org/drawingml/2006/main">
            <a:r>
              <a:t>相关练习题号：S33、S34、S35、S36、S37、S38、S39、S40、S68、S70、S78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1.5 vector 的值复制</a:t>
            </a:r>
          </a:p>
          <a:p xmlns:a="http://schemas.openxmlformats.org/drawingml/2006/main">
            <a:r>
              <a:t>先区分独立副本，再学习引用与共享访问</a:t>
            </a:r>
          </a:p>
          <a:p xmlns:a="http://schemas.openxmlformats.org/drawingml/2006/main">
            <a:r>
              <a:t>相关练习题号：S33、S34、S35、S36、S37、S38、S39、S40、S68、S70、S78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1.5 相邻、二维与窗口</a:t>
            </a:r>
          </a:p>
          <a:p xmlns:a="http://schemas.openxmlformats.org/drawingml/2006/main">
            <a:r>
              <a:t>相邻访问从第二项开始</a:t>
            </a:r>
          </a:p>
          <a:p xmlns:a="http://schemas.openxmlformats.org/drawingml/2006/main">
            <a:r>
              <a:t>二维索引分别表示行与列</a:t>
            </a:r>
          </a:p>
          <a:p xmlns:a="http://schemas.openxmlformats.org/drawingml/2006/main">
            <a:r>
              <a:t>窗口只覆盖完整的 k 个元素</a:t>
            </a:r>
          </a:p>
          <a:p xmlns:a="http://schemas.openxmlformats.org/drawingml/2006/main">
            <a:r>
              <a:t>循环位移先去除完整圈数</a:t>
            </a:r>
          </a:p>
          <a:p xmlns:a="http://schemas.openxmlformats.org/drawingml/2006/main">
            <a:r>
              <a:t>相关练习题号：S33、S34、S35、S36、S37、S38、S39、S40、S68、S70、S78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1.6 字符串、整行输入与字符扫描</a:t>
            </a:r>
          </a:p>
          <a:p xmlns:a="http://schemas.openxmlformats.org/drawingml/2006/main">
            <a:r>
              <a:t>字符串是一段字符序列。读入方式决定你得到一个词还是一整行，访问方式决定程序怎样逐步处理这些字符。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1.6 char 与 string</a:t>
            </a:r>
          </a:p>
          <a:p xmlns:a="http://schemas.openxmlformats.org/drawingml/2006/main">
            <a:r>
              <a:t>本组文本题按 ASCII 约束处理</a:t>
            </a:r>
          </a:p>
          <a:p xmlns:a="http://schemas.openxmlformats.org/drawingml/2006/main">
            <a:r>
              <a:t>相关练习题号：S04、S05、S41、S42、S43、S45、S48、S69、S74、S77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1.6 一个词与一整行</a:t>
            </a:r>
          </a:p>
          <a:p xmlns:a="http://schemas.openxmlformats.org/drawingml/2006/main">
            <a:r>
              <a:t>格式化提取默认跳过前导空白</a:t>
            </a:r>
          </a:p>
          <a:p xmlns:a="http://schemas.openxmlformats.org/drawingml/2006/main">
            <a:r>
              <a:t>getline 读到行尾分隔符</a:t>
            </a:r>
          </a:p>
          <a:p xmlns:a="http://schemas.openxmlformats.org/drawingml/2006/main">
            <a:r>
              <a:t>空字符串需要单独处理首尾访问</a:t>
            </a:r>
          </a:p>
          <a:p xmlns:a="http://schemas.openxmlformats.org/drawingml/2006/main">
            <a:r>
              <a:t>相关练习题号：S04、S05、S41、S42、S43、S45、S48、S69、S74、S77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1.6 输入流中留下的换行</a:t>
            </a:r>
          </a:p>
          <a:p xmlns:a="http://schemas.openxmlformats.org/drawingml/2006/main">
            <a:r>
              <a:t>读取位置和剩余字符共同决定下一次结果</a:t>
            </a:r>
          </a:p>
          <a:p xmlns:a="http://schemas.openxmlformats.org/drawingml/2006/main">
            <a:r>
              <a:t>相关练习题号：S04、S05、S41、S42、S43、S45、S48、S69、S74、S77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1.6 查找与替换</a:t>
            </a:r>
          </a:p>
          <a:p xmlns:a="http://schemas.openxmlformats.org/drawingml/2006/main">
            <a:r>
              <a:t>find 的结果先与 string::npos 比较</a:t>
            </a:r>
          </a:p>
          <a:p xmlns:a="http://schemas.openxmlformats.org/drawingml/2006/main">
            <a:r>
              <a:t>确认命中后再使用位置</a:t>
            </a:r>
          </a:p>
          <a:p xmlns:a="http://schemas.openxmlformats.org/drawingml/2006/main">
            <a:r>
              <a:t>replace 可以改变字符串长度</a:t>
            </a:r>
          </a:p>
          <a:p xmlns:a="http://schemas.openxmlformats.org/drawingml/2006/main">
            <a:r>
              <a:t>读取和修改都要满足下标边界</a:t>
            </a:r>
          </a:p>
          <a:p xmlns:a="http://schemas.openxmlformats.org/drawingml/2006/main">
            <a:r>
              <a:t>相关练习题号：S04、S05、S41、S42、S43、S45、S48、S69、S74、S77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1.6 字符扫描的状态</a:t>
            </a:r>
          </a:p>
          <a:p xmlns:a="http://schemas.openxmlformats.org/drawingml/2006/main">
            <a:r>
              <a:t>左右位置用于对称比较</a:t>
            </a:r>
          </a:p>
          <a:p xmlns:a="http://schemas.openxmlformats.org/drawingml/2006/main">
            <a:r>
              <a:t>当前字符与计数用于连续分组</a:t>
            </a:r>
          </a:p>
          <a:p xmlns:a="http://schemas.openxmlformats.org/drawingml/2006/main">
            <a:r>
              <a:t>方向字符更新候选坐标</a:t>
            </a:r>
          </a:p>
          <a:p xmlns:a="http://schemas.openxmlformats.org/drawingml/2006/main">
            <a:r>
              <a:t>边界检查决定是否接受修改</a:t>
            </a:r>
          </a:p>
          <a:p xmlns:a="http://schemas.openxmlformats.org/drawingml/2006/main">
            <a:r>
              <a:t>相关练习题号：S04、S05、S41、S42、S43、S45、S48、S69、S74、S77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1.7 字符串流与严格解析</a:t>
            </a:r>
          </a:p>
          <a:p xmlns:a="http://schemas.openxmlformats.org/drawingml/2006/main">
            <a:r>
              <a:t>输入流可以连接标准输入，也可以连接内存中的字符串。两者都能使用格式化提取，这让“读一整行，再验证字段”成为自然的处理方式。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1.7 标准流与字符串流</a:t>
            </a:r>
          </a:p>
          <a:p xmlns:a="http://schemas.openxmlformats.org/drawingml/2006/main">
            <a:r>
              <a:t>数据来源改变，格式化读写的思路延续</a:t>
            </a:r>
          </a:p>
          <a:p xmlns:a="http://schemas.openxmlformats.org/drawingml/2006/main">
            <a:r>
              <a:t>相关练习题号：S44、S46、S47、S75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1.7 三种字符串流</a:t>
            </a:r>
          </a:p>
          <a:p xmlns:a="http://schemas.openxmlformats.org/drawingml/2006/main">
            <a:r>
              <a:t>相关练习题号：S44、S46、S47、S75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1.7 从文本提取值</a:t>
            </a:r>
          </a:p>
          <a:p xmlns:a="http://schemas.openxmlformats.org/drawingml/2006/main">
            <a:r>
              <a:t>提取依照目标变量类型进行</a:t>
            </a:r>
          </a:p>
          <a:p xmlns:a="http://schemas.openxmlformats.org/drawingml/2006/main">
            <a:r>
              <a:t>读取位置向后推进</a:t>
            </a:r>
          </a:p>
          <a:p xmlns:a="http://schemas.openxmlformats.org/drawingml/2006/main">
            <a:r>
              <a:t>错误状态影响后续读取</a:t>
            </a:r>
          </a:p>
          <a:p xmlns:a="http://schemas.openxmlformats.org/drawingml/2006/main">
            <a:r>
              <a:t>相关练习题号：S44、S46、S47、S75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1.7 缓冲内容、位置与状态</a:t>
            </a:r>
          </a:p>
          <a:p xmlns:a="http://schemas.openxmlformats.org/drawingml/2006/main">
            <a:r>
              <a:t>重新设置文本和清除失败状态分别处理</a:t>
            </a:r>
          </a:p>
          <a:p xmlns:a="http://schemas.openxmlformats.org/drawingml/2006/main">
            <a:r>
              <a:t>相关练习题号：S44、S46、S47、S75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1.7 严格解析的两个层次</a:t>
            </a:r>
          </a:p>
          <a:p xmlns:a="http://schemas.openxmlformats.org/drawingml/2006/main">
            <a:r>
              <a:t>先检查必要字段能否完整读出</a:t>
            </a:r>
          </a:p>
          <a:p xmlns:a="http://schemas.openxmlformats.org/drawingml/2006/main">
            <a:r>
              <a:t>再检查是否有多余的非空白字符</a:t>
            </a:r>
          </a:p>
          <a:p xmlns:a="http://schemas.openxmlformats.org/drawingml/2006/main">
            <a:r>
              <a:t>按分隔规则保留需要的空字段</a:t>
            </a:r>
          </a:p>
          <a:p xmlns:a="http://schemas.openxmlformats.org/drawingml/2006/main">
            <a:r>
              <a:t>整条记录合法后再修改状态</a:t>
            </a:r>
          </a:p>
          <a:p xmlns:a="http://schemas.openxmlformats.org/drawingml/2006/main">
            <a:r>
              <a:t>相关练习题号：S44、S46、S47、S75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1.8 函数、作用域与值传递</a:t>
            </a:r>
          </a:p>
          <a:p xmlns:a="http://schemas.openxmlformats.org/drawingml/2006/main">
            <a:r>
              <a:t>函数把计算的输入、输出和局部状态放在一个清楚的边界内。先理解值怎样传进去，再讨论怎样允许函数修改外部对象。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1.8 函数的输入和输出</a:t>
            </a:r>
          </a:p>
          <a:p xmlns:a="http://schemas.openxmlformats.org/drawingml/2006/main">
            <a:r>
              <a:t>参数描述输入</a:t>
            </a:r>
          </a:p>
          <a:p xmlns:a="http://schemas.openxmlformats.org/drawingml/2006/main">
            <a:r>
              <a:t>返回类型描述输出</a:t>
            </a:r>
          </a:p>
          <a:p xmlns:a="http://schemas.openxmlformats.org/drawingml/2006/main">
            <a:r>
              <a:t>调用方依照声明使用函数</a:t>
            </a:r>
          </a:p>
          <a:p xmlns:a="http://schemas.openxmlformats.org/drawingml/2006/main">
            <a:r>
              <a:t>相关练习题号：S49、S50、S54、S51、S52、S53、S55、S57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1.8 声明、定义与作用域</a:t>
            </a:r>
          </a:p>
          <a:p xmlns:a="http://schemas.openxmlformats.org/drawingml/2006/main">
            <a:r>
              <a:t>声明使接口在调用处可见</a:t>
            </a:r>
          </a:p>
          <a:p xmlns:a="http://schemas.openxmlformats.org/drawingml/2006/main">
            <a:r>
              <a:t>定义提供函数体</a:t>
            </a:r>
          </a:p>
          <a:p xmlns:a="http://schemas.openxmlformats.org/drawingml/2006/main">
            <a:r>
              <a:t>局部名字只在对应范围中可见</a:t>
            </a:r>
          </a:p>
          <a:p xmlns:a="http://schemas.openxmlformats.org/drawingml/2006/main">
            <a:r>
              <a:t>内层同名变量会遮蔽外层名字</a:t>
            </a:r>
          </a:p>
          <a:p xmlns:a="http://schemas.openxmlformats.org/drawingml/2006/main">
            <a:r>
              <a:t>相关练习题号：S49、S50、S54、S51、S52、S53、S55、S57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1.8 默认参数与重载</a:t>
            </a:r>
          </a:p>
          <a:p xmlns:a="http://schemas.openxmlformats.org/drawingml/2006/main">
            <a:r>
              <a:t>默认参数补齐省略的末尾参数</a:t>
            </a:r>
          </a:p>
          <a:p xmlns:a="http://schemas.openxmlformats.org/drawingml/2006/main">
            <a:r>
              <a:t>重载根据参数选择合适函数</a:t>
            </a:r>
          </a:p>
          <a:p xmlns:a="http://schemas.openxmlformats.org/drawingml/2006/main">
            <a:r>
              <a:t>返回类型不能单独区分重载</a:t>
            </a:r>
          </a:p>
          <a:p xmlns:a="http://schemas.openxmlformats.org/drawingml/2006/main">
            <a:r>
              <a:t>递归需要可到达的结束条件</a:t>
            </a:r>
          </a:p>
          <a:p xmlns:a="http://schemas.openxmlformats.org/drawingml/2006/main">
            <a:r>
              <a:t>相关练习题号：S49、S50、S54、S51、S52、S53、S55、S57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1.8 值传递</a:t>
            </a:r>
          </a:p>
          <a:p xmlns:a="http://schemas.openxmlformats.org/drawingml/2006/main">
            <a:r>
              <a:t>允许修改原对象，需要不同的参数接口</a:t>
            </a:r>
          </a:p>
          <a:p xmlns:a="http://schemas.openxmlformats.org/drawingml/2006/main">
            <a:r>
              <a:t>相关练习题号：S49、S50、S54、S51、S52、S53、S55、S57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1.9 内存、地址与引用</a:t>
            </a:r>
          </a:p>
          <a:p xmlns:a="http://schemas.openxmlformats.org/drawingml/2006/main">
            <a:r>
              <a:t>在写出 &amp; 之前，先建立一个模型：对象占用存储，存储中的内容有类型解释，地址用于标识所在位置。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1.9 内存中的位置与内容</a:t>
            </a:r>
          </a:p>
          <a:p xmlns:a="http://schemas.openxmlformats.org/drawingml/2006/main">
            <a:r>
              <a:t>地址表示位置，值表示内容，示意地址不代表真实布局</a:t>
            </a:r>
          </a:p>
          <a:p xmlns:a="http://schemas.openxmlformats.org/drawingml/2006/main">
            <a:r>
              <a:t>相关练习题号：S58、S56、S62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1.9 复制与引用</a:t>
            </a:r>
          </a:p>
          <a:p xmlns:a="http://schemas.openxmlformats.org/drawingml/2006/main">
            <a:r>
              <a:t>相关练习题号：S58、S56、S62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1.9 取地址与引用声明</a:t>
            </a:r>
          </a:p>
          <a:p xmlns:a="http://schemas.openxmlformats.org/drawingml/2006/main">
            <a:r>
              <a:t>相同符号出现在不同语法位置，意义随之区分</a:t>
            </a:r>
          </a:p>
          <a:p xmlns:a="http://schemas.openxmlformats.org/drawingml/2006/main">
            <a:r>
              <a:t>相关练习题号：S58、S56、S62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1.9 参数的三种方式</a:t>
            </a:r>
          </a:p>
          <a:p xmlns:a="http://schemas.openxmlformats.org/drawingml/2006/main">
            <a:r>
              <a:t>相关练习题号：S58、S56、S62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1.9 范围 for 与只读引用</a:t>
            </a:r>
          </a:p>
          <a:p xmlns:a="http://schemas.openxmlformats.org/drawingml/2006/main">
            <a:r>
              <a:t>冒号右侧是待遍历的容器</a:t>
            </a:r>
          </a:p>
          <a:p xmlns:a="http://schemas.openxmlformats.org/drawingml/2006/main">
            <a:r>
              <a:t>左侧声明本轮怎样访问元素</a:t>
            </a:r>
          </a:p>
          <a:p xmlns:a="http://schemas.openxmlformats.org/drawingml/2006/main">
            <a:r>
              <a:t>const 引用读取元素而不复制它</a:t>
            </a:r>
          </a:p>
          <a:p xmlns:a="http://schemas.openxmlformats.org/drawingml/2006/main">
            <a:r>
              <a:t>相关练习题号：S58、S56、S62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1.9 输出参数与失败约定</a:t>
            </a:r>
          </a:p>
          <a:p xmlns:a="http://schemas.openxmlformats.org/drawingml/2006/main">
            <a:r>
              <a:t>返回值说明操作状态</a:t>
            </a:r>
          </a:p>
          <a:p xmlns:a="http://schemas.openxmlformats.org/drawingml/2006/main">
            <a:r>
              <a:t>引用参数交回额外结果</a:t>
            </a:r>
          </a:p>
          <a:p xmlns:a="http://schemas.openxmlformats.org/drawingml/2006/main">
            <a:r>
              <a:t>先验证前提，再写入结果</a:t>
            </a:r>
          </a:p>
          <a:p xmlns:a="http://schemas.openxmlformats.org/drawingml/2006/main">
            <a:r>
              <a:t>失败时是否保持原值，应写进接口约定</a:t>
            </a:r>
          </a:p>
          <a:p xmlns:a="http://schemas.openxmlformats.org/drawingml/2006/main">
            <a:r>
              <a:t>相关练习题号：S58、S56、S62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1.10 指针、区间与对象有效期</a:t>
            </a:r>
          </a:p>
          <a:p xmlns:a="http://schemas.openxmlformats.org/drawingml/2006/main">
            <a:r>
              <a:t>引用提供别名，指针则把地址作为一个可以保存和修改的值。只有同时理解“指向哪里”和“目标还活着吗”，才能安全使用它。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1.10 指针和目标是两个对象</a:t>
            </a:r>
          </a:p>
          <a:p xmlns:a="http://schemas.openxmlformats.org/drawingml/2006/main">
            <a:r>
              <a:t>相关练习题号：S59、S60、S61、S64、S63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1.10 改地址与改内容</a:t>
            </a:r>
          </a:p>
          <a:p xmlns:a="http://schemas.openxmlformats.org/drawingml/2006/main">
            <a:r>
              <a:t>分别追踪指针值和目标值</a:t>
            </a:r>
          </a:p>
          <a:p xmlns:a="http://schemas.openxmlformats.org/drawingml/2006/main">
            <a:r>
              <a:t>相关练习题号：S59、S60、S61、S64、S63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1.10 解引用的前提</a:t>
            </a:r>
          </a:p>
          <a:p xmlns:a="http://schemas.openxmlformats.org/drawingml/2006/main">
            <a:r>
              <a:t>指针已经初始化</a:t>
            </a:r>
          </a:p>
          <a:p xmlns:a="http://schemas.openxmlformats.org/drawingml/2006/main">
            <a:r>
              <a:t>目标存在且类型合适</a:t>
            </a:r>
          </a:p>
          <a:p xmlns:a="http://schemas.openxmlformats.org/drawingml/2006/main">
            <a:r>
              <a:t>访问范围合法</a:t>
            </a:r>
          </a:p>
          <a:p xmlns:a="http://schemas.openxmlformats.org/drawingml/2006/main">
            <a:r>
              <a:t>非空检查不能替代生命周期检查</a:t>
            </a:r>
          </a:p>
          <a:p xmlns:a="http://schemas.openxmlformats.org/drawingml/2006/main">
            <a:r>
              <a:t>相关练习题号：S59、S60、S61、S64、S63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1.10 只读指针与区间</a:t>
            </a:r>
          </a:p>
          <a:p xmlns:a="http://schemas.openxmlformats.org/drawingml/2006/main">
            <a:r>
              <a:t>指针提供首元素入口</a:t>
            </a:r>
          </a:p>
          <a:p xmlns:a="http://schemas.openxmlformats.org/drawingml/2006/main">
            <a:r>
              <a:t>长度明确允许访问的范围</a:t>
            </a:r>
          </a:p>
          <a:p xmlns:a="http://schemas.openxmlformats.org/drawingml/2006/main">
            <a:r>
              <a:t>空区间不访问任何元素</a:t>
            </a:r>
          </a:p>
          <a:p xmlns:a="http://schemas.openxmlformats.org/drawingml/2006/main">
            <a:r>
              <a:t>相关练习题号：S59、S60、S61、S64、S63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1.10 局部对象与返回结果</a:t>
            </a:r>
          </a:p>
          <a:p xmlns:a="http://schemas.openxmlformats.org/drawingml/2006/main">
            <a:r>
              <a:t>相关练习题号：S59、S60、S61、S64、S63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1.11 结构体、枚举与记录集合</a:t>
            </a:r>
          </a:p>
          <a:p xmlns:a="http://schemas.openxmlformats.org/drawingml/2006/main">
            <a:r>
              <a:t>到这里你能处理数值、文本和序列。最后把相关字段组织成明确的记录，并用函数和容器处理多条记录。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1.11 结构体与记录</a:t>
            </a:r>
          </a:p>
          <a:p xmlns:a="http://schemas.openxmlformats.org/drawingml/2006/main">
            <a:r>
              <a:t>字段名和类型共同组成记录</a:t>
            </a:r>
          </a:p>
          <a:p xmlns:a="http://schemas.openxmlformats.org/drawingml/2006/main">
            <a:r>
              <a:t>点号访问对象成员</a:t>
            </a:r>
          </a:p>
          <a:p xmlns:a="http://schemas.openxmlformats.org/drawingml/2006/main">
            <a:r>
              <a:t>vector 可以保存多个记录对象</a:t>
            </a:r>
          </a:p>
          <a:p xmlns:a="http://schemas.openxmlformats.org/drawingml/2006/main">
            <a:r>
              <a:t>相关练习题号：S65、S67、S66、S71、S72、S80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1.11 作用域枚举</a:t>
            </a:r>
          </a:p>
          <a:p xmlns:a="http://schemas.openxmlformats.org/drawingml/2006/main">
            <a:r>
              <a:t>enum class 为有限状态命名</a:t>
            </a:r>
          </a:p>
          <a:p xmlns:a="http://schemas.openxmlformats.org/drawingml/2006/main">
            <a:r>
              <a:t>使用 类型名::枚举值 访问</a:t>
            </a:r>
          </a:p>
          <a:p xmlns:a="http://schemas.openxmlformats.org/drawingml/2006/main">
            <a:r>
              <a:t>与整数交换数据时显式转换</a:t>
            </a:r>
          </a:p>
          <a:p xmlns:a="http://schemas.openxmlformats.org/drawingml/2006/main">
            <a:r>
              <a:t>输入编号仍需要满足范围约束</a:t>
            </a:r>
          </a:p>
          <a:p xmlns:a="http://schemas.openxmlformats.org/drawingml/2006/main">
            <a:r>
              <a:t>相关练习题号：S65、S67、S66、S71、S72、S80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1.11 排序比较器</a:t>
            </a:r>
          </a:p>
          <a:p xmlns:a="http://schemas.openxmlformats.org/drawingml/2006/main">
            <a:r>
              <a:t>返回 a 是否应排在 b 前面</a:t>
            </a:r>
          </a:p>
          <a:p xmlns:a="http://schemas.openxmlformats.org/drawingml/2006/main">
            <a:r>
              <a:t>先比较主关键字</a:t>
            </a:r>
          </a:p>
          <a:p xmlns:a="http://schemas.openxmlformats.org/drawingml/2006/main">
            <a:r>
              <a:t>相同时应用平局规则</a:t>
            </a:r>
          </a:p>
          <a:p xmlns:a="http://schemas.openxmlformats.org/drawingml/2006/main">
            <a:r>
              <a:t>相等时不能互相排在对方前面</a:t>
            </a:r>
          </a:p>
          <a:p xmlns:a="http://schemas.openxmlformats.org/drawingml/2006/main">
            <a:r>
              <a:t>相关练习题号：S65、S67、S66、S71、S72、S80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1.11 记录的处理过程</a:t>
            </a:r>
          </a:p>
          <a:p xmlns:a="http://schemas.openxmlformats.org/drawingml/2006/main">
            <a:r>
              <a:t>读取并验证字段</a:t>
            </a:r>
          </a:p>
          <a:p xmlns:a="http://schemas.openxmlformats.org/drawingml/2006/main">
            <a:r>
              <a:t>按题意选择或去重</a:t>
            </a:r>
          </a:p>
          <a:p xmlns:a="http://schemas.openxmlformats.org/drawingml/2006/main">
            <a:r>
              <a:t>按完整比较规则排序</a:t>
            </a:r>
          </a:p>
          <a:p xmlns:a="http://schemas.openxmlformats.org/drawingml/2006/main">
            <a:r>
              <a:t>输出记录并计算汇总</a:t>
            </a:r>
          </a:p>
          <a:p xmlns:a="http://schemas.openxmlformats.org/drawingml/2006/main">
            <a:r>
              <a:t>相关练习题号：S65、S67、S66、S71、S72、S80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第1课 1.11 第一课的知识连接</a:t>
            </a:r>
          </a:p>
          <a:p xmlns:a="http://schemas.openxmlformats.org/drawingml/2006/main">
            <a:r>
              <a:t>相关练习题号：S65、S67、S66、S71、S72、S80</a:t>
            </a:r>
          </a:p>
          <a:p xmlns:a="http://schemas.openxmlformats.org/drawingml/2006/main">
            <a:r>
              <a:t>概念资料（仅使用 C++17 范围）：</a:t>
            </a:r>
          </a:p>
          <a:p xmlns:a="http://schemas.openxmlformats.org/drawingml/2006/main">
            <a:r>
              <a:t>https://docs.python.org/3/reference/executionmodel.html</a:t>
            </a:r>
          </a:p>
          <a:p xmlns:a="http://schemas.openxmlformats.org/drawingml/2006/main">
            <a:r>
              <a:t>https://docs.python.org/3/glossary.html</a:t>
            </a:r>
          </a:p>
          <a:p xmlns:a="http://schemas.openxmlformats.org/drawingml/2006/main">
            <a:r>
              <a:t>https://gcc.gnu.org/onlinedocs/gcc/Overall-Options.html</a:t>
            </a:r>
          </a:p>
          <a:p xmlns:a="http://schemas.openxmlformats.org/drawingml/2006/main">
            <a:r>
              <a:t>https://eel.is/c++draft/input.output</a:t>
            </a:r>
          </a:p>
          <a:p xmlns:a="http://schemas.openxmlformats.org/drawingml/2006/main">
            <a:r>
              <a:t>https://eel.is/c++draft/string.streams</a:t>
            </a:r>
          </a:p>
          <a:p xmlns:a="http://schemas.openxmlformats.org/drawingml/2006/main">
            <a:r>
              <a:t>https://eel.is/c++draft/dcl.ref</a:t>
            </a:r>
          </a:p>
          <a:p xmlns:a="http://schemas.openxmlformats.org/drawingml/2006/main">
            <a:r>
              <a:t>https://eel.is/c++draft/basic.life</a:t>
            </a:r>
          </a:p>
          <a:p xmlns:a="http://schemas.openxmlformats.org/drawingml/2006/main">
            <a:r>
              <a:t>https://isocpp.github.io/CppCoreGuidelines/CppCoreGuidelines#S-resource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a42eebeff47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0b356c3a5476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e1bda75a44c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b9be4c26844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80f8a492541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0667172844c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5F62E3-1646-4795-92B8-A6BA8AFAD6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C2B22D-F74B-44AA-AE84-A85CB485C7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04640D2-311C-4880-928A-74D960880E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E90293-266C-401A-B4CC-1BCC1D3C9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F60A17-394C-4F86-822B-617EC05E73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F5097FB-8FEF-4B1F-8300-8FAD263302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13C08F-28DF-424F-A202-F27F78F8BA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F9BC3D-EC6C-4E89-93D0-9411909BC2C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C6D5FF-6887-45AD-B894-E8F7B28016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80E837-B119-4C8C-9265-C3F6AF5955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3d1e1814b44586" /><Relationship Type="http://schemas.openxmlformats.org/officeDocument/2006/relationships/slideLayout" Target="/ppt/slideLayouts/slideLayout1.xml" Id="R63fec1b38a334eb7" /><Relationship Type="http://schemas.openxmlformats.org/officeDocument/2006/relationships/slideLayout" Target="/ppt/slideLayouts/slideLayout2.xml" Id="Rce0335107ad1456c" /><Relationship Type="http://schemas.openxmlformats.org/officeDocument/2006/relationships/slideLayout" Target="/ppt/slideLayouts/slideLayout3.xml" Id="Rb7126173acc342bb" /><Relationship Type="http://schemas.openxmlformats.org/officeDocument/2006/relationships/slideLayout" Target="/ppt/slideLayouts/slideLayout4.xml" Id="Re5073c6293594a41" /><Relationship Type="http://schemas.openxmlformats.org/officeDocument/2006/relationships/slideLayout" Target="/ppt/slideLayouts/slideLayout5.xml" Id="Ra2d3fe4e12a74a5b" /><Relationship Type="http://schemas.openxmlformats.org/officeDocument/2006/relationships/slideLayout" Target="/ppt/slideLayouts/slideLayout6.xml" Id="R8cccd84dbd634d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fec1b38a334eb7"/>
    <p:sldLayoutId xmlns:r="http://schemas.openxmlformats.org/officeDocument/2006/relationships" id="2147483650" r:id="Rce0335107ad1456c"/>
    <p:sldLayoutId xmlns:r="http://schemas.openxmlformats.org/officeDocument/2006/relationships" id="2147483651" r:id="Rb7126173acc342bb"/>
    <p:sldLayoutId xmlns:r="http://schemas.openxmlformats.org/officeDocument/2006/relationships" id="2147483652" r:id="Re5073c6293594a41"/>
    <p:sldLayoutId xmlns:r="http://schemas.openxmlformats.org/officeDocument/2006/relationships" id="2147483653" r:id="Ra2d3fe4e12a74a5b"/>
    <p:sldLayoutId xmlns:r="http://schemas.openxmlformats.org/officeDocument/2006/relationships" id="2147483654" r:id="R8cccd84dbd634d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5a24a293244113" /><Relationship Type="http://schemas.openxmlformats.org/officeDocument/2006/relationships/notesSlide" Target="/ppt/notesSlides/notesSlide1.xml" Id="R2248544e6a08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5d428073d4d19" /><Relationship Type="http://schemas.openxmlformats.org/officeDocument/2006/relationships/notesSlide" Target="/ppt/notesSlides/notesSlide2.xml" Id="Re658751d8e71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b2ce582dce432f" /><Relationship Type="http://schemas.openxmlformats.org/officeDocument/2006/relationships/notesSlide" Target="/ppt/notesSlides/notesSlide3.xml" Id="Rb360f3d1d2d34c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dc726bf184c2e" /><Relationship Type="http://schemas.openxmlformats.org/officeDocument/2006/relationships/notesSlide" Target="/ppt/notesSlides/notesSlide4.xml" Id="Rc317b5439d8443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20c4396d54b1a" /><Relationship Type="http://schemas.openxmlformats.org/officeDocument/2006/relationships/notesSlide" Target="/ppt/notesSlides/notesSlide5.xml" Id="Rca9c097f66194f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d299441c254714" /><Relationship Type="http://schemas.openxmlformats.org/officeDocument/2006/relationships/notesSlide" Target="/ppt/notesSlides/notesSlide6.xml" Id="Rbd157c8f0f9e44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a8751c54142ce" /><Relationship Type="http://schemas.openxmlformats.org/officeDocument/2006/relationships/notesSlide" Target="/ppt/notesSlides/notesSlide7.xml" Id="Rb2c388f7793944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7c55c25214d49" /><Relationship Type="http://schemas.openxmlformats.org/officeDocument/2006/relationships/notesSlide" Target="/ppt/notesSlides/notesSlide8.xml" Id="R6f75cd6323194e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2ff1bcb90b435c" /><Relationship Type="http://schemas.openxmlformats.org/officeDocument/2006/relationships/notesSlide" Target="/ppt/notesSlides/notesSlide9.xml" Id="R4c67a17ac0594e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d38c0a9ff24472" /><Relationship Type="http://schemas.openxmlformats.org/officeDocument/2006/relationships/notesSlide" Target="/ppt/notesSlides/notesSlide10.xml" Id="Rc22e6b9f6b834df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fb12ce0f3a43e4" /><Relationship Type="http://schemas.openxmlformats.org/officeDocument/2006/relationships/notesSlide" Target="/ppt/notesSlides/notesSlide11.xml" Id="Rf4abbf309e9841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737993fe984917" /><Relationship Type="http://schemas.openxmlformats.org/officeDocument/2006/relationships/notesSlide" Target="/ppt/notesSlides/notesSlide12.xml" Id="Rd188953056f24b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c9be8487245c2" /><Relationship Type="http://schemas.openxmlformats.org/officeDocument/2006/relationships/notesSlide" Target="/ppt/notesSlides/notesSlide13.xml" Id="Rbf48f515ce7244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cf07c055da4467" /><Relationship Type="http://schemas.openxmlformats.org/officeDocument/2006/relationships/notesSlide" Target="/ppt/notesSlides/notesSlide14.xml" Id="R70b003bf2da445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3cb318680240ce" /><Relationship Type="http://schemas.openxmlformats.org/officeDocument/2006/relationships/notesSlide" Target="/ppt/notesSlides/notesSlide15.xml" Id="R089cb703422646c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8d75f38fb34a95" /><Relationship Type="http://schemas.openxmlformats.org/officeDocument/2006/relationships/notesSlide" Target="/ppt/notesSlides/notesSlide16.xml" Id="R25de8512643d4b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02bc3ce7e4c20" /><Relationship Type="http://schemas.openxmlformats.org/officeDocument/2006/relationships/notesSlide" Target="/ppt/notesSlides/notesSlide17.xml" Id="R630ad16c8e6643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0fa75220a47a3" /><Relationship Type="http://schemas.openxmlformats.org/officeDocument/2006/relationships/notesSlide" Target="/ppt/notesSlides/notesSlide18.xml" Id="R10414c9a35ff4a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3aace6a42f4433" /><Relationship Type="http://schemas.openxmlformats.org/officeDocument/2006/relationships/notesSlide" Target="/ppt/notesSlides/notesSlide19.xml" Id="R43a0463779ef43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1c4d692a94de9" /><Relationship Type="http://schemas.openxmlformats.org/officeDocument/2006/relationships/notesSlide" Target="/ppt/notesSlides/notesSlide20.xml" Id="R29cde1da2f7b43f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cb5e52969d46e0" /><Relationship Type="http://schemas.openxmlformats.org/officeDocument/2006/relationships/notesSlide" Target="/ppt/notesSlides/notesSlide21.xml" Id="R92f89b1c534642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edaebb129474e" /><Relationship Type="http://schemas.openxmlformats.org/officeDocument/2006/relationships/notesSlide" Target="/ppt/notesSlides/notesSlide22.xml" Id="Rbddbfcb10bd249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1d821fa6114e64" /><Relationship Type="http://schemas.openxmlformats.org/officeDocument/2006/relationships/notesSlide" Target="/ppt/notesSlides/notesSlide23.xml" Id="R2f06d1eff4e64f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bfd31e16b4ea2" /><Relationship Type="http://schemas.openxmlformats.org/officeDocument/2006/relationships/notesSlide" Target="/ppt/notesSlides/notesSlide24.xml" Id="R8cd5e94a1b314f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4347dbc2c045a7" /><Relationship Type="http://schemas.openxmlformats.org/officeDocument/2006/relationships/notesSlide" Target="/ppt/notesSlides/notesSlide25.xml" Id="R25d55c6422144df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dd7cb5e9d84169" /><Relationship Type="http://schemas.openxmlformats.org/officeDocument/2006/relationships/notesSlide" Target="/ppt/notesSlides/notesSlide26.xml" Id="R749570a27ddb4a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2322db40144394" /><Relationship Type="http://schemas.openxmlformats.org/officeDocument/2006/relationships/notesSlide" Target="/ppt/notesSlides/notesSlide27.xml" Id="Ra9ab0bf57833488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1b9150e274ac7" /><Relationship Type="http://schemas.openxmlformats.org/officeDocument/2006/relationships/notesSlide" Target="/ppt/notesSlides/notesSlide28.xml" Id="Re8c88c99bd534b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eb277127d4c06" /><Relationship Type="http://schemas.openxmlformats.org/officeDocument/2006/relationships/notesSlide" Target="/ppt/notesSlides/notesSlide29.xml" Id="R3193ada08ebd46e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cc1fe78d0f4038" /><Relationship Type="http://schemas.openxmlformats.org/officeDocument/2006/relationships/notesSlide" Target="/ppt/notesSlides/notesSlide30.xml" Id="R323cd08304dd4a9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3ed7e16c64a82" /><Relationship Type="http://schemas.openxmlformats.org/officeDocument/2006/relationships/notesSlide" Target="/ppt/notesSlides/notesSlide31.xml" Id="Re4702de39e144b2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be81bf3d645aa" /><Relationship Type="http://schemas.openxmlformats.org/officeDocument/2006/relationships/notesSlide" Target="/ppt/notesSlides/notesSlide32.xml" Id="Rf6ac0a16b5084f6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2d504ed7134334" /><Relationship Type="http://schemas.openxmlformats.org/officeDocument/2006/relationships/notesSlide" Target="/ppt/notesSlides/notesSlide33.xml" Id="Ra96bb34dc94e46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533ce502b4f54" /><Relationship Type="http://schemas.openxmlformats.org/officeDocument/2006/relationships/notesSlide" Target="/ppt/notesSlides/notesSlide34.xml" Id="Rda5f6d6f158d4e4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42a91ff974227" /><Relationship Type="http://schemas.openxmlformats.org/officeDocument/2006/relationships/notesSlide" Target="/ppt/notesSlides/notesSlide35.xml" Id="Rafb6b0628f7947f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651d8a0358495a" /><Relationship Type="http://schemas.openxmlformats.org/officeDocument/2006/relationships/notesSlide" Target="/ppt/notesSlides/notesSlide36.xml" Id="Rf6a3fd56c23c418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f15710ac904390" /><Relationship Type="http://schemas.openxmlformats.org/officeDocument/2006/relationships/notesSlide" Target="/ppt/notesSlides/notesSlide37.xml" Id="R11e4fc3f667e459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4cbc2a6812419d" /><Relationship Type="http://schemas.openxmlformats.org/officeDocument/2006/relationships/notesSlide" Target="/ppt/notesSlides/notesSlide38.xml" Id="Re8ad045f4b194b1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5eafab66fe488e" /><Relationship Type="http://schemas.openxmlformats.org/officeDocument/2006/relationships/notesSlide" Target="/ppt/notesSlides/notesSlide39.xml" Id="R9d8fc96ff9454a6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5b65a242643a6" /><Relationship Type="http://schemas.openxmlformats.org/officeDocument/2006/relationships/notesSlide" Target="/ppt/notesSlides/notesSlide40.xml" Id="R96ae750264b2440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bde72a015e4207" /><Relationship Type="http://schemas.openxmlformats.org/officeDocument/2006/relationships/notesSlide" Target="/ppt/notesSlides/notesSlide41.xml" Id="R01252d4ef1fd4e9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5ec4e0ad4419b" /><Relationship Type="http://schemas.openxmlformats.org/officeDocument/2006/relationships/notesSlide" Target="/ppt/notesSlides/notesSlide42.xml" Id="R5b0d923b1e4441f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32f108fb4e4668" /><Relationship Type="http://schemas.openxmlformats.org/officeDocument/2006/relationships/notesSlide" Target="/ppt/notesSlides/notesSlide43.xml" Id="Rbab439af5fbe41e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916839b874f25" /><Relationship Type="http://schemas.openxmlformats.org/officeDocument/2006/relationships/notesSlide" Target="/ppt/notesSlides/notesSlide44.xml" Id="R4c616c5f3e47416c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a6d87a0094a27" /><Relationship Type="http://schemas.openxmlformats.org/officeDocument/2006/relationships/notesSlide" Target="/ppt/notesSlides/notesSlide45.xml" Id="R7cf8840e3d2a4817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2f24ad05e402f" /><Relationship Type="http://schemas.openxmlformats.org/officeDocument/2006/relationships/notesSlide" Target="/ppt/notesSlides/notesSlide46.xml" Id="R367961540e5340cc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ceaf9de1c1458c" /><Relationship Type="http://schemas.openxmlformats.org/officeDocument/2006/relationships/notesSlide" Target="/ppt/notesSlides/notesSlide47.xml" Id="Ra8826fd8aa774da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9940af48124390" /><Relationship Type="http://schemas.openxmlformats.org/officeDocument/2006/relationships/notesSlide" Target="/ppt/notesSlides/notesSlide48.xml" Id="R127ef4bb205d4e4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ee6e9cb984b5d" /><Relationship Type="http://schemas.openxmlformats.org/officeDocument/2006/relationships/notesSlide" Target="/ppt/notesSlides/notesSlide49.xml" Id="Rc348093c4f65416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03a7759be64824" /><Relationship Type="http://schemas.openxmlformats.org/officeDocument/2006/relationships/notesSlide" Target="/ppt/notesSlides/notesSlide50.xml" Id="R4c0f409beac84a2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63d1a1a0704cb0" /><Relationship Type="http://schemas.openxmlformats.org/officeDocument/2006/relationships/notesSlide" Target="/ppt/notesSlides/notesSlide51.xml" Id="R6a1a6430b06f4fd2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304484f134abb" /><Relationship Type="http://schemas.openxmlformats.org/officeDocument/2006/relationships/notesSlide" Target="/ppt/notesSlides/notesSlide52.xml" Id="Rcbe6651c45ff49d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e45ca2c704e56" /><Relationship Type="http://schemas.openxmlformats.org/officeDocument/2006/relationships/notesSlide" Target="/ppt/notesSlides/notesSlide53.xml" Id="R56e9962d84c64f90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f35f85cc14853" /><Relationship Type="http://schemas.openxmlformats.org/officeDocument/2006/relationships/notesSlide" Target="/ppt/notesSlides/notesSlide54.xml" Id="Rf3281ca356064ec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787d44c7194fa8" /><Relationship Type="http://schemas.openxmlformats.org/officeDocument/2006/relationships/notesSlide" Target="/ppt/notesSlides/notesSlide55.xml" Id="R696b5f87860a4dac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8fce3fd69d4b47" /><Relationship Type="http://schemas.openxmlformats.org/officeDocument/2006/relationships/notesSlide" Target="/ppt/notesSlides/notesSlide56.xml" Id="Rbfb6e7eb162d49f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9723066774929" /><Relationship Type="http://schemas.openxmlformats.org/officeDocument/2006/relationships/notesSlide" Target="/ppt/notesSlides/notesSlide57.xml" Id="Rce9201385c4844f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d81a73f3b4883" /><Relationship Type="http://schemas.openxmlformats.org/officeDocument/2006/relationships/notesSlide" Target="/ppt/notesSlides/notesSlide58.xml" Id="Re687b4f432dd469b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3a682af62049b8" /><Relationship Type="http://schemas.openxmlformats.org/officeDocument/2006/relationships/notesSlide" Target="/ppt/notesSlides/notesSlide59.xml" Id="R2988d1ccd3b247e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d40fcbb33f4df8" /><Relationship Type="http://schemas.openxmlformats.org/officeDocument/2006/relationships/notesSlide" Target="/ppt/notesSlides/notesSlide60.xml" Id="Rcf3929c9047443f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957e2576941ef" /><Relationship Type="http://schemas.openxmlformats.org/officeDocument/2006/relationships/notesSlide" Target="/ppt/notesSlides/notesSlide61.xml" Id="R11f88e412fcb493d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f38596d9f4ad2" /><Relationship Type="http://schemas.openxmlformats.org/officeDocument/2006/relationships/notesSlide" Target="/ppt/notesSlides/notesSlide62.xml" Id="Reb3926c82d324ff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defcafbdfb408f" /><Relationship Type="http://schemas.openxmlformats.org/officeDocument/2006/relationships/notesSlide" Target="/ppt/notesSlides/notesSlide63.xml" Id="R331f286c50ae48f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008a58376b4c58" /><Relationship Type="http://schemas.openxmlformats.org/officeDocument/2006/relationships/notesSlide" Target="/ppt/notesSlides/notesSlide64.xml" Id="Re3938551449047b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a5e980705e4918" /><Relationship Type="http://schemas.openxmlformats.org/officeDocument/2006/relationships/notesSlide" Target="/ppt/notesSlides/notesSlide65.xml" Id="Rdf5e87b22fba48f4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ecf574c7c4eb8" /><Relationship Type="http://schemas.openxmlformats.org/officeDocument/2006/relationships/notesSlide" Target="/ppt/notesSlides/notesSlide66.xml" Id="R5addbe25f4994a78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01eaa7ea454122" /><Relationship Type="http://schemas.openxmlformats.org/officeDocument/2006/relationships/notesSlide" Target="/ppt/notesSlides/notesSlide67.xml" Id="R9e15acf2d0eb47ed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d1eff54f548d2" /><Relationship Type="http://schemas.openxmlformats.org/officeDocument/2006/relationships/notesSlide" Target="/ppt/notesSlides/notesSlide68.xml" Id="Ref9e02a5224c42df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1b462ab34f46cf" /><Relationship Type="http://schemas.openxmlformats.org/officeDocument/2006/relationships/notesSlide" Target="/ppt/notesSlides/notesSlide69.xml" Id="R3a97a1836b0c403b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0f524a4ae4ae4" /><Relationship Type="http://schemas.openxmlformats.org/officeDocument/2006/relationships/notesSlide" Target="/ppt/notesSlides/notesSlide70.xml" Id="R7735ac46b5f54c18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2d29b5e78c450c" /><Relationship Type="http://schemas.openxmlformats.org/officeDocument/2006/relationships/notesSlide" Target="/ppt/notesSlides/notesSlide71.xml" Id="R4988d3b2fece46bd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e5f6ece124947" /><Relationship Type="http://schemas.openxmlformats.org/officeDocument/2006/relationships/notesSlide" Target="/ppt/notesSlides/notesSlide72.xml" Id="Rea09904ec97d4d5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da5021aa04762" /><Relationship Type="http://schemas.openxmlformats.org/officeDocument/2006/relationships/notesSlide" Target="/ppt/notesSlides/notesSlide73.xml" Id="Re0301a64b709438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90584a97324f7f" /><Relationship Type="http://schemas.openxmlformats.org/officeDocument/2006/relationships/notesSlide" Target="/ppt/notesSlides/notesSlide74.xml" Id="R2541a63f294b4e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rand">
            <a:extLst xmlns:a="http://schemas.openxmlformats.org/drawingml/2006/main">
              <a:ext uri="{FF2B5EF4-FFF2-40B4-BE49-F238E27FC236}">
                <a16:creationId xmlns:a16="http://schemas.microsoft.com/office/drawing/2014/main" id="{9F90290A-9341-4AD7-83C2-29798F9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"/>
            <a:ext cx="952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AIM ROBOTICS</a:t>
            </a:r>
          </a:p>
        </p:txBody>
      </p:sp>
      <p:sp>
        <p:nvSpPr>
          <p:cNvPr id="2" name="lesson">
            <a:extLst xmlns:a="http://schemas.openxmlformats.org/drawingml/2006/main">
              <a:ext uri="{FF2B5EF4-FFF2-40B4-BE49-F238E27FC236}">
                <a16:creationId xmlns:a16="http://schemas.microsoft.com/office/drawing/2014/main" id="{3A31F219-58FB-49E0-A70A-7CE37B21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7275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第1课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F4FB9D2-558C-4C21-ACD2-F8BFD5DE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591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495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从 Python 上手 C++ 基础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F00FDB3-63D1-4A76-9195-C3B02B5E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0572750" cy="45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第一课 · S01–S80</a:t>
            </a:r>
          </a:p>
        </p:txBody>
      </p:sp>
      <p:sp>
        <p:nvSpPr>
          <p:cNvPr id="5" name="date">
            <a:extLst xmlns:a="http://schemas.openxmlformats.org/drawingml/2006/main">
              <a:ext uri="{FF2B5EF4-FFF2-40B4-BE49-F238E27FC236}">
                <a16:creationId xmlns:a16="http://schemas.microsoft.com/office/drawing/2014/main" id="{BD6CD1D4-106A-4AAE-92E5-D9812EE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76875"/>
            <a:ext cx="10572750" cy="341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2026–2027 新人培训 · C++17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461F29E5-C70F-4AEF-807F-1B760145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 / 74</a:t>
            </a:r>
          </a:p>
        </p:txBody>
      </p:sp>
    </p:spTree>
    <p:extLst>
      <p:ext uri="{BB962C8B-B14F-4D97-AF65-F5344CB8AC3E}">
        <p14:creationId xmlns:p14="http://schemas.microsoft.com/office/powerpoint/2010/main" val="2110633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78F9DDE-ACEA-4ED8-BD10-62930474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1.1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7D287B5-9929-45BB-A54D-66EBF60D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程序、编译与输入输出流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238E394-F1B1-439E-8409-263C5485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你已经会写 Python 程序。进入 C++ 的第一步，是弄清源文件怎样成为正在运行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的程序，以及数据怎样进出程序。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7D038061-1CB5-4B6C-BEE2-82B24CCF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配套练习：S01、S02、S07、S08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41A830DC-0426-44B6-ACDE-817D43A1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2 / 74</a:t>
            </a:r>
          </a:p>
        </p:txBody>
      </p:sp>
    </p:spTree>
    <p:extLst>
      <p:ext uri="{BB962C8B-B14F-4D97-AF65-F5344CB8AC3E}">
        <p14:creationId xmlns:p14="http://schemas.microsoft.com/office/powerpoint/2010/main" val="1564071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9705202A-A245-4F00-BB74-A8E88C87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Python 与 C++ 的执行方式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3CE2A-BCC9-47E8-8C3F-4AD350A58C59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CPython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常见 C++ 工具链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源码编译为字节码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源码经构建成为可执行程序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解释器执行字节码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操作系统启动程序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E5E88423-358B-4483-8ACE-422D3B6D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先区分构建过程和运行过程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EBAD9329-C7FF-455D-A9D1-5696CE1C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4A8B603-0564-44E9-8F3F-6FCF02BD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3307643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84881C83-4C31-4050-843A-C25E220E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最小 C++ 程序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A6B28DA4-CB10-4461-AEA6-092F9053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957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#include &lt;iostream&gt;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 main()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std::cout &lt;&lt; "Hello" &lt;&lt; '\n';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return 0;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6A98A8B-DAAB-4393-BC9A-B82DB549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0964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main 是程序入口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E8F3584-FF63-49F0-AEB5-89B4F1DF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1989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大括号组织函数体，分号结束语句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DDF235B-DDA9-4003-BE64-D00A1CB5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63014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退出状态与屏幕输出分别传递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F7B354AA-6186-49B4-8DB0-C2B03307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EE647F1-276A-418D-A7FD-0D6FD4BE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958539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4477E9AD-D5C0-4AF8-BB20-0513A615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输入输出流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7451E-FE01-46AC-AA7E-B4FC5764F41C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数据进入程序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数据离开程序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标准输入流 std::cin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标准输出流 std::cout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从字符中读取值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把值写成字符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来源可重定向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去向可重定向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DA93DA99-D9E8-41BB-A401-F011AFF6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流连接数据来源、程序与数据去向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68FB86D8-70ED-4477-AF8C-022EF506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5121B3E-B7D0-48B1-A812-03EFBCCB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243946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915589C5-480D-4A37-875D-A4FE51BA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头文件、类型与对象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8668F71A-32EA-4B48-9D45-AF170E52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&lt;iostream&gt; 提供声明和接口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96ECBA62-21E8-4E63-9C1B-8E281277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istream 与 ostream 分别表示输入流和输出流类型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0A6E1226-A901-4FAC-A110-A8B5AC96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cin、cout、cerr 是已经存在的流对象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F9A8EEB9-F2B9-41A1-A520-82A9C105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std:: 指定名字所属的命名空间</a:t>
            </a:r>
          </a:p>
        </p:txBody>
      </p:sp>
      <p:sp>
        <p:nvSpPr>
          <p:cNvPr id="6" name="body-5">
            <a:extLst xmlns:a="http://schemas.openxmlformats.org/drawingml/2006/main">
              <a:ext uri="{FF2B5EF4-FFF2-40B4-BE49-F238E27FC236}">
                <a16:creationId xmlns:a16="http://schemas.microsoft.com/office/drawing/2014/main" id="{EBE19063-4613-4E50-A495-CD6EB95F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\n 换行，endl 还会刷新缓冲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FE39BD69-8C47-4653-87A0-A8B18F87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46682EB-6AD5-4B7B-B657-E868F271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1220857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18928676-34B7-43F4-A951-D595F825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CMake、构建工具与编译器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9707F-45C0-4443-A794-9FB1DD3C4F3D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职责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CMake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读取项目描述，生成构建系统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Make、Ninja 或 IDE 工具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组织编译和链接步骤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Clang、GCC 或 MSVC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 C++ 源代码并生成程序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CAC90262-89DF-43AE-8A0C-A4587E47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本地项目用 CMakeLists.txt 描述构建目标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364F0E9D-E058-4138-A093-AC60238B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7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CF04DF6-129E-469B-8364-FA97E2FA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4826211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14031FA-291E-4973-8097-4EF83E0F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最小 CMakeLists.txt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BAC2E74E-F2B6-49D4-A1A9-D449D75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2341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cmake_minimum_required(VERSION 3.16)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project(aim_cpp LANGUAGES CXX)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set(CMAKE_CXX_STANDARD 17)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set(CMAKE_CXX_STANDARD_REQUIRED ON)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set(CMAKE_CXX_EXTENSIONS OFF)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add_executable(S01 S01.cpp)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329C3CB-CFFB-45B6-8C99-40B7CCB5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4917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项目名、目标名与源文件名分别指定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2B1E8BEE-25CC-42E3-8A8B-25187DBA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65942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CMake 版本与 C++ 语言标准分别指定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6D3D5B89-C4D3-4222-9D56-2729B5DC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8 / 74</a:t>
            </a:r>
          </a:p>
        </p:txBody>
      </p:sp>
      <p:sp>
        <p:nvSpPr>
          <p:cNvPr id="6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1D2CE80-DE81-4140-BBC8-7A933272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1473203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231AFE76-EC2F-405E-AB96-61A58D98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配置与构建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E75FF1C7-80E8-4E62-84B6-22A2D4DD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cmake -S . -B build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cmake --build build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99751C5-1B6F-4360-A2A4-912D2725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-S 指定源码目录，-B 指定构建目录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1392E57-148B-451F-AAD9-DCE4EEBF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配置生成构建系统，构建执行编译和链接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C0102EA1-194B-4449-ADAE-0CC39C15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115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修改源文件并保存后，再构建并运行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7594B588-6E52-456D-8807-69D6CD5D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9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94FEEE6-1D85-4A84-90F2-A2E4EB35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13117381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D8D7EB1D-E684-4E4D-9DCF-B1EA32B4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运行生成的程序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2BF8E-07D4-4E23-8B3F-B1955511B64F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常见环境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运行命令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macOS / Linux 单配置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./build/S01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 单配置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.\build\S01.exe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Windows 多配置 Debug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.\build\Debug\S01.exe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34C50F32-B761-4A8D-A9C2-95214FAA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多配置构建可用 cmake --build build --config Debug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49C44E06-F813-40F9-A140-E2B659C1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10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4D7CD49-6C6C-485B-8394-B387F39B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1438126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EF02F6B8-C534-45EB-864C-98FB710F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本地构建与课堂运行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86335C0F-7074-41AF-AD15-45CF3CBD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配置阶段检查项目目录与工具链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7B1A6EBB-CC38-4A26-8A36-706F96F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构建阶段查看编译和链接诊断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A755ABE8-4487-4BDC-9C0A-2FCE6280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运行阶段确认程序路径与输出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014192B2-06F7-40D4-A1EF-98E7464B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CPP-Classroom 继续使用单文件练习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E2A307C3-17F7-41B3-A845-A7D841E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11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B22F4BB-B7BD-4FFE-8288-AB34CD3F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282638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11EBDD8D-B3D6-4DFD-9079-E661CB25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程序错误的发生阶段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6CA7D-0072-4B8B-90C9-04A490570079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324088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检查方向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编译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语法、名字、类型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链接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被使用的定义是否可用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程序是否能安全执行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输出是否满足预期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2CAB4DDB-6C27-4051-9B76-25E8DA5F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配套练习：S01、S02、S07、S08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C8A6F84C-1302-4379-BBB6-2DA697B3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12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D365EBB-94E3-43D8-B405-DE72DB6B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 程序、编译与输入输出流</a:t>
            </a:r>
          </a:p>
        </p:txBody>
      </p:sp>
    </p:spTree>
    <p:extLst>
      <p:ext uri="{BB962C8B-B14F-4D97-AF65-F5344CB8AC3E}">
        <p14:creationId xmlns:p14="http://schemas.microsoft.com/office/powerpoint/2010/main" val="3423703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FCB722E-D4AB-4827-BFA7-5713A4C2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1.2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BB30B00-B61D-482E-BC17-1B10A02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类型、变量与算术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DCF18A1-271D-4F35-A46D-3D9D2C1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Python 的变量知识可以直接帮助你理解赋值，但 C++ 还要求你明确对象的类型、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初始化方式和数值范围。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3191438F-CF6D-442D-B3AC-7A725871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配套练习：S03、S09、S10、S11、S12、S13、S14、S15、S16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E59F2227-C0D5-4CFF-BFDF-41795261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13 / 74</a:t>
            </a:r>
          </a:p>
        </p:txBody>
      </p:sp>
    </p:spTree>
    <p:extLst>
      <p:ext uri="{BB962C8B-B14F-4D97-AF65-F5344CB8AC3E}">
        <p14:creationId xmlns:p14="http://schemas.microsoft.com/office/powerpoint/2010/main" val="466575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5C2E6AAA-AD55-4B41-9C49-9D0F564C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声明、初始化、赋值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235C73E5-B498-43F1-B947-CD0AACDB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 count = 0;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count = 5;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const int limit = 100;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3B63535-DA2A-407C-A626-9E2711F2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创建对象时确定类型和初值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21C0BE4-4C95-42A8-B865-7CC31F8B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赋值修改已有对象的值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740B1AAA-F80B-46C9-ADB5-2FC53B31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const 用来表达不能修改的对象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CE55279C-353D-411A-B561-7EA73A23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14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B264053-A966-4D9C-BD11-D121E012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1.2 类型、变量与算术</a:t>
            </a:r>
          </a:p>
        </p:txBody>
      </p:sp>
    </p:spTree>
    <p:extLst>
      <p:ext uri="{BB962C8B-B14F-4D97-AF65-F5344CB8AC3E}">
        <p14:creationId xmlns:p14="http://schemas.microsoft.com/office/powerpoint/2010/main" val="19042825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7BBCC1FE-310C-4474-AA55-63058FE9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静态类型与动态类型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41526-D31A-499B-9D85-446328680FD1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Python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C++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名字绑定有类型的对象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声明确定变量的类型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操作时检查相应类型要求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类型约束参与编译检查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AE767073-6ED7-4BD1-ADE3-AF7A8D2D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类型系统与编译、解释的执行方式分别比较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347E1371-4A93-4DA1-95D7-44FEE15E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15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684F114-199A-4C9D-A2ED-D8CF4824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1.2 类型、变量与算术</a:t>
            </a:r>
          </a:p>
        </p:txBody>
      </p:sp>
    </p:spTree>
    <p:extLst>
      <p:ext uri="{BB962C8B-B14F-4D97-AF65-F5344CB8AC3E}">
        <p14:creationId xmlns:p14="http://schemas.microsoft.com/office/powerpoint/2010/main" val="19371855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7255DAAC-C7E2-4485-B63F-DE69F2D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整数与浮点类型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11E45-8A73-4F29-A5C7-2CF634E0DFA7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962400"/>
                <a:gridCol w="39624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常用类型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关注点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一般整数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int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输入与计算范围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较大整数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long long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中间结果是否也足够大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实数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double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精度和显示格式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0052DFEC-944A-442F-BCC7-F6E38CFF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16 / 74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5DA5BB3-4E37-4D8C-9FE5-219D6FB0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1.2 类型、变量与算术</a:t>
            </a:r>
          </a:p>
        </p:txBody>
      </p:sp>
    </p:spTree>
    <p:extLst>
      <p:ext uri="{BB962C8B-B14F-4D97-AF65-F5344CB8AC3E}">
        <p14:creationId xmlns:p14="http://schemas.microsoft.com/office/powerpoint/2010/main" val="8419966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327A14A2-338C-4E72-A6F9-4BDBE36F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格式化输入与输出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9684D85-C74E-431A-8361-70324103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std::cin &gt;&gt; a &gt;&gt; b;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std::cout &lt;&lt; a &lt;&lt; " " &lt;&lt; b &lt;&lt; '\n';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F7B4697-4B7D-4B4F-AC2D-9CDF47A5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读取按目标变量类型解析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4B8FDD8-AB5B-410C-B2F8-C1B72BED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空白分隔数值，读取位置依次向后移动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890317D9-47A6-4847-A1EF-8B79FD88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17 / 74</a:t>
            </a:r>
          </a:p>
        </p:txBody>
      </p:sp>
      <p:sp>
        <p:nvSpPr>
          <p:cNvPr id="6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866BD37-A182-4DAA-BBF0-711D5277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1.2 类型、变量与算术</a:t>
            </a:r>
          </a:p>
        </p:txBody>
      </p:sp>
    </p:spTree>
    <p:extLst>
      <p:ext uri="{BB962C8B-B14F-4D97-AF65-F5344CB8AC3E}">
        <p14:creationId xmlns:p14="http://schemas.microsoft.com/office/powerpoint/2010/main" val="14965371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CC14B7B1-0A33-4364-99A4-4BBC8DC7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整数除法与浮点除法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D6E9A-BAB3-4800-940F-0ED251E2EDDD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表达式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计算方式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/ b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两个整数先进行整数除法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static_cast&lt;double&gt;(a) / b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转换后进行浮点除法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% b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取得整数余数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76D2FC9C-60C3-4559-BBFC-9B06B2BB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赋给 double 发生在表达式计算之后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A84B400-66A7-437C-99F4-CA2D5888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18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957CE5D-BF6F-4AEA-BBC3-C7466AAA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1.2 类型、变量与算术</a:t>
            </a:r>
          </a:p>
        </p:txBody>
      </p:sp>
    </p:spTree>
    <p:extLst>
      <p:ext uri="{BB962C8B-B14F-4D97-AF65-F5344CB8AC3E}">
        <p14:creationId xmlns:p14="http://schemas.microsoft.com/office/powerpoint/2010/main" val="10433739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9EAB7424-602A-4898-89E7-3E285CF7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中间结果的类型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7CFDBE90-24FA-42B3-9C28-528C48B7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long long result =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static_cast&lt;long long&gt;(a) * b;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5EC3572-D76C-4C91-9F7B-98706BED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类型转换发生在乘法之前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FCE4619-3705-4145-8CA7-00E3DDF5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接收变量的类型不会改写已经发生的运算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79937970-D05B-437E-8448-CA0D8F01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19 / 74</a:t>
            </a:r>
          </a:p>
        </p:txBody>
      </p:sp>
      <p:sp>
        <p:nvSpPr>
          <p:cNvPr id="6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342AA27-7CA8-4FA1-A231-D3C68914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1.2 类型、变量与算术</a:t>
            </a:r>
          </a:p>
        </p:txBody>
      </p:sp>
    </p:spTree>
    <p:extLst>
      <p:ext uri="{BB962C8B-B14F-4D97-AF65-F5344CB8AC3E}">
        <p14:creationId xmlns:p14="http://schemas.microsoft.com/office/powerpoint/2010/main" val="110001031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1439B8A1-6A74-4263-A165-24FBF7C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实数的显示和比较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3A5EAD29-02FB-4DFE-9B50-B1F8ACE7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fixed 与 setprecision 控制输出格式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347A155E-7E4D-44E5-819F-9F808665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数学函数需要相应头文件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89CD5401-7CFF-48F1-B462-8E48781D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显示位数与内部精度分别考虑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F61ACD82-C5D2-4A45-A6A0-EA5D64C7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按题目指定的容差比较结果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75D32CDA-2415-4458-9408-F6CF8FF7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配套练习：S03、S09、S10、S11、S12、S13、S14、S15、S16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6D98900F-563D-47C8-B8AA-81A2B675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20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B52625D-0984-4402-8460-9AFE2E6B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1.2 类型、变量与算术</a:t>
            </a:r>
          </a:p>
        </p:txBody>
      </p:sp>
    </p:spTree>
    <p:extLst>
      <p:ext uri="{BB962C8B-B14F-4D97-AF65-F5344CB8AC3E}">
        <p14:creationId xmlns:p14="http://schemas.microsoft.com/office/powerpoint/2010/main" val="5692817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1C218A5-3308-4804-A017-00C74516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1.3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93A452B0-5772-466B-B10D-4D8058A4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条件判断与输入状态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31644007-F756-41DD-9966-AA202110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条件、分支和逻辑仍然熟悉。需要重新确认的是运算符写法、短路求值，以及流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怎样报告一次读取的结果。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09BC5927-FA75-448F-B851-7A8BC41D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配套练习：S17、S18、S19、S06、S20、S21、S22、S23、S24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6D13682F-FFCE-41C7-9D74-A4AFB115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21 / 74</a:t>
            </a:r>
          </a:p>
        </p:txBody>
      </p:sp>
    </p:spTree>
    <p:extLst>
      <p:ext uri="{BB962C8B-B14F-4D97-AF65-F5344CB8AC3E}">
        <p14:creationId xmlns:p14="http://schemas.microsoft.com/office/powerpoint/2010/main" val="199668305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11475778-1E31-4987-844B-9A82F02F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条件与区间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9702226-AA8D-4974-A4CC-3D8D2C72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if (lower &lt;= x &amp;&amp; x &lt;= upper)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// ...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A3E63BC-6D71-4D4E-9B92-7AA6AEA2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每次比较产生 bool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53292512-CFAF-492F-90DF-D3F94750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&amp;&amp;、||、! 组合判断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5F9BB82F-3F5A-44A9-80A1-12D755CA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分支顺序体现规则优先级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D9B6F5A2-5905-44EB-8882-0F4FB409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22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81C06AA-7031-47C6-8308-96D2026B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1.3 条件判断与输入状态</a:t>
            </a:r>
          </a:p>
        </p:txBody>
      </p:sp>
    </p:spTree>
    <p:extLst>
      <p:ext uri="{BB962C8B-B14F-4D97-AF65-F5344CB8AC3E}">
        <p14:creationId xmlns:p14="http://schemas.microsoft.com/office/powerpoint/2010/main" val="135243137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EBB1AB20-4670-4545-8AB0-0F13BDE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短路求值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DFF51EDF-F628-4AB3-ADCA-A282C213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422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bool valid = (b != 0 &amp;&amp; a / b &gt; limit);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6087A78-45A2-42A9-9538-EB712197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515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左侧条件先执行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49386D6-990B-45BB-8F85-42B89448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617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只有左侧为真，&amp;&amp; 才执行右侧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6E56EA6-43A7-4246-A91D-1A1E5888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720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把安全前提放在危险操作之前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9C49AD90-642C-486A-95CD-0C75DCA1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23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297FDA8-7ACF-49D9-BC62-EC01182B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1.3 条件判断与输入状态</a:t>
            </a:r>
          </a:p>
        </p:txBody>
      </p:sp>
    </p:spTree>
    <p:extLst>
      <p:ext uri="{BB962C8B-B14F-4D97-AF65-F5344CB8AC3E}">
        <p14:creationId xmlns:p14="http://schemas.microsoft.com/office/powerpoint/2010/main" val="19568956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FBC1E352-DCB5-4C5D-892A-E154711F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输入流的状态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104F5-842A-4E66-A33A-F9C7316A527C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读取结果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后续处理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成功取得值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使用新读取的值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格式不匹配或数值越界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进入失败处理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已经遇到输入结尾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结合本次提取结果判断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0201BA75-8FA3-4260-838F-C577C54C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eof() 与 fail() 回答不同的问题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C02EFBBE-45F9-4709-BCC4-F21D3AE6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24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A363DB4-DC97-4346-9B95-350478A3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1.3 条件判断与输入状态</a:t>
            </a:r>
          </a:p>
        </p:txBody>
      </p:sp>
    </p:spTree>
    <p:extLst>
      <p:ext uri="{BB962C8B-B14F-4D97-AF65-F5344CB8AC3E}">
        <p14:creationId xmlns:p14="http://schemas.microsoft.com/office/powerpoint/2010/main" val="114315321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9A7EA5F2-9ED6-4E0F-A452-B24556B5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检查本次读取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E164B914-3ADD-4513-9443-030A4D83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9578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if (std::cin &gt;&gt; value)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// use value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 else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// handle failure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C9F6F4F-6C93-4D9F-A199-19D4F027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0964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先执行读取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89D270B5-D4B4-4351-B880-C6D3E7A9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1989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再检查读取是否失败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CD54797A-94EC-40B3-9E20-75CE57EE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25 / 74</a:t>
            </a:r>
          </a:p>
        </p:txBody>
      </p:sp>
      <p:sp>
        <p:nvSpPr>
          <p:cNvPr id="6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7674DF6-50A5-472E-A4B2-FA532AB1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1.3 条件判断与输入状态</a:t>
            </a:r>
          </a:p>
        </p:txBody>
      </p:sp>
    </p:spTree>
    <p:extLst>
      <p:ext uri="{BB962C8B-B14F-4D97-AF65-F5344CB8AC3E}">
        <p14:creationId xmlns:p14="http://schemas.microsoft.com/office/powerpoint/2010/main" val="15148549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59E06D99-5304-429F-B680-0256E40B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离散分支与优先级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9A2EAA40-DF59-48E2-82A2-9F28DC21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switch 处理离散选项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51093974-7279-49CE-B83E-A7A9CA27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break 结束当前分支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90589981-4DC4-4359-84BE-2F4A54FD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else if 按顺序选择首个满足的条件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7443B6DA-C489-4EFB-9D9E-5AE61222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边界值决定比较符号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9FCED89D-935D-4D37-9CE9-809483E3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配套练习：S17、S18、S19、S06、S20、S21、S22、S23、S24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D92D054C-5861-408D-A765-92DD608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26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670ACD4-D95B-46DD-8BA1-D0A040D6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1.3 条件判断与输入状态</a:t>
            </a:r>
          </a:p>
        </p:txBody>
      </p:sp>
    </p:spTree>
    <p:extLst>
      <p:ext uri="{BB962C8B-B14F-4D97-AF65-F5344CB8AC3E}">
        <p14:creationId xmlns:p14="http://schemas.microsoft.com/office/powerpoint/2010/main" val="17810818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7370DBEB-D0A3-491B-A9A1-45AC761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1.4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8A332567-EF1F-4C92-B07A-D1DB860E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循环、EOF 与逐步变化的状态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B3E6590-16F5-47B2-951A-9734B99C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循环把同一条规则应用很多次。写之前先回答：从什么状态开始，每次更新什么，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什么时候停止。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60981920-64FA-4B4E-8E27-E0020050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配套练习：S25、S26、S27、S28、S29、S30、S31、S32、S73、S76、S79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CA68D2F2-C99D-44F4-9123-972930B3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27 / 74</a:t>
            </a:r>
          </a:p>
        </p:txBody>
      </p:sp>
    </p:spTree>
    <p:extLst>
      <p:ext uri="{BB962C8B-B14F-4D97-AF65-F5344CB8AC3E}">
        <p14:creationId xmlns:p14="http://schemas.microsoft.com/office/powerpoint/2010/main" val="11043031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917C87FD-B52B-4505-BBD3-65B9BCDB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for 的执行顺序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5046C-540D-4717-A2E6-BA1A5F93D095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324088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发生次数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初始化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进入循环时一次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判断条件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每轮开始前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执行循环体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条件成立时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更新变量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本轮循环体结束后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7ABED6D1-3BEB-4788-B7CC-D4F06E86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28 / 74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1DD6C847-E2F8-4610-A230-5025A20C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1.4 循环、EOF 与逐步变化的状态</a:t>
            </a:r>
          </a:p>
        </p:txBody>
      </p:sp>
    </p:spTree>
    <p:extLst>
      <p:ext uri="{BB962C8B-B14F-4D97-AF65-F5344CB8AC3E}">
        <p14:creationId xmlns:p14="http://schemas.microsoft.com/office/powerpoint/2010/main" val="192532946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F7C7D378-DB68-481A-A658-BE8B7BE3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半开区间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B9AE15A5-5C74-4B4F-A61F-184F7F40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for (int i = 0; i &lt; n; ++i)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// process element i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6100A5DE-3432-405B-83B4-1B6F150A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索引从 0 开始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231810F-1D91-4395-A3BE-24E65B93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条件 i &lt; n 保证最多执行 n 次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DEC2207C-7D2F-4348-BEAF-FBEC45B8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n 为 0 时不进入循环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1733E7BE-AFAC-4295-9618-3BE133C1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29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026CA6C-55F4-4520-BE73-CA9AC76F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1.4 循环、EOF 与逐步变化的状态</a:t>
            </a:r>
          </a:p>
        </p:txBody>
      </p:sp>
    </p:spTree>
    <p:extLst>
      <p:ext uri="{BB962C8B-B14F-4D97-AF65-F5344CB8AC3E}">
        <p14:creationId xmlns:p14="http://schemas.microsoft.com/office/powerpoint/2010/main" val="29312455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048628A8-A7AE-4AF2-AA8F-98CE240E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读取控制循环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6CCF7E0-5E78-4D77-ABE6-E2FAF5D8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while (std::cin &gt;&gt; value)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// process the value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B060B5C5-6DF2-4E24-8EFE-621C04C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读取成功后才进入循环体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D84B5CFF-5294-4CF9-BED4-B7CC13E6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哨兵值需要在计算之前判断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A60D0A4-C1CB-48D5-A89F-7E17E84A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break 结束循环，continue 结束本轮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65C9338C-F5DF-45EF-ACA5-64E351B8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30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E8AA69E-3BF7-426A-9342-2F4BD929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1.4 循环、EOF 与逐步变化的状态</a:t>
            </a:r>
          </a:p>
        </p:txBody>
      </p:sp>
    </p:spTree>
    <p:extLst>
      <p:ext uri="{BB962C8B-B14F-4D97-AF65-F5344CB8AC3E}">
        <p14:creationId xmlns:p14="http://schemas.microsoft.com/office/powerpoint/2010/main" val="97196997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F23712F4-FAAA-462D-8AC1-7E043460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循环中的状态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A589A-AF1D-4869-9AF7-27B679D1C78B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324088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每轮的责任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累加器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加入本轮需要的值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计数器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事件发生时加一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当前连续长度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持续时增长，中断时重置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历史最大值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保留已知最好结果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376D39C9-D5B5-4666-B144-E5D4B199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31 / 74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F6C395E-F28C-43C0-BA89-19D06593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1.4 循环、EOF 与逐步变化的状态</a:t>
            </a:r>
          </a:p>
        </p:txBody>
      </p:sp>
    </p:spTree>
    <p:extLst>
      <p:ext uri="{BB962C8B-B14F-4D97-AF65-F5344CB8AC3E}">
        <p14:creationId xmlns:p14="http://schemas.microsoft.com/office/powerpoint/2010/main" val="53168599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7F026053-0468-44C7-B8A8-D992683C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更新顺序与边界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64DE9D28-784B-43B2-A8D5-20F5D532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状态变化顺序来自题目规则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E1328358-E3E0-478E-9D6C-2C4DA499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空输入与单元素输入检查初值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6F750C64-36D6-4FA6-A0A0-E8E1F5ED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循环条件决定读取次数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1B5D8799-20B0-485D-B3D8-18501C3B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调试时记录每轮变量状态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5B1F93C0-8837-4ABC-B455-6B2A097B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配套练习：S25、S26、S27、S28、S29、S30、S31、S32、S73、S76、S79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9B21ED3A-620B-4165-9790-0BA06FFF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32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AB0F644-4C5D-48BC-9CDA-68A36CF9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1.4 循环、EOF 与逐步变化的状态</a:t>
            </a:r>
          </a:p>
        </p:txBody>
      </p:sp>
    </p:spTree>
    <p:extLst>
      <p:ext uri="{BB962C8B-B14F-4D97-AF65-F5344CB8AC3E}">
        <p14:creationId xmlns:p14="http://schemas.microsoft.com/office/powerpoint/2010/main" val="110261499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7C1132B-9C8A-4C14-BA21-0FF93B51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1.5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DB76C1EC-D378-4A68-8F6F-FF485DF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数组、vector 与一批数据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080EB1C2-E6CA-4C91-8496-71A4298F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Python list 的用途在这里仍然存在，但 C++ 会把元素类型和容器的增长方式写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进类型或接口。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268610D5-8A1A-4081-AE0D-B54F2A72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配套练习：S33、S34、S35、S36、S37、S38、S39、S40、S68、S70、S78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7613AFA2-3614-4E96-AD40-EDF2968B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33 / 74</a:t>
            </a:r>
          </a:p>
        </p:txBody>
      </p:sp>
    </p:spTree>
    <p:extLst>
      <p:ext uri="{BB962C8B-B14F-4D97-AF65-F5344CB8AC3E}">
        <p14:creationId xmlns:p14="http://schemas.microsoft.com/office/powerpoint/2010/main" val="33585064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41F9DD92-B511-4882-A927-10F7BA47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固定长度与动态长度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6BC09-0EB1-4E54-A635-9583A13CD247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std::array&lt;T,N&gt;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std::vector&lt;T&gt;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长度包含在类型中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长度可以变化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创建时确定元素个数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push_back 在末尾追加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 &lt;array&gt;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 &lt;vector&gt;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F29C24D4-DDB7-4A71-B84A-1D54372F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34 / 74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E5CDC18-69DB-448D-A754-BBCC780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1.5 数组、vector 与一批数据</a:t>
            </a:r>
          </a:p>
        </p:txBody>
      </p:sp>
    </p:spTree>
    <p:extLst>
      <p:ext uri="{BB962C8B-B14F-4D97-AF65-F5344CB8AC3E}">
        <p14:creationId xmlns:p14="http://schemas.microsoft.com/office/powerpoint/2010/main" val="123057132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7E4FA760-131B-4C2C-BAE2-CADBC337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容器的基本操作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2703528F-2026-4A62-806E-2B6F4880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std::vector&lt;int&gt; values;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values.push_back(value);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 count = static_cast&lt;int&gt;(values.size());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791F51C-20A7-42C8-9A3B-A4D4BC6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尖括号写元素类型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FDCDC665-44C0-428A-8D97-5C6C2468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点号访问容器成员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48297149-66AE-4CF7-A475-C9242BF4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size 表示当前元素个数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5196E916-3697-4C64-BA9A-B6BA3517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35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1CB64C7-D45A-415C-B359-84916306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1.5 数组、vector 与一批数据</a:t>
            </a:r>
          </a:p>
        </p:txBody>
      </p:sp>
    </p:spTree>
    <p:extLst>
      <p:ext uri="{BB962C8B-B14F-4D97-AF65-F5344CB8AC3E}">
        <p14:creationId xmlns:p14="http://schemas.microsoft.com/office/powerpoint/2010/main" val="11222797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711172E0-DF87-45AE-BD38-9C4B4EF5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索引的合法区间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3C28F373-6F9C-4B35-BEE8-2F7F2C01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长度 n 对应索引 0 到 n-1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53DD48FA-6A9A-4635-A1F9-61DABF6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外部输入索引先检查非负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EFDBFD78-6B57-4366-8775-7FD8C8B3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负索引不能沿用 Python 的规则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33354B07-DFDD-4D32-A3AC-10D98EE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相邻访问需要先确认另一项存在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8FFA0D07-5165-4BDF-BEF7-144CE51A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36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E3AD8B1-F0C1-4A48-9824-DDDBE69A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1.5 数组、vector 与一批数据</a:t>
            </a:r>
          </a:p>
        </p:txBody>
      </p:sp>
    </p:spTree>
    <p:extLst>
      <p:ext uri="{BB962C8B-B14F-4D97-AF65-F5344CB8AC3E}">
        <p14:creationId xmlns:p14="http://schemas.microsoft.com/office/powerpoint/2010/main" val="76593185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BB569BB0-E96C-489A-8586-77E43476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vector 的值复制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A0BAD-90D8-4FFC-A6BF-6860ABE945FC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962400"/>
                <a:gridCol w="39624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原容器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副本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复制后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保存原有元素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保存独立的整数元素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修改副本后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保持不变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只有自身元素变化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4843286E-5DF5-4DFE-B6CB-AA941C04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先区分独立副本，再学习引用与共享访问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6530649C-C2BA-4B71-8A5F-328F6A86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37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AD2BFA4-FA7F-44BE-BE0E-B3A6C3E5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1.5 数组、vector 与一批数据</a:t>
            </a:r>
          </a:p>
        </p:txBody>
      </p:sp>
    </p:spTree>
    <p:extLst>
      <p:ext uri="{BB962C8B-B14F-4D97-AF65-F5344CB8AC3E}">
        <p14:creationId xmlns:p14="http://schemas.microsoft.com/office/powerpoint/2010/main" val="210970243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970A3F17-02DF-4C0A-B688-F459FC2F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相邻、二维与窗口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61203C10-C005-4F55-B883-95AAAE8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相邻访问从第二项开始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986B48EC-663E-412A-9D7A-7CFD614E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二维索引分别表示行与列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DD70E0E3-FEB9-4AE8-A63A-9BC4092C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窗口只覆盖完整的 k 个元素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BB3B42E7-0C79-4A75-9978-4EC3A739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循环位移先去除完整圈数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3427160A-E3B5-4AEC-8498-52E54C2C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配套练习：S33、S34、S35、S36、S37、S38、S39、S40、S68、S70、S78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FD888167-B0B0-45EE-BC56-17620685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38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3BE74E5-5566-4F0D-9587-B9A43F3A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1.5 数组、vector 与一批数据</a:t>
            </a:r>
          </a:p>
        </p:txBody>
      </p:sp>
    </p:spTree>
    <p:extLst>
      <p:ext uri="{BB962C8B-B14F-4D97-AF65-F5344CB8AC3E}">
        <p14:creationId xmlns:p14="http://schemas.microsoft.com/office/powerpoint/2010/main" val="5131885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E4A0711-CD0B-4127-8F8F-C4C462C6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1.6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51B6CCDB-89B7-4F27-8ECE-32204EA5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字符串、整行输入与字符扫描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EBB1474-4F2C-4467-B26A-8DDB87D5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字符串是一段字符序列。读入方式决定你得到一个词还是一整行，访问方式决定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程序怎样逐步处理这些字符。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B969CB6A-CAC1-4616-A24E-17EFA60C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配套练习：S04、S05、S41、S42、S43、S45、S48、S69、S74、S77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C448AF4F-24C2-4EA2-9086-01BF5876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39 / 74</a:t>
            </a:r>
          </a:p>
        </p:txBody>
      </p:sp>
    </p:spTree>
    <p:extLst>
      <p:ext uri="{BB962C8B-B14F-4D97-AF65-F5344CB8AC3E}">
        <p14:creationId xmlns:p14="http://schemas.microsoft.com/office/powerpoint/2010/main" val="73766107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1C86D703-8CB4-48B2-BE8B-92EAD7CB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char 与 string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E309E-5F67-4126-A414-D327C2BF7271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字符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字符串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char，使用单引号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std::string，使用双引号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表示一个字符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表示字符序列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可用于离散指令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可按合法索引访问和修改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FD4440F5-F238-4BF9-BB1A-74313E68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本组文本题按 ASCII 约束处理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088F531C-762C-4CF8-9C92-339221C5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40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AA3DC87E-32C4-4417-AB46-0055AE51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1.6 字符串、整行输入与字符扫描</a:t>
            </a:r>
          </a:p>
        </p:txBody>
      </p:sp>
    </p:spTree>
    <p:extLst>
      <p:ext uri="{BB962C8B-B14F-4D97-AF65-F5344CB8AC3E}">
        <p14:creationId xmlns:p14="http://schemas.microsoft.com/office/powerpoint/2010/main" val="34855507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D34F5639-EB22-4B36-9D93-4F86590B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一个词与一整行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A16C25DF-E6AF-4130-B158-FED5A81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std::cin &gt;&gt; word;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std::getline(std::cin, line);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45CC49A-A1B5-47F3-96D9-B9DE47C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格式化提取默认跳过前导空白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192F1DDB-8C32-481D-B3EA-9C0472E7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getline 读到行尾分隔符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0ECD358F-8759-437F-9848-2B4A32C2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115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空字符串需要单独处理首尾访问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2FB7D1F7-20BA-4BBE-8320-BD4403D2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41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99260B8-EA71-4911-914D-92302C05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1.6 字符串、整行输入与字符扫描</a:t>
            </a:r>
          </a:p>
        </p:txBody>
      </p:sp>
    </p:spTree>
    <p:extLst>
      <p:ext uri="{BB962C8B-B14F-4D97-AF65-F5344CB8AC3E}">
        <p14:creationId xmlns:p14="http://schemas.microsoft.com/office/powerpoint/2010/main" val="6650936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FCAA0379-7B2F-4C22-BB87-6B94E512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输入流中留下的换行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7D581-F614-41BB-B504-82F967A99D46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尚未消费的字符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读取数字之前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数字 + 换行 + 下一行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读取数字之后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换行 + 下一行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立即 getline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先遇到换行，得到空行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E43D0D3D-B082-49C8-A388-C85DF1C9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读取位置和剩余字符共同决定下一次结果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5BA7420-33CF-4FEB-ACFD-CBD72B0E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42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D3F2D1B-55DA-4E15-AA23-7DEABDF9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1.6 字符串、整行输入与字符扫描</a:t>
            </a:r>
          </a:p>
        </p:txBody>
      </p:sp>
    </p:spTree>
    <p:extLst>
      <p:ext uri="{BB962C8B-B14F-4D97-AF65-F5344CB8AC3E}">
        <p14:creationId xmlns:p14="http://schemas.microsoft.com/office/powerpoint/2010/main" val="55189379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1AF02ECF-ACE3-48A7-978E-F0A6AE93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查找与替换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A365077D-5810-40D9-8E02-869AC6A3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find 的结果先与 string::npos 比较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B4669CC3-DBE1-459B-9927-5F348BC6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确认命中后再使用位置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B9FC5342-E40A-45E5-BE97-EDFB74FD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replace 可以改变字符串长度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3FA42CEA-F243-4168-885F-4A5F00B8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读取和修改都要满足下标边界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4081582B-55D0-44D5-83F4-9D17C60E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43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1082FBED-2527-4B01-9336-39A28DCC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1.6 字符串、整行输入与字符扫描</a:t>
            </a:r>
          </a:p>
        </p:txBody>
      </p:sp>
    </p:spTree>
    <p:extLst>
      <p:ext uri="{BB962C8B-B14F-4D97-AF65-F5344CB8AC3E}">
        <p14:creationId xmlns:p14="http://schemas.microsoft.com/office/powerpoint/2010/main" val="20767365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0920CFB3-7E0D-44FF-B249-B4926C40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字符扫描的状态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A44625A7-5754-42F2-A1CE-9B3BDD6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左右位置用于对称比较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6F131F9D-84B0-479A-B95B-B6B7BF8C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当前字符与计数用于连续分组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DBECEB0F-303C-4AFC-BEFA-0BC41BC9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方向字符更新候选坐标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76206554-CC4B-475E-B1E9-BF4C0329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边界检查决定是否接受修改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B83A5EE6-AA1D-451F-870F-0B9ED220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配套练习：S04、S05、S41、S42、S43、S45、S48、S69、S74、S77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771E94A5-56DD-4412-81DC-E1357450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44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064F80D-AA30-443B-89C8-69EB31A2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1.6 字符串、整行输入与字符扫描</a:t>
            </a:r>
          </a:p>
        </p:txBody>
      </p:sp>
    </p:spTree>
    <p:extLst>
      <p:ext uri="{BB962C8B-B14F-4D97-AF65-F5344CB8AC3E}">
        <p14:creationId xmlns:p14="http://schemas.microsoft.com/office/powerpoint/2010/main" val="136842062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6F39A40B-6456-4B69-9EE6-55D7DB8B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1.7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F3F47209-62D9-49D0-AE24-A73D5BA1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字符串流与严格解析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4CBA4E00-5128-4C3B-A04D-413BF9E3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输入流可以连接标准输入，也可以连接内存中的字符串。两者都能使用格式化提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取，这让“读一整行，再验证字段”成为自然的处理方式。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29DB918E-8971-4B89-BE0B-07C86ADA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配套练习：S44、S46、S47、S75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7E879039-1D7A-4C7E-8777-D2FA7242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45 / 74</a:t>
            </a:r>
          </a:p>
        </p:txBody>
      </p:sp>
    </p:spTree>
    <p:extLst>
      <p:ext uri="{BB962C8B-B14F-4D97-AF65-F5344CB8AC3E}">
        <p14:creationId xmlns:p14="http://schemas.microsoft.com/office/powerpoint/2010/main" val="139667813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BB915991-8A38-4F8C-99C2-AD996EA4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标准流与字符串流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65DCE-7EFF-4439-8925-A179ABFF89C0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接口来源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数据来源或去向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&lt;iostream&gt;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标准输入、标准输出、标准错误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&lt;sstream&gt;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内存中的字符串缓冲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156E14B1-05FE-4EB2-8130-C61629CB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数据来源改变，格式化读写的思路延续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E1ACB962-ABAA-4310-8F53-5884CB03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46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0C420D6-1025-4DDE-9015-AE22922B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1.7 字符串流与严格解析</a:t>
            </a:r>
          </a:p>
        </p:txBody>
      </p:sp>
    </p:spTree>
    <p:extLst>
      <p:ext uri="{BB962C8B-B14F-4D97-AF65-F5344CB8AC3E}">
        <p14:creationId xmlns:p14="http://schemas.microsoft.com/office/powerpoint/2010/main" val="74993903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3151C655-4115-4CDE-8253-4F40F20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三种字符串流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BDC97-5D48-4DA3-84EF-42381206705A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方向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istringstream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从字符串读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ostringstream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向字符串写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stringstream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支持读与写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F69E5DFA-A09C-45D0-A4A4-B3C7270E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47 / 74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A9FBFB0-97A4-4ACE-A325-8E25FB30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1.7 字符串流与严格解析</a:t>
            </a:r>
          </a:p>
        </p:txBody>
      </p:sp>
    </p:spTree>
    <p:extLst>
      <p:ext uri="{BB962C8B-B14F-4D97-AF65-F5344CB8AC3E}">
        <p14:creationId xmlns:p14="http://schemas.microsoft.com/office/powerpoint/2010/main" val="119552830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D2F19372-37FF-4B7C-BB61-B145685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从文本提取值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5790E552-6C0A-4E5E-ABA2-7F0CE0D1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std::istringstream input(line);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 value = 0;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input &gt;&gt; value;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9F7320C2-B510-4880-92DE-6B58AD44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提取依照目标变量类型进行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09646708-9C2B-4803-A796-FDA00991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读取位置向后推进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61D7EFB2-DFC5-4502-ACED-0488C296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错误状态影响后续读取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8631F394-3F84-4637-B774-BA25A7E4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48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F4AB903-7B07-43FD-9C76-20B388D4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1.7 字符串流与严格解析</a:t>
            </a:r>
          </a:p>
        </p:txBody>
      </p:sp>
    </p:spTree>
    <p:extLst>
      <p:ext uri="{BB962C8B-B14F-4D97-AF65-F5344CB8AC3E}">
        <p14:creationId xmlns:p14="http://schemas.microsoft.com/office/powerpoint/2010/main" val="163598542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538E92D9-671E-4C0D-B557-B9CE1826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缓冲内容、位置与状态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CD59F-3C5C-481A-A05C-768B10108AC7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操作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影响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str()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取得缓冲文本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str(new_text)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设置缓冲文本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clear()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重置流状态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D5C2FAB2-79AD-48BD-9219-8E8F9920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重新设置文本和清除失败状态分别处理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55A5FA7B-ED8B-4A66-895D-BE0D3D9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49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024EAC3-50D0-404C-91D8-6BA143DF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1.7 字符串流与严格解析</a:t>
            </a:r>
          </a:p>
        </p:txBody>
      </p:sp>
    </p:spTree>
    <p:extLst>
      <p:ext uri="{BB962C8B-B14F-4D97-AF65-F5344CB8AC3E}">
        <p14:creationId xmlns:p14="http://schemas.microsoft.com/office/powerpoint/2010/main" val="211002744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D84BFAB5-BE09-4765-9B29-2A6FB7A0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严格解析的两个层次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D6514322-47A7-4EA9-96A4-C8B3D181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先检查必要字段能否完整读出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2A577035-E419-498F-9D43-CD91B714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再检查是否有多余的非空白字符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5FF99838-ABF3-4DC6-A845-2A78BEE2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按分隔规则保留需要的空字段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6AD04B0B-6986-437E-AF36-A307579D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整条记录合法后再修改状态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A3D5C080-0329-448C-836B-B08A3F1B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配套练习：S44、S46、S47、S75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D82233CC-5DC0-41EF-96C7-FAEBF4E3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50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D3C9885-1960-42AC-B656-B627208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1.7 字符串流与严格解析</a:t>
            </a:r>
          </a:p>
        </p:txBody>
      </p:sp>
    </p:spTree>
    <p:extLst>
      <p:ext uri="{BB962C8B-B14F-4D97-AF65-F5344CB8AC3E}">
        <p14:creationId xmlns:p14="http://schemas.microsoft.com/office/powerpoint/2010/main" val="112408185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80026BE5-0AA8-4DC5-A7A1-861F803B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1.8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D8A9E77-CDF7-483A-BF82-132DA155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函数、作用域与值传递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FD064454-3C67-4778-8ED3-58B55FD3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函数把计算的输入、输出和局部状态放在一个清楚的边界内。先理解值怎样传进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去，再讨论怎样允许函数修改外部对象。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370CFD77-9E26-4A3E-86E4-A42072AF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配套练习：S49、S50、S54、S51、S52、S53、S55、S57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5FE16E2C-A372-4226-B7C3-CE1A1150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51 / 74</a:t>
            </a:r>
          </a:p>
        </p:txBody>
      </p:sp>
    </p:spTree>
    <p:extLst>
      <p:ext uri="{BB962C8B-B14F-4D97-AF65-F5344CB8AC3E}">
        <p14:creationId xmlns:p14="http://schemas.microsoft.com/office/powerpoint/2010/main" val="27197054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FFCA9FAE-C3E2-49C6-AF49-79C0BB42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函数的输入和输出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14E95239-4D64-42FA-8733-F14BEDEA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ReturnType function_name(Type parameter)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return result;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EE88D7E7-4334-4751-A1EB-764D0020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参数描述输入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66E4EAA5-955C-4F4C-8B2E-1773A9F7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返回类型描述输出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DBA602A4-2A75-4DE3-8998-8D478DBE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调用方依照声明使用函数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107FC1FA-69DE-4269-92DF-BA194624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52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F884A13-5DC0-405C-9725-E67D73C5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1.8 函数、作用域与值传递</a:t>
            </a:r>
          </a:p>
        </p:txBody>
      </p:sp>
    </p:spTree>
    <p:extLst>
      <p:ext uri="{BB962C8B-B14F-4D97-AF65-F5344CB8AC3E}">
        <p14:creationId xmlns:p14="http://schemas.microsoft.com/office/powerpoint/2010/main" val="346858668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719C8FA5-3298-42C8-A6B8-7AFB90BE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声明、定义与作用域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C41BE44C-63BE-4DEC-AFEA-465E2F7F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声明使接口在调用处可见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BC4FECC1-3C42-49E4-8C45-890B8546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定义提供函数体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EA994DB6-C854-459B-9D06-A65D8EFC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局部名字只在对应范围中可见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06858843-04C7-4F69-9F1D-1D825CD4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内层同名变量会遮蔽外层名字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41519DFC-F2D6-464E-A72E-17E31E44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53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93C2979F-FCE8-4BB9-9822-1BCE025C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1.8 函数、作用域与值传递</a:t>
            </a:r>
          </a:p>
        </p:txBody>
      </p:sp>
    </p:spTree>
    <p:extLst>
      <p:ext uri="{BB962C8B-B14F-4D97-AF65-F5344CB8AC3E}">
        <p14:creationId xmlns:p14="http://schemas.microsoft.com/office/powerpoint/2010/main" val="823040840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FDD80322-DB82-4AA0-88E0-82692BEA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默认参数与重载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A36DB31D-E715-4558-B812-C9A4A931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默认参数补齐省略的末尾参数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1111ED61-7B14-404B-9B7F-8F583428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重载根据参数选择合适函数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12564641-F0AD-45A1-828E-75FEE154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返回类型不能单独区分重载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C648B8B9-AA4D-47DA-873C-AFC41330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递归需要可到达的结束条件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5E1DAEF4-A4BA-472D-AE53-A38454B2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54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6F5BA47D-183C-4523-8D70-C67C68A0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1.8 函数、作用域与值传递</a:t>
            </a:r>
          </a:p>
        </p:txBody>
      </p:sp>
    </p:spTree>
    <p:extLst>
      <p:ext uri="{BB962C8B-B14F-4D97-AF65-F5344CB8AC3E}">
        <p14:creationId xmlns:p14="http://schemas.microsoft.com/office/powerpoint/2010/main" val="913629223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5E3873B5-9203-4B63-B57C-8756C68E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值传递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7AF29-B3D6-48FE-A6BC-5BF2A6F94CF6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调用方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函数内部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保存原对象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创建参数副本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原对象状态保持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修改副本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函数返回后继续存在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普通局部副本结束生命周期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3BB14663-8B8F-4810-8AC3-061DCE35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允许修改原对象，需要不同的参数接口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B8A89AE3-0232-42D6-ABBA-E2622155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配套练习：S49、S50、S54、S51、S52、S53、S55、S57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FA59BFED-B8C0-40A7-ADFB-B2405269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55 / 74</a:t>
            </a:r>
          </a:p>
        </p:txBody>
      </p:sp>
      <p:sp>
        <p:nvSpPr>
          <p:cNvPr id="6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D5AB185D-4623-4239-A344-0236A032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1.8 函数、作用域与值传递</a:t>
            </a:r>
          </a:p>
        </p:txBody>
      </p:sp>
    </p:spTree>
    <p:extLst>
      <p:ext uri="{BB962C8B-B14F-4D97-AF65-F5344CB8AC3E}">
        <p14:creationId xmlns:p14="http://schemas.microsoft.com/office/powerpoint/2010/main" val="13776207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4CF7BD94-7EB1-488E-8DB2-9812BCEF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1.9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B998EFC1-2A52-46F3-8FF7-7C1B0CF7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内存、地址与引用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2B354EB-2F69-4573-9C09-59AE8A71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在写出 &amp; 之前，先建立一个模型：对象占用存储，存储中的内容有类型解释，地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址用于标识所在位置。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82453AF2-3F00-425B-8A59-EF3F8E8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配套练习：S58、S56、S62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7E1BA857-3513-474B-B2E0-8E8A135C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56 / 74</a:t>
            </a:r>
          </a:p>
        </p:txBody>
      </p:sp>
    </p:spTree>
    <p:extLst>
      <p:ext uri="{BB962C8B-B14F-4D97-AF65-F5344CB8AC3E}">
        <p14:creationId xmlns:p14="http://schemas.microsoft.com/office/powerpoint/2010/main" val="115242981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D4A1E7FC-3470-401C-A17E-900265EE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内存中的位置与内容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EFF92-4760-44D7-9FE0-47C7F5564AE2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962400"/>
                <a:gridCol w="39624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示意地址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值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0x1000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一个整数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copy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0x2000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独立的整数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E4B263CE-134A-4FAA-9E5A-61121216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地址表示位置，值表示内容，示意地址不代表真实布局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69A5D98D-2BD4-4581-BE10-BA8E7C3B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57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C9F3A7E-CBB8-43A4-964B-D2752BB5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1.9 内存、地址与引用</a:t>
            </a:r>
          </a:p>
        </p:txBody>
      </p:sp>
    </p:spTree>
    <p:extLst>
      <p:ext uri="{BB962C8B-B14F-4D97-AF65-F5344CB8AC3E}">
        <p14:creationId xmlns:p14="http://schemas.microsoft.com/office/powerpoint/2010/main" val="1268862733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5A176A5D-9956-415A-935A-C544B2A7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复制与引用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DEA5A9B6-A652-49DA-9E4E-336454E8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 copy = x;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int&amp; ref = x;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1C1B7-9E5F-4409-8C3C-4F443400D4F2}"/>
              </a:ext>
            </a:extLst>
          </p:cNvPr>
          <p:cNvGraphicFramePr/>
          <p:nvPr/>
        </p:nvGraphicFramePr>
        <p:xfrm>
          <a:off xmlns:a="http://schemas.openxmlformats.org/drawingml/2006/main" x="800100" y="2749106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copy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ref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访问原对象的别名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修改自身值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通过它修改 x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CAC0D496-A748-4789-BCB4-674E602A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58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B20536B-90D3-4CE8-805A-4260E33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1.9 内存、地址与引用</a:t>
            </a:r>
          </a:p>
        </p:txBody>
      </p:sp>
    </p:spTree>
    <p:extLst>
      <p:ext uri="{BB962C8B-B14F-4D97-AF65-F5344CB8AC3E}">
        <p14:creationId xmlns:p14="http://schemas.microsoft.com/office/powerpoint/2010/main" val="143188830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8FF6103F-CEE2-4479-BAF3-1B9DA4A1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取地址与引用声明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F7FE0-0314-4C44-B89E-828292838537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写法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&amp;x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表达式，取得对象地址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int&amp; ref = x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声明，引用绑定对象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ref = value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修改已绑定的对象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CB1D8E7A-F2E1-4028-A7DC-409C55B8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45330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相同符号出现在不同语法位置，意义随之区分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51063E64-5B9D-4E32-97D8-EF6ACED2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59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B0B4DEB-0D91-4AA1-883E-90202A50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1.9 内存、地址与引用</a:t>
            </a:r>
          </a:p>
        </p:txBody>
      </p:sp>
    </p:spTree>
    <p:extLst>
      <p:ext uri="{BB962C8B-B14F-4D97-AF65-F5344CB8AC3E}">
        <p14:creationId xmlns:p14="http://schemas.microsoft.com/office/powerpoint/2010/main" val="91094945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heading">
            <a:extLst xmlns:a="http://schemas.openxmlformats.org/drawingml/2006/main">
              <a:ext uri="{FF2B5EF4-FFF2-40B4-BE49-F238E27FC236}">
                <a16:creationId xmlns:a16="http://schemas.microsoft.com/office/drawing/2014/main" id="{E2FEEFFA-426F-463E-ACB4-68D73C6E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参数的三种方式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BD09B-083D-4063-BCC4-80E01AE11258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259270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接口含义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 value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使用副本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T&amp; value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允许修改调用方对象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const T&amp; value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借用对象进行只读访问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3" name="folio">
            <a:extLst xmlns:a="http://schemas.openxmlformats.org/drawingml/2006/main">
              <a:ext uri="{FF2B5EF4-FFF2-40B4-BE49-F238E27FC236}">
                <a16:creationId xmlns:a16="http://schemas.microsoft.com/office/drawing/2014/main" id="{B8FE8AFD-F45F-421E-BB01-B48F3666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60 / 74</a:t>
            </a:r>
          </a:p>
        </p:txBody>
      </p:sp>
      <p:sp>
        <p:nvSpPr>
          <p:cNvPr id="4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400CDB95-B8CC-44B5-BA02-2008C666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1.9 内存、地址与引用</a:t>
            </a:r>
          </a:p>
        </p:txBody>
      </p:sp>
    </p:spTree>
    <p:extLst>
      <p:ext uri="{BB962C8B-B14F-4D97-AF65-F5344CB8AC3E}">
        <p14:creationId xmlns:p14="http://schemas.microsoft.com/office/powerpoint/2010/main" val="5439123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038A5DC2-18F2-4DDE-AB4A-9DF0323D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范围 for 与只读引用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9F1061F6-5FB8-4086-A009-C7C71FAC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189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for (const int&amp; item : values)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// read item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24198FAB-7364-45AD-BE96-44FC7EF6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3305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冒号右侧是待遍历的容器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E97FF499-5C1A-4763-9ADD-44B12275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083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左侧声明本轮怎样访问元素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951FB1A3-6285-4C75-8E0B-4FA6771B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108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const 引用读取元素而不复制它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B0F3EFB9-9822-4527-AD28-4608CF9C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61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E39C310A-D62F-42C5-BDA1-25545168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1.9 内存、地址与引用</a:t>
            </a:r>
          </a:p>
        </p:txBody>
      </p:sp>
    </p:spTree>
    <p:extLst>
      <p:ext uri="{BB962C8B-B14F-4D97-AF65-F5344CB8AC3E}">
        <p14:creationId xmlns:p14="http://schemas.microsoft.com/office/powerpoint/2010/main" val="192046785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9F1D83DE-A0F8-4275-B03C-2B1555C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输出参数与失败约定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A7D8BD87-71F2-4031-B619-E8ECAA66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返回值说明操作状态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9C23E5FF-8E29-4606-AF05-5508A81A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引用参数交回额外结果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50AAF024-F6B6-418F-9864-6FF8D5D4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先验证前提，再写入结果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9AB04317-0A8B-4117-9235-F5585E9C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失败时是否保持原值，应写进接口约定</a:t>
            </a:r>
          </a:p>
        </p:txBody>
      </p:sp>
      <p:sp>
        <p:nvSpPr>
          <p:cNvPr id="6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67774955-9297-49B5-91B2-84147252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配套练习：S58、S56、S62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568A90C0-3422-442C-AD44-D321D992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62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CB814396-9229-4828-954B-D24BE1E7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1.9 内存、地址与引用</a:t>
            </a:r>
          </a:p>
        </p:txBody>
      </p:sp>
    </p:spTree>
    <p:extLst>
      <p:ext uri="{BB962C8B-B14F-4D97-AF65-F5344CB8AC3E}">
        <p14:creationId xmlns:p14="http://schemas.microsoft.com/office/powerpoint/2010/main" val="87682240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230A541F-1813-42C0-A9E3-B6644249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1.10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67541A28-FD1C-4FBD-895C-BFADB9C4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指针、区间与对象有效期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869602D1-0192-4D83-90AB-6A736A84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引用提供别名，指针则把地址作为一个可以保存和修改的值。只有同时理解“指向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哪里”和“目标还活着吗”，才能安全使用它。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4270431E-4047-4DB6-9CF9-B4AAF489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配套练习：S59、S60、S61、S64、S63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40B7042E-5F55-48A1-B7D0-8D32AE99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63 / 74</a:t>
            </a:r>
          </a:p>
        </p:txBody>
      </p:sp>
    </p:spTree>
    <p:extLst>
      <p:ext uri="{BB962C8B-B14F-4D97-AF65-F5344CB8AC3E}">
        <p14:creationId xmlns:p14="http://schemas.microsoft.com/office/powerpoint/2010/main" val="124827957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C3684C1E-3BEF-4CB3-9458-83EE6536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指针和目标是两个对象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32869222-7AC6-4E4E-BE0A-CB642CCD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422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int* p = &amp;x;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8A078-ADE8-45EF-AD56-6E39ACE4EE15}"/>
              </a:ext>
            </a:extLst>
          </p:cNvPr>
          <p:cNvGraphicFramePr/>
          <p:nvPr/>
        </p:nvGraphicFramePr>
        <p:xfrm>
          <a:off xmlns:a="http://schemas.openxmlformats.org/drawingml/2006/main" x="800100" y="2365153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对象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保存的内容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 x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整数值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指针 p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x 的地址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CAE494D2-3677-461D-B5F5-C828B276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64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50882F1E-F889-47A6-9BCA-03BF41D6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1.10 指针、区间与对象有效期</a:t>
            </a:r>
          </a:p>
        </p:txBody>
      </p:sp>
    </p:spTree>
    <p:extLst>
      <p:ext uri="{BB962C8B-B14F-4D97-AF65-F5344CB8AC3E}">
        <p14:creationId xmlns:p14="http://schemas.microsoft.com/office/powerpoint/2010/main" val="6909930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3C735656-2584-44A7-B7A3-C70898B6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改地址与改内容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12EF39-379F-4BFB-ADB2-CE9B34409286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写法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发生的修改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 = &amp;other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 p 指向另一个对象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*p = value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改写当前目标内容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aption">
            <a:extLst xmlns:a="http://schemas.openxmlformats.org/drawingml/2006/main">
              <a:ext uri="{FF2B5EF4-FFF2-40B4-BE49-F238E27FC236}">
                <a16:creationId xmlns:a16="http://schemas.microsoft.com/office/drawing/2014/main" id="{3F9E1B11-8936-4E63-9411-EEAE446A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97154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分别追踪指针值和目标值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38B9423-5FAD-4CC0-A410-5B519794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65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DC9BBBA-4AFE-4716-A489-E0B2315D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1.10 指针、区间与对象有效期</a:t>
            </a:r>
          </a:p>
        </p:txBody>
      </p:sp>
    </p:spTree>
    <p:extLst>
      <p:ext uri="{BB962C8B-B14F-4D97-AF65-F5344CB8AC3E}">
        <p14:creationId xmlns:p14="http://schemas.microsoft.com/office/powerpoint/2010/main" val="121172466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B362F4E0-EE65-4BD9-9A73-F810AC6F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解引用的前提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D7004CE4-1B00-472E-AD52-3F69EF50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指针已经初始化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C252D6B5-35A7-4514-A838-36054C1F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目标存在且类型合适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548A92EB-F226-4D5B-90E6-89BCF3AB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访问范围合法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4467B627-54B8-4011-A0DA-51CAC539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非空检查不能替代生命周期检查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E389CDBB-33C1-4590-B780-656F658B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66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B0122CE5-13A0-4062-BAFC-4E7BD9BC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1.10 指针、区间与对象有效期</a:t>
            </a:r>
          </a:p>
        </p:txBody>
      </p:sp>
    </p:spTree>
    <p:extLst>
      <p:ext uri="{BB962C8B-B14F-4D97-AF65-F5344CB8AC3E}">
        <p14:creationId xmlns:p14="http://schemas.microsoft.com/office/powerpoint/2010/main" val="240333700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594B8EAE-0A44-408F-B77A-33D82D61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只读指针与区间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83F219C4-A2A5-4525-92B8-F7A54D17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long long sum_span(const int* p,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               std::size_t n);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BC5DAD2-86B4-46C3-B194-9F696FBF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指针提供首元素入口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7626F2F-22C4-489A-A1A6-E910F25F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长度明确允许访问的范围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B9B5EA59-61EF-4CA6-ABB4-66490E73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115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空区间不访问任何元素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EBD6E813-A5CE-441C-9E79-1FACD03C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67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3911CC82-EA85-4C3C-95F1-3D106B0F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1.10 指针、区间与对象有效期</a:t>
            </a:r>
          </a:p>
        </p:txBody>
      </p:sp>
    </p:spTree>
    <p:extLst>
      <p:ext uri="{BB962C8B-B14F-4D97-AF65-F5344CB8AC3E}">
        <p14:creationId xmlns:p14="http://schemas.microsoft.com/office/powerpoint/2010/main" val="1505335102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868962A7-A7E5-40C4-B11A-E6947E5A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局部对象与返回结果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1414E-8532-47CB-AE1D-12F0197BB489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1944529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返回局部对象的地址或引用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按值返回结果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目标在作用域结束后失效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调用方获得有效结果对象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访问入口可能悬空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生命周期由结果对象管理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DA5B85F3-68C4-49AC-989E-642B0CC7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配套练习：S59、S60、S61、S64、S63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A8E25BDA-BF4C-4A68-A852-B4B4E397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68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854E78D9-0382-424D-B513-316BB284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1.10 指针、区间与对象有效期</a:t>
            </a:r>
          </a:p>
        </p:txBody>
      </p:sp>
    </p:spTree>
    <p:extLst>
      <p:ext uri="{BB962C8B-B14F-4D97-AF65-F5344CB8AC3E}">
        <p14:creationId xmlns:p14="http://schemas.microsoft.com/office/powerpoint/2010/main" val="32120180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142C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AAD44A79-AE9D-4F34-8101-4D04C79F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477500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defPPr>
            <a:lvl1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1pPr>
            <a:lvl2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2pPr>
            <a:lvl3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3pPr>
            <a:lvl4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4pPr>
            <a:lvl5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5pPr>
            <a:lvl6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6pPr>
            <a:lvl7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7pPr>
            <a:lvl8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8pPr>
            <a:lvl9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95CED6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95CED6"/>
                </a:solidFill>
                <a:latin typeface="Menlo"/>
                <a:ea typeface="Menlo"/>
                <a:cs typeface="Menlo"/>
              </a:rPr>
              <a:t>1.11</a:t>
            </a:r>
          </a:p>
        </p:txBody>
      </p:sp>
      <p:sp>
        <p:nvSpPr>
          <p:cNvPr id="2" name="heading">
            <a:extLst xmlns:a="http://schemas.openxmlformats.org/drawingml/2006/main">
              <a:ext uri="{FF2B5EF4-FFF2-40B4-BE49-F238E27FC236}">
                <a16:creationId xmlns:a16="http://schemas.microsoft.com/office/drawing/2014/main" id="{385A0220-BA92-4407-9EDC-41B62416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10591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结构体、枚举与记录集合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DDB743AC-DC7B-4FAF-B5B1-4D056F5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0382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到这里你能处理数值、文本和序列。最后把相关字段组织成明确的记录，并用函</a:t>
            </a:r>
          </a:p>
          <a:p xmlns:a="http://schemas.openxmlformats.org/drawingml/2006/main">
            <a:pPr>
              <a:def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E3EEEE"/>
                </a:solidFill>
                <a:latin typeface="PingFang SC"/>
                <a:ea typeface="PingFang SC"/>
                <a:cs typeface="PingFang SC"/>
              </a:rPr>
              <a:t>数和容器处理多条记录。</a:t>
            </a:r>
          </a:p>
        </p:txBody>
      </p:sp>
      <p:sp>
        <p:nvSpPr>
          <p:cNvPr id="4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EC6FC9C7-8014-49A6-AF41-9305A411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BDCE0"/>
                </a:solidFill>
                <a:latin typeface="PingFang SC"/>
                <a:ea typeface="PingFang SC"/>
                <a:cs typeface="PingFang SC"/>
              </a:rPr>
              <a:t>配套练习：S65、S67、S66、S71、S72、S80</a:t>
            </a:r>
          </a:p>
        </p:txBody>
      </p:sp>
      <p:sp>
        <p:nvSpPr>
          <p:cNvPr id="5" name="folio">
            <a:extLst xmlns:a="http://schemas.openxmlformats.org/drawingml/2006/main">
              <a:ext uri="{FF2B5EF4-FFF2-40B4-BE49-F238E27FC236}">
                <a16:creationId xmlns:a16="http://schemas.microsoft.com/office/drawing/2014/main" id="{C2A48357-32FD-41C0-A3BD-E01901FF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BDCE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BDCE0"/>
                </a:solidFill>
                <a:latin typeface="Menlo"/>
                <a:ea typeface="Menlo"/>
                <a:cs typeface="Menlo"/>
              </a:rPr>
              <a:t>69 / 74</a:t>
            </a:r>
          </a:p>
        </p:txBody>
      </p:sp>
    </p:spTree>
    <p:extLst>
      <p:ext uri="{BB962C8B-B14F-4D97-AF65-F5344CB8AC3E}">
        <p14:creationId xmlns:p14="http://schemas.microsoft.com/office/powerpoint/2010/main" val="1604989481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EB97AD13-BF83-41B7-B7F7-37B921E7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结构体与记录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2B5F441C-C317-4A05-9B7B-E1F37B95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1573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struct Record {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int id = 0;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int score = 0;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};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7254E99A-EF12-420F-A6D2-E2E7415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701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字段名和类型共同组成记录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AF404D90-3B61-43CC-B25A-2D8A245A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803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点号访问对象成员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E4BF592A-60F2-436A-907B-83666D15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906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vector 可以保存多个记录对象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612034D9-EF31-4C84-A77E-C1EBC6FA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70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58B61A4-89A8-4740-9C8E-F36D8FD5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1.11 结构体、枚举与记录集合</a:t>
            </a:r>
          </a:p>
        </p:txBody>
      </p:sp>
    </p:spTree>
    <p:extLst>
      <p:ext uri="{BB962C8B-B14F-4D97-AF65-F5344CB8AC3E}">
        <p14:creationId xmlns:p14="http://schemas.microsoft.com/office/powerpoint/2010/main" val="168214715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F3732CCE-6DF9-4DA6-BB81-D749BA03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作用域枚举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C6AF6018-0A8C-49C7-BE86-996F7CB9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enum class 为有限状态命名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2C773F30-39BB-4228-8E2B-784E4503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使用 类型名::枚举值 访问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D1994C82-6401-475D-AAC2-125E56A6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与整数交换数据时显式转换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13E4A055-10A4-4AD2-A2DD-41A8916F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输入编号仍需要满足范围约束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B1BABAF1-C3E7-4B84-A865-581E69DC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71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7002C223-0589-41A0-B994-5337C1C0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1.11 结构体、枚举与记录集合</a:t>
            </a:r>
          </a:p>
        </p:txBody>
      </p:sp>
    </p:spTree>
    <p:extLst>
      <p:ext uri="{BB962C8B-B14F-4D97-AF65-F5344CB8AC3E}">
        <p14:creationId xmlns:p14="http://schemas.microsoft.com/office/powerpoint/2010/main" val="2040450691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ing">
            <a:extLst xmlns:a="http://schemas.openxmlformats.org/drawingml/2006/main">
              <a:ext uri="{FF2B5EF4-FFF2-40B4-BE49-F238E27FC236}">
                <a16:creationId xmlns:a16="http://schemas.microsoft.com/office/drawing/2014/main" id="{D48D1B77-D72A-4F04-89A9-99997C75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排序比较器</a:t>
            </a:r>
          </a:p>
        </p:txBody>
      </p:sp>
      <p:sp>
        <p:nvSpPr>
          <p:cNvPr id="2" name="code">
            <a:extLst xmlns:a="http://schemas.openxmlformats.org/drawingml/2006/main">
              <a:ext uri="{FF2B5EF4-FFF2-40B4-BE49-F238E27FC236}">
                <a16:creationId xmlns:a16="http://schemas.microsoft.com/office/drawing/2014/main" id="{A1C4A1B8-E6DB-4A5B-8806-07062AE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572750" cy="806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defPPr>
            <a:lvl1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1pPr>
            <a:lvl2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2pPr>
            <a:lvl3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3pPr>
            <a:lvl4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4pPr>
            <a:lvl5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5pPr>
            <a:lvl6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6pPr>
            <a:lvl7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7pPr>
            <a:lvl8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8pPr>
            <a:lvl9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bool before(const Record&amp; a,</a:t>
            </a:r>
          </a:p>
          <a:p xmlns:a="http://schemas.openxmlformats.org/drawingml/2006/main">
            <a:pPr>
              <a:defRPr sz="2175" b="0">
                <a:solidFill>
                  <a:srgbClr val="086B7A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086B7A"/>
                </a:solidFill>
                <a:latin typeface="Menlo"/>
                <a:ea typeface="Menlo"/>
                <a:cs typeface="Menlo"/>
              </a:rPr>
              <a:t>            const Record&amp; b);</a:t>
            </a:r>
          </a:p>
        </p:txBody>
      </p:sp>
      <p:sp>
        <p:nvSpPr>
          <p:cNvPr id="3" name="body-1">
            <a:extLst xmlns:a="http://schemas.openxmlformats.org/drawingml/2006/main">
              <a:ext uri="{FF2B5EF4-FFF2-40B4-BE49-F238E27FC236}">
                <a16:creationId xmlns:a16="http://schemas.microsoft.com/office/drawing/2014/main" id="{C3C0BA17-470B-4D1F-971A-25892E1D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910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返回 a 是否应排在 b 前面</a:t>
            </a:r>
          </a:p>
        </p:txBody>
      </p:sp>
      <p:sp>
        <p:nvSpPr>
          <p:cNvPr id="4" name="body-2">
            <a:extLst xmlns:a="http://schemas.openxmlformats.org/drawingml/2006/main">
              <a:ext uri="{FF2B5EF4-FFF2-40B4-BE49-F238E27FC236}">
                <a16:creationId xmlns:a16="http://schemas.microsoft.com/office/drawing/2014/main" id="{98F97322-5AEB-45FC-B6DC-C70BF9A8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013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先比较主关键字</a:t>
            </a:r>
          </a:p>
        </p:txBody>
      </p:sp>
      <p:sp>
        <p:nvSpPr>
          <p:cNvPr id="5" name="body-3">
            <a:extLst xmlns:a="http://schemas.openxmlformats.org/drawingml/2006/main">
              <a:ext uri="{FF2B5EF4-FFF2-40B4-BE49-F238E27FC236}">
                <a16:creationId xmlns:a16="http://schemas.microsoft.com/office/drawing/2014/main" id="{89E11E1B-6C5F-474D-AC43-6E9CD17E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1156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相同时应用平局规则</a:t>
            </a:r>
          </a:p>
        </p:txBody>
      </p:sp>
      <p:sp>
        <p:nvSpPr>
          <p:cNvPr id="6" name="body-4">
            <a:extLst xmlns:a="http://schemas.openxmlformats.org/drawingml/2006/main">
              <a:ext uri="{FF2B5EF4-FFF2-40B4-BE49-F238E27FC236}">
                <a16:creationId xmlns:a16="http://schemas.microsoft.com/office/drawing/2014/main" id="{5E360199-81B1-4F8C-9D72-1B4B8B91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2181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相等时不能互相排在对方前面</a:t>
            </a:r>
          </a:p>
        </p:txBody>
      </p:sp>
      <p:sp>
        <p:nvSpPr>
          <p:cNvPr id="7" name="folio">
            <a:extLst xmlns:a="http://schemas.openxmlformats.org/drawingml/2006/main">
              <a:ext uri="{FF2B5EF4-FFF2-40B4-BE49-F238E27FC236}">
                <a16:creationId xmlns:a16="http://schemas.microsoft.com/office/drawing/2014/main" id="{B736985C-E2FF-4D41-AABA-B0DFA933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72 / 74</a:t>
            </a:r>
          </a:p>
        </p:txBody>
      </p:sp>
      <p:sp>
        <p:nvSpPr>
          <p:cNvPr id="8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FF6EAA47-2EDC-4F86-AE43-FEC0AD84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1.11 结构体、枚举与记录集合</a:t>
            </a:r>
          </a:p>
        </p:txBody>
      </p:sp>
    </p:spTree>
    <p:extLst>
      <p:ext uri="{BB962C8B-B14F-4D97-AF65-F5344CB8AC3E}">
        <p14:creationId xmlns:p14="http://schemas.microsoft.com/office/powerpoint/2010/main" val="156877864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83792405-41E4-47DB-82F3-596FA75F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记录的处理过程</a:t>
            </a:r>
          </a:p>
        </p:txBody>
      </p:sp>
      <p:sp>
        <p:nvSpPr>
          <p:cNvPr id="2" name="body-1">
            <a:extLst xmlns:a="http://schemas.openxmlformats.org/drawingml/2006/main">
              <a:ext uri="{FF2B5EF4-FFF2-40B4-BE49-F238E27FC236}">
                <a16:creationId xmlns:a16="http://schemas.microsoft.com/office/drawing/2014/main" id="{470E5485-760D-43DC-8384-23F10725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读取并验证字段</a:t>
            </a:r>
          </a:p>
        </p:txBody>
      </p:sp>
      <p:sp>
        <p:nvSpPr>
          <p:cNvPr id="3" name="body-2">
            <a:extLst xmlns:a="http://schemas.openxmlformats.org/drawingml/2006/main">
              <a:ext uri="{FF2B5EF4-FFF2-40B4-BE49-F238E27FC236}">
                <a16:creationId xmlns:a16="http://schemas.microsoft.com/office/drawing/2014/main" id="{765D71AE-730E-4931-AF1C-0F9C6F2A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7438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按题意选择或去重</a:t>
            </a:r>
          </a:p>
        </p:txBody>
      </p:sp>
      <p:sp>
        <p:nvSpPr>
          <p:cNvPr id="4" name="body-3">
            <a:extLst xmlns:a="http://schemas.openxmlformats.org/drawingml/2006/main">
              <a:ext uri="{FF2B5EF4-FFF2-40B4-BE49-F238E27FC236}">
                <a16:creationId xmlns:a16="http://schemas.microsoft.com/office/drawing/2014/main" id="{405A8412-21B5-4727-AD2F-6334A7877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按完整比较规则排序</a:t>
            </a:r>
          </a:p>
        </p:txBody>
      </p:sp>
      <p:sp>
        <p:nvSpPr>
          <p:cNvPr id="5" name="body-4">
            <a:extLst xmlns:a="http://schemas.openxmlformats.org/drawingml/2006/main">
              <a:ext uri="{FF2B5EF4-FFF2-40B4-BE49-F238E27FC236}">
                <a16:creationId xmlns:a16="http://schemas.microsoft.com/office/drawing/2014/main" id="{868E7DAA-658B-4900-9315-8531EC27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5213"/>
            <a:ext cx="10382250" cy="481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2325" b="0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输出记录并计算汇总</a:t>
            </a:r>
          </a:p>
        </p:txBody>
      </p:sp>
      <p:sp>
        <p:nvSpPr>
          <p:cNvPr id="6" name="folio">
            <a:extLst xmlns:a="http://schemas.openxmlformats.org/drawingml/2006/main">
              <a:ext uri="{FF2B5EF4-FFF2-40B4-BE49-F238E27FC236}">
                <a16:creationId xmlns:a16="http://schemas.microsoft.com/office/drawing/2014/main" id="{36B31BEC-F698-4DB5-93C3-23B7E21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73 / 74</a:t>
            </a:r>
          </a:p>
        </p:txBody>
      </p:sp>
      <p:sp>
        <p:nvSpPr>
          <p:cNvPr id="7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2D73C1C6-97A9-4175-AC52-CFC6D70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1.11 结构体、枚举与记录集合</a:t>
            </a:r>
          </a:p>
        </p:txBody>
      </p:sp>
    </p:spTree>
    <p:extLst>
      <p:ext uri="{BB962C8B-B14F-4D97-AF65-F5344CB8AC3E}">
        <p14:creationId xmlns:p14="http://schemas.microsoft.com/office/powerpoint/2010/main" val="158401238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75FE5543-2B1A-451B-AE35-748D24BB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"/>
            <a:ext cx="1059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42C35"/>
                </a:solidFill>
                <a:latin typeface="PingFang SC"/>
                <a:ea typeface="PingFang SC"/>
                <a:cs typeface="PingFang SC"/>
              </a:rPr>
              <a:t>第一课的知识连接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30749-6AE4-4EDF-A1CB-FAD753214B83}"/>
              </a:ext>
            </a:extLst>
          </p:cNvPr>
          <p:cNvGraphicFramePr/>
          <p:nvPr/>
        </p:nvGraphicFramePr>
        <p:xfrm>
          <a:off xmlns:a="http://schemas.openxmlformats.org/drawingml/2006/main" x="800100" y="1733550"/>
          <a:ext xmlns:a="http://schemas.openxmlformats.org/drawingml/2006/main" cx="10591800" cy="3240881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95900"/>
                <a:gridCol w="5295900"/>
              </a:tblGrid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已有工具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组合用途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T w="7144">
                      <a:solidFill>
                        <a:srgbClr val="CBD8DB"/>
                      </a:solidFill>
                      <a:prstDash val="solid"/>
                    </a:lnT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086B7A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类型和流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表达并读取数据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条件和循环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应用规则并遍历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函数和引用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组织计算与访问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48176"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容器和记录</a:t>
                      </a:r>
                    </a:p>
                  </a:txBody>
                  <a:tcPr marL="133350" marR="133350" marT="114300" marB="114300" anchor="t">
                    <a:lnL w="7144">
                      <a:solidFill>
                        <a:srgbClr val="CBD8DB"/>
                      </a:solidFill>
                      <a:prstDash val="solid"/>
                    </a:lnL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r>
                        <a:rPr sz="2175" b="0">
                          <a:solidFill>
                            <a:srgbClr val="142C3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管理一批结构化数据</a:t>
                      </a:r>
                    </a:p>
                  </a:txBody>
                  <a:tcPr marL="133350" marR="133350" marT="114300" marB="114300" anchor="t">
                    <a:lnR w="7144">
                      <a:solidFill>
                        <a:srgbClr val="CBD8DB"/>
                      </a:solidFill>
                      <a:prstDash val="solid"/>
                    </a:lnR>
                    <a:lnB w="7144">
                      <a:solidFill>
                        <a:srgbClr val="CBD8D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exercise-ids">
            <a:extLst xmlns:a="http://schemas.openxmlformats.org/drawingml/2006/main">
              <a:ext uri="{FF2B5EF4-FFF2-40B4-BE49-F238E27FC236}">
                <a16:creationId xmlns:a16="http://schemas.microsoft.com/office/drawing/2014/main" id="{1F657145-1A2F-4C19-8388-2119B424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1055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86B7A"/>
                </a:solidFill>
                <a:latin typeface="PingFang SC"/>
                <a:ea typeface="PingFang SC"/>
                <a:cs typeface="PingFang SC"/>
              </a:rPr>
              <a:t>配套练习：S65、S67、S66、S71、S72、S80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E7B0D6CD-C1C5-4E0E-B634-0B92EA15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505575"/>
            <a:ext cx="10477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defPPr>
            <a:lvl1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1pPr>
            <a:lvl2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2pPr>
            <a:lvl3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3pPr>
            <a:lvl4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4pPr>
            <a:lvl5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5pPr>
            <a:lvl6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6pPr>
            <a:lvl7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7pPr>
            <a:lvl8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8pPr>
            <a:lvl9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587078"/>
                </a:solidFill>
                <a:latin typeface="Menlo"/>
                <a:ea typeface="Menlo"/>
                <a:cs typeface="Menlo"/>
              </a:rPr>
              <a:t>74 / 74</a:t>
            </a:r>
          </a:p>
        </p:txBody>
      </p:sp>
      <p:sp>
        <p:nvSpPr>
          <p:cNvPr id="5" name="section-footer">
            <a:extLst xmlns:a="http://schemas.openxmlformats.org/drawingml/2006/main">
              <a:ext uri="{FF2B5EF4-FFF2-40B4-BE49-F238E27FC236}">
                <a16:creationId xmlns:a16="http://schemas.microsoft.com/office/drawing/2014/main" id="{0497A1C0-6FC1-439E-AB6A-D5FFB192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05575"/>
            <a:ext cx="923925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87078"/>
                </a:solidFill>
                <a:latin typeface="PingFang SC"/>
                <a:ea typeface="PingFang SC"/>
                <a:cs typeface="PingFang SC"/>
              </a:rPr>
              <a:t>1.11 结构体、枚举与记录集合</a:t>
            </a:r>
          </a:p>
        </p:txBody>
      </p:sp>
    </p:spTree>
    <p:extLst>
      <p:ext uri="{BB962C8B-B14F-4D97-AF65-F5344CB8AC3E}">
        <p14:creationId xmlns:p14="http://schemas.microsoft.com/office/powerpoint/2010/main" val="17300447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2026-10-31T09:14:20.3930000Z</dcterms:created>
  <dcterms:modified xsi:type="dcterms:W3CDTF">2026-10-31T09:14:20.3940000Z</dcterms:modified>
</coreProperties>
</file>