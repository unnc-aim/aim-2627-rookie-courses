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0e2ed8dcca468a" /><Relationship Type="http://schemas.openxmlformats.org/officeDocument/2006/relationships/extended-properties" Target="/docProps/app.xml" Id="R844cc82b51154022" /><Relationship Type="http://schemas.openxmlformats.org/officeDocument/2006/relationships/officeDocument" Target="/ppt/presentation.xml" Id="R59c8c360cca54e08" /></Relationships>
</file>

<file path=ppt/presentation.xml><?xml version="1.0" encoding="utf-8"?>
<p:presentation xmlns:p="http://schemas.openxmlformats.org/presentationml/2006/main">
  <p:sldMasterIdLst>
    <p:sldMasterId xmlns:r="http://schemas.openxmlformats.org/officeDocument/2006/relationships" id="2147483648" r:id="R877913e37a554c45"/>
  </p:sldMasterIdLst>
  <p:notesMasterIdLst>
    <p:notesMasterId xmlns:r="http://schemas.openxmlformats.org/officeDocument/2006/relationships" r:id="R816424a2082b434d"/>
  </p:notesMasterIdLst>
  <p:sldIdLst>
    <p:sldId xmlns:r="http://schemas.openxmlformats.org/officeDocument/2006/relationships" id="256" r:id="R3d0f8fff8aa445d5"/>
    <p:sldId xmlns:r="http://schemas.openxmlformats.org/officeDocument/2006/relationships" id="257" r:id="R51d6ab6d6b0c491e"/>
    <p:sldId xmlns:r="http://schemas.openxmlformats.org/officeDocument/2006/relationships" id="258" r:id="R0d2e4f139e62468c"/>
    <p:sldId xmlns:r="http://schemas.openxmlformats.org/officeDocument/2006/relationships" id="259" r:id="R343d69fb8a694c41"/>
    <p:sldId xmlns:r="http://schemas.openxmlformats.org/officeDocument/2006/relationships" id="260" r:id="R72f76121685a4b57"/>
    <p:sldId xmlns:r="http://schemas.openxmlformats.org/officeDocument/2006/relationships" id="261" r:id="R0e16bf0c079a4f25"/>
    <p:sldId xmlns:r="http://schemas.openxmlformats.org/officeDocument/2006/relationships" id="262" r:id="Rd018b0083b4c4d31"/>
    <p:sldId xmlns:r="http://schemas.openxmlformats.org/officeDocument/2006/relationships" id="263" r:id="R4b214c6247f84745"/>
    <p:sldId xmlns:r="http://schemas.openxmlformats.org/officeDocument/2006/relationships" id="264" r:id="R83a7f14e5b384351"/>
    <p:sldId xmlns:r="http://schemas.openxmlformats.org/officeDocument/2006/relationships" id="265" r:id="R9deeedb4ff9042c3"/>
    <p:sldId xmlns:r="http://schemas.openxmlformats.org/officeDocument/2006/relationships" id="266" r:id="R554908530d144dc7"/>
    <p:sldId xmlns:r="http://schemas.openxmlformats.org/officeDocument/2006/relationships" id="267" r:id="Rb7a78c1350c24e68"/>
    <p:sldId xmlns:r="http://schemas.openxmlformats.org/officeDocument/2006/relationships" id="268" r:id="R175a42f0fdd94596"/>
    <p:sldId xmlns:r="http://schemas.openxmlformats.org/officeDocument/2006/relationships" id="269" r:id="Rebcd2f2120ff4400"/>
    <p:sldId xmlns:r="http://schemas.openxmlformats.org/officeDocument/2006/relationships" id="270" r:id="R33ac936d38eb4031"/>
    <p:sldId xmlns:r="http://schemas.openxmlformats.org/officeDocument/2006/relationships" id="271" r:id="Rd8b16f3d64de42bc"/>
    <p:sldId xmlns:r="http://schemas.openxmlformats.org/officeDocument/2006/relationships" id="272" r:id="R81560aac3ab546fa"/>
    <p:sldId xmlns:r="http://schemas.openxmlformats.org/officeDocument/2006/relationships" id="273" r:id="Red52cc92ea9746e4"/>
    <p:sldId xmlns:r="http://schemas.openxmlformats.org/officeDocument/2006/relationships" id="274" r:id="R0c822be7951348b0"/>
    <p:sldId xmlns:r="http://schemas.openxmlformats.org/officeDocument/2006/relationships" id="275" r:id="Rdd4ac6f992f44d92"/>
    <p:sldId xmlns:r="http://schemas.openxmlformats.org/officeDocument/2006/relationships" id="276" r:id="Rfd62344e229c47fe"/>
    <p:sldId xmlns:r="http://schemas.openxmlformats.org/officeDocument/2006/relationships" id="277" r:id="R14abfc7a27474ab4"/>
    <p:sldId xmlns:r="http://schemas.openxmlformats.org/officeDocument/2006/relationships" id="278" r:id="R72f9e66cd6514a04"/>
    <p:sldId xmlns:r="http://schemas.openxmlformats.org/officeDocument/2006/relationships" id="279" r:id="Rc9fc203a254942ff"/>
    <p:sldId xmlns:r="http://schemas.openxmlformats.org/officeDocument/2006/relationships" id="280" r:id="R0cf8f4ef60804be7"/>
    <p:sldId xmlns:r="http://schemas.openxmlformats.org/officeDocument/2006/relationships" id="281" r:id="Rebbbdd36d498449b"/>
    <p:sldId xmlns:r="http://schemas.openxmlformats.org/officeDocument/2006/relationships" id="282" r:id="Rc8b1ff47211a4984"/>
    <p:sldId xmlns:r="http://schemas.openxmlformats.org/officeDocument/2006/relationships" id="283" r:id="R3ddc70ea54694922"/>
    <p:sldId xmlns:r="http://schemas.openxmlformats.org/officeDocument/2006/relationships" id="284" r:id="Ra80bda57ce594489"/>
    <p:sldId xmlns:r="http://schemas.openxmlformats.org/officeDocument/2006/relationships" id="285" r:id="R7cbc838afa7d461e"/>
    <p:sldId xmlns:r="http://schemas.openxmlformats.org/officeDocument/2006/relationships" id="286" r:id="Rc57980b7f66c422c"/>
    <p:sldId xmlns:r="http://schemas.openxmlformats.org/officeDocument/2006/relationships" id="287" r:id="R4d8f1adaaa5e426a"/>
    <p:sldId xmlns:r="http://schemas.openxmlformats.org/officeDocument/2006/relationships" id="288" r:id="R52198dac55814ff0"/>
    <p:sldId xmlns:r="http://schemas.openxmlformats.org/officeDocument/2006/relationships" id="289" r:id="Ra28baac2253e4b64"/>
    <p:sldId xmlns:r="http://schemas.openxmlformats.org/officeDocument/2006/relationships" id="290" r:id="R02117ca1797e4b4c"/>
    <p:sldId xmlns:r="http://schemas.openxmlformats.org/officeDocument/2006/relationships" id="291" r:id="R8611fbb0e9a1433d"/>
    <p:sldId xmlns:r="http://schemas.openxmlformats.org/officeDocument/2006/relationships" id="292" r:id="Rc1e49e1e0d7f48a6"/>
    <p:sldId xmlns:r="http://schemas.openxmlformats.org/officeDocument/2006/relationships" id="293" r:id="R8e69486fe5ba452c"/>
    <p:sldId xmlns:r="http://schemas.openxmlformats.org/officeDocument/2006/relationships" id="294" r:id="Reb6c05b7e1c04c6d"/>
    <p:sldId xmlns:r="http://schemas.openxmlformats.org/officeDocument/2006/relationships" id="295" r:id="Rccb211fcbf884f9e"/>
    <p:sldId xmlns:r="http://schemas.openxmlformats.org/officeDocument/2006/relationships" id="296" r:id="Rbbcce0f41b7d45e3"/>
    <p:sldId xmlns:r="http://schemas.openxmlformats.org/officeDocument/2006/relationships" id="297" r:id="R59767cb2021f4218"/>
    <p:sldId xmlns:r="http://schemas.openxmlformats.org/officeDocument/2006/relationships" id="298" r:id="R1a1fcb5177dd4200"/>
    <p:sldId xmlns:r="http://schemas.openxmlformats.org/officeDocument/2006/relationships" id="299" r:id="R9029de7d89de45cf"/>
    <p:sldId xmlns:r="http://schemas.openxmlformats.org/officeDocument/2006/relationships" id="300" r:id="R85cc4b1580644125"/>
    <p:sldId xmlns:r="http://schemas.openxmlformats.org/officeDocument/2006/relationships" id="301" r:id="R805fb704b35c4400"/>
    <p:sldId xmlns:r="http://schemas.openxmlformats.org/officeDocument/2006/relationships" id="302" r:id="Rf6157896ea4f4b6f"/>
    <p:sldId xmlns:r="http://schemas.openxmlformats.org/officeDocument/2006/relationships" id="303" r:id="Re6f93e8d20aa4203"/>
    <p:sldId xmlns:r="http://schemas.openxmlformats.org/officeDocument/2006/relationships" id="304" r:id="R5bec6b8060e345fb"/>
    <p:sldId xmlns:r="http://schemas.openxmlformats.org/officeDocument/2006/relationships" id="305" r:id="Ref2dfbc58cf844a4"/>
    <p:sldId xmlns:r="http://schemas.openxmlformats.org/officeDocument/2006/relationships" id="306" r:id="R4ab9ba1c15c24bda"/>
    <p:sldId xmlns:r="http://schemas.openxmlformats.org/officeDocument/2006/relationships" id="307" r:id="R1232c2674c2242b4"/>
    <p:sldId xmlns:r="http://schemas.openxmlformats.org/officeDocument/2006/relationships" id="308" r:id="R38d2baee992847f1"/>
    <p:sldId xmlns:r="http://schemas.openxmlformats.org/officeDocument/2006/relationships" id="309" r:id="R434c83fbaf1d4719"/>
    <p:sldId xmlns:r="http://schemas.openxmlformats.org/officeDocument/2006/relationships" id="310" r:id="Rec959f08ddcc476a"/>
    <p:sldId xmlns:r="http://schemas.openxmlformats.org/officeDocument/2006/relationships" id="311" r:id="R22e07fe0ff1349ce"/>
    <p:sldId xmlns:r="http://schemas.openxmlformats.org/officeDocument/2006/relationships" id="312" r:id="Rbf8041cb2ef84109"/>
    <p:sldId xmlns:r="http://schemas.openxmlformats.org/officeDocument/2006/relationships" id="313" r:id="Rbf2812fab3564481"/>
    <p:sldId xmlns:r="http://schemas.openxmlformats.org/officeDocument/2006/relationships" id="314" r:id="Rbce4cf46f37547ef"/>
    <p:sldId xmlns:r="http://schemas.openxmlformats.org/officeDocument/2006/relationships" id="315" r:id="Rd1ecf367bf3f4d9a"/>
    <p:sldId xmlns:r="http://schemas.openxmlformats.org/officeDocument/2006/relationships" id="316" r:id="R9553ef5a6b9b4234"/>
    <p:sldId xmlns:r="http://schemas.openxmlformats.org/officeDocument/2006/relationships" id="317" r:id="Ree68106d054f4f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48a105ffdf403b" /><Relationship Type="http://schemas.openxmlformats.org/officeDocument/2006/relationships/slideMaster" Target="/ppt/slideMasters/slideMaster1.xml" Id="R877913e37a554c45" /><Relationship Type="http://schemas.openxmlformats.org/officeDocument/2006/relationships/notesMaster" Target="/ppt/notesMasters/notesMaster1.xml" Id="R816424a2082b434d" /><Relationship Type="http://schemas.openxmlformats.org/officeDocument/2006/relationships/presProps" Target="/ppt/presProps.xml" Id="Rbe597947ade546e0" /><Relationship Type="http://schemas.openxmlformats.org/officeDocument/2006/relationships/tableStyles" Target="/ppt/tableStyles.xml" Id="R3fa5dcd6592f421a" /><Relationship Type="http://schemas.openxmlformats.org/officeDocument/2006/relationships/slide" Target="/ppt/slides/slide1.xml" Id="R3d0f8fff8aa445d5" /><Relationship Type="http://schemas.openxmlformats.org/officeDocument/2006/relationships/slide" Target="/ppt/slides/slide2.xml" Id="R51d6ab6d6b0c491e" /><Relationship Type="http://schemas.openxmlformats.org/officeDocument/2006/relationships/slide" Target="/ppt/slides/slide3.xml" Id="R0d2e4f139e62468c" /><Relationship Type="http://schemas.openxmlformats.org/officeDocument/2006/relationships/slide" Target="/ppt/slides/slide4.xml" Id="R343d69fb8a694c41" /><Relationship Type="http://schemas.openxmlformats.org/officeDocument/2006/relationships/slide" Target="/ppt/slides/slide5.xml" Id="R72f76121685a4b57" /><Relationship Type="http://schemas.openxmlformats.org/officeDocument/2006/relationships/slide" Target="/ppt/slides/slide6.xml" Id="R0e16bf0c079a4f25" /><Relationship Type="http://schemas.openxmlformats.org/officeDocument/2006/relationships/slide" Target="/ppt/slides/slide7.xml" Id="Rd018b0083b4c4d31" /><Relationship Type="http://schemas.openxmlformats.org/officeDocument/2006/relationships/slide" Target="/ppt/slides/slide8.xml" Id="R4b214c6247f84745" /><Relationship Type="http://schemas.openxmlformats.org/officeDocument/2006/relationships/slide" Target="/ppt/slides/slide9.xml" Id="R83a7f14e5b384351" /><Relationship Type="http://schemas.openxmlformats.org/officeDocument/2006/relationships/slide" Target="/ppt/slides/slide10.xml" Id="R9deeedb4ff9042c3" /><Relationship Type="http://schemas.openxmlformats.org/officeDocument/2006/relationships/slide" Target="/ppt/slides/slide11.xml" Id="R554908530d144dc7" /><Relationship Type="http://schemas.openxmlformats.org/officeDocument/2006/relationships/slide" Target="/ppt/slides/slide12.xml" Id="Rb7a78c1350c24e68" /><Relationship Type="http://schemas.openxmlformats.org/officeDocument/2006/relationships/slide" Target="/ppt/slides/slide13.xml" Id="R175a42f0fdd94596" /><Relationship Type="http://schemas.openxmlformats.org/officeDocument/2006/relationships/slide" Target="/ppt/slides/slide14.xml" Id="Rebcd2f2120ff4400" /><Relationship Type="http://schemas.openxmlformats.org/officeDocument/2006/relationships/slide" Target="/ppt/slides/slide15.xml" Id="R33ac936d38eb4031" /><Relationship Type="http://schemas.openxmlformats.org/officeDocument/2006/relationships/slide" Target="/ppt/slides/slide16.xml" Id="Rd8b16f3d64de42bc" /><Relationship Type="http://schemas.openxmlformats.org/officeDocument/2006/relationships/slide" Target="/ppt/slides/slide17.xml" Id="R81560aac3ab546fa" /><Relationship Type="http://schemas.openxmlformats.org/officeDocument/2006/relationships/slide" Target="/ppt/slides/slide18.xml" Id="Red52cc92ea9746e4" /><Relationship Type="http://schemas.openxmlformats.org/officeDocument/2006/relationships/slide" Target="/ppt/slides/slide19.xml" Id="R0c822be7951348b0" /><Relationship Type="http://schemas.openxmlformats.org/officeDocument/2006/relationships/slide" Target="/ppt/slides/slide20.xml" Id="Rdd4ac6f992f44d92" /><Relationship Type="http://schemas.openxmlformats.org/officeDocument/2006/relationships/slide" Target="/ppt/slides/slide21.xml" Id="Rfd62344e229c47fe" /><Relationship Type="http://schemas.openxmlformats.org/officeDocument/2006/relationships/slide" Target="/ppt/slides/slide22.xml" Id="R14abfc7a27474ab4" /><Relationship Type="http://schemas.openxmlformats.org/officeDocument/2006/relationships/slide" Target="/ppt/slides/slide23.xml" Id="R72f9e66cd6514a04" /><Relationship Type="http://schemas.openxmlformats.org/officeDocument/2006/relationships/slide" Target="/ppt/slides/slide24.xml" Id="Rc9fc203a254942ff" /><Relationship Type="http://schemas.openxmlformats.org/officeDocument/2006/relationships/slide" Target="/ppt/slides/slide25.xml" Id="R0cf8f4ef60804be7" /><Relationship Type="http://schemas.openxmlformats.org/officeDocument/2006/relationships/slide" Target="/ppt/slides/slide26.xml" Id="Rebbbdd36d498449b" /><Relationship Type="http://schemas.openxmlformats.org/officeDocument/2006/relationships/slide" Target="/ppt/slides/slide27.xml" Id="Rc8b1ff47211a4984" /><Relationship Type="http://schemas.openxmlformats.org/officeDocument/2006/relationships/slide" Target="/ppt/slides/slide28.xml" Id="R3ddc70ea54694922" /><Relationship Type="http://schemas.openxmlformats.org/officeDocument/2006/relationships/slide" Target="/ppt/slides/slide29.xml" Id="Ra80bda57ce594489" /><Relationship Type="http://schemas.openxmlformats.org/officeDocument/2006/relationships/slide" Target="/ppt/slides/slide30.xml" Id="R7cbc838afa7d461e" /><Relationship Type="http://schemas.openxmlformats.org/officeDocument/2006/relationships/slide" Target="/ppt/slides/slide31.xml" Id="Rc57980b7f66c422c" /><Relationship Type="http://schemas.openxmlformats.org/officeDocument/2006/relationships/slide" Target="/ppt/slides/slide32.xml" Id="R4d8f1adaaa5e426a" /><Relationship Type="http://schemas.openxmlformats.org/officeDocument/2006/relationships/slide" Target="/ppt/slides/slide33.xml" Id="R52198dac55814ff0" /><Relationship Type="http://schemas.openxmlformats.org/officeDocument/2006/relationships/slide" Target="/ppt/slides/slide34.xml" Id="Ra28baac2253e4b64" /><Relationship Type="http://schemas.openxmlformats.org/officeDocument/2006/relationships/slide" Target="/ppt/slides/slide35.xml" Id="R02117ca1797e4b4c" /><Relationship Type="http://schemas.openxmlformats.org/officeDocument/2006/relationships/slide" Target="/ppt/slides/slide36.xml" Id="R8611fbb0e9a1433d" /><Relationship Type="http://schemas.openxmlformats.org/officeDocument/2006/relationships/slide" Target="/ppt/slides/slide37.xml" Id="Rc1e49e1e0d7f48a6" /><Relationship Type="http://schemas.openxmlformats.org/officeDocument/2006/relationships/slide" Target="/ppt/slides/slide38.xml" Id="R8e69486fe5ba452c" /><Relationship Type="http://schemas.openxmlformats.org/officeDocument/2006/relationships/slide" Target="/ppt/slides/slide39.xml" Id="Reb6c05b7e1c04c6d" /><Relationship Type="http://schemas.openxmlformats.org/officeDocument/2006/relationships/slide" Target="/ppt/slides/slide40.xml" Id="Rccb211fcbf884f9e" /><Relationship Type="http://schemas.openxmlformats.org/officeDocument/2006/relationships/slide" Target="/ppt/slides/slide41.xml" Id="Rbbcce0f41b7d45e3" /><Relationship Type="http://schemas.openxmlformats.org/officeDocument/2006/relationships/slide" Target="/ppt/slides/slide42.xml" Id="R59767cb2021f4218" /><Relationship Type="http://schemas.openxmlformats.org/officeDocument/2006/relationships/slide" Target="/ppt/slides/slide43.xml" Id="R1a1fcb5177dd4200" /><Relationship Type="http://schemas.openxmlformats.org/officeDocument/2006/relationships/slide" Target="/ppt/slides/slide44.xml" Id="R9029de7d89de45cf" /><Relationship Type="http://schemas.openxmlformats.org/officeDocument/2006/relationships/slide" Target="/ppt/slides/slide45.xml" Id="R85cc4b1580644125" /><Relationship Type="http://schemas.openxmlformats.org/officeDocument/2006/relationships/slide" Target="/ppt/slides/slide46.xml" Id="R805fb704b35c4400" /><Relationship Type="http://schemas.openxmlformats.org/officeDocument/2006/relationships/slide" Target="/ppt/slides/slide47.xml" Id="Rf6157896ea4f4b6f" /><Relationship Type="http://schemas.openxmlformats.org/officeDocument/2006/relationships/slide" Target="/ppt/slides/slide48.xml" Id="Re6f93e8d20aa4203" /><Relationship Type="http://schemas.openxmlformats.org/officeDocument/2006/relationships/slide" Target="/ppt/slides/slide49.xml" Id="R5bec6b8060e345fb" /><Relationship Type="http://schemas.openxmlformats.org/officeDocument/2006/relationships/slide" Target="/ppt/slides/slide50.xml" Id="Ref2dfbc58cf844a4" /><Relationship Type="http://schemas.openxmlformats.org/officeDocument/2006/relationships/slide" Target="/ppt/slides/slide51.xml" Id="R4ab9ba1c15c24bda" /><Relationship Type="http://schemas.openxmlformats.org/officeDocument/2006/relationships/slide" Target="/ppt/slides/slide52.xml" Id="R1232c2674c2242b4" /><Relationship Type="http://schemas.openxmlformats.org/officeDocument/2006/relationships/slide" Target="/ppt/slides/slide53.xml" Id="R38d2baee992847f1" /><Relationship Type="http://schemas.openxmlformats.org/officeDocument/2006/relationships/slide" Target="/ppt/slides/slide54.xml" Id="R434c83fbaf1d4719" /><Relationship Type="http://schemas.openxmlformats.org/officeDocument/2006/relationships/slide" Target="/ppt/slides/slide55.xml" Id="Rec959f08ddcc476a" /><Relationship Type="http://schemas.openxmlformats.org/officeDocument/2006/relationships/slide" Target="/ppt/slides/slide56.xml" Id="R22e07fe0ff1349ce" /><Relationship Type="http://schemas.openxmlformats.org/officeDocument/2006/relationships/slide" Target="/ppt/slides/slide57.xml" Id="Rbf8041cb2ef84109" /><Relationship Type="http://schemas.openxmlformats.org/officeDocument/2006/relationships/slide" Target="/ppt/slides/slide58.xml" Id="Rbf2812fab3564481" /><Relationship Type="http://schemas.openxmlformats.org/officeDocument/2006/relationships/slide" Target="/ppt/slides/slide59.xml" Id="Rbce4cf46f37547ef" /><Relationship Type="http://schemas.openxmlformats.org/officeDocument/2006/relationships/slide" Target="/ppt/slides/slide60.xml" Id="Rd1ecf367bf3f4d9a" /><Relationship Type="http://schemas.openxmlformats.org/officeDocument/2006/relationships/slide" Target="/ppt/slides/slide61.xml" Id="R9553ef5a6b9b4234" /><Relationship Type="http://schemas.openxmlformats.org/officeDocument/2006/relationships/slide" Target="/ppt/slides/slide62.xml" Id="Ree68106d054f4f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e7822fd73a4c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7a8b596bb942f9" /><Relationship Type="http://schemas.openxmlformats.org/officeDocument/2006/relationships/notesMaster" Target="/ppt/notesMasters/notesMaster1.xml" Id="R6c5aad1fefa34a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762292d37f46ed" /><Relationship Type="http://schemas.openxmlformats.org/officeDocument/2006/relationships/notesMaster" Target="/ppt/notesMasters/notesMaster1.xml" Id="R48a94d80826749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5ea147c0d44357" /><Relationship Type="http://schemas.openxmlformats.org/officeDocument/2006/relationships/notesMaster" Target="/ppt/notesMasters/notesMaster1.xml" Id="Rc9ef840f786442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ec07160abf43f0" /><Relationship Type="http://schemas.openxmlformats.org/officeDocument/2006/relationships/notesMaster" Target="/ppt/notesMasters/notesMaster1.xml" Id="Rfdd721309b4c4f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cdd717348341e7" /><Relationship Type="http://schemas.openxmlformats.org/officeDocument/2006/relationships/notesMaster" Target="/ppt/notesMasters/notesMaster1.xml" Id="R284d75cbe13d49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008214d88348ce" /><Relationship Type="http://schemas.openxmlformats.org/officeDocument/2006/relationships/notesMaster" Target="/ppt/notesMasters/notesMaster1.xml" Id="Rcce6f5b5ef1e45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e27d056a464ad5" /><Relationship Type="http://schemas.openxmlformats.org/officeDocument/2006/relationships/notesMaster" Target="/ppt/notesMasters/notesMaster1.xml" Id="R152a2789cb094d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9d24cc7c444f7d" /><Relationship Type="http://schemas.openxmlformats.org/officeDocument/2006/relationships/notesMaster" Target="/ppt/notesMasters/notesMaster1.xml" Id="R1a931376a5e941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c4f080ffb247e6" /><Relationship Type="http://schemas.openxmlformats.org/officeDocument/2006/relationships/notesMaster" Target="/ppt/notesMasters/notesMaster1.xml" Id="R4fb4fc624f744d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ba7dfb4ff84f09" /><Relationship Type="http://schemas.openxmlformats.org/officeDocument/2006/relationships/notesMaster" Target="/ppt/notesMasters/notesMaster1.xml" Id="R3ba1d64d756e44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4b825031ed4000" /><Relationship Type="http://schemas.openxmlformats.org/officeDocument/2006/relationships/notesMaster" Target="/ppt/notesMasters/notesMaster1.xml" Id="R31c12b1a75ab4a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847e585a044546" /><Relationship Type="http://schemas.openxmlformats.org/officeDocument/2006/relationships/notesMaster" Target="/ppt/notesMasters/notesMaster1.xml" Id="R5d1d8953ca354c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e38344c5334240" /><Relationship Type="http://schemas.openxmlformats.org/officeDocument/2006/relationships/notesMaster" Target="/ppt/notesMasters/notesMaster1.xml" Id="Ra310f1bbb50444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39b4450dd54f14" /><Relationship Type="http://schemas.openxmlformats.org/officeDocument/2006/relationships/notesMaster" Target="/ppt/notesMasters/notesMaster1.xml" Id="R3d1f3d22c06143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d2b433aa5e4261" /><Relationship Type="http://schemas.openxmlformats.org/officeDocument/2006/relationships/notesMaster" Target="/ppt/notesMasters/notesMaster1.xml" Id="R19e8d9c54b7e411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c06c6f1576481a" /><Relationship Type="http://schemas.openxmlformats.org/officeDocument/2006/relationships/notesMaster" Target="/ppt/notesMasters/notesMaster1.xml" Id="R7738b48afaab40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fdc1ba9e06347e6" /><Relationship Type="http://schemas.openxmlformats.org/officeDocument/2006/relationships/notesMaster" Target="/ppt/notesMasters/notesMaster1.xml" Id="Rafd3ff92f0d94c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37d5916c9445f5" /><Relationship Type="http://schemas.openxmlformats.org/officeDocument/2006/relationships/notesMaster" Target="/ppt/notesMasters/notesMaster1.xml" Id="R1dea29811eb54e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6a82bd8f37c426c" /><Relationship Type="http://schemas.openxmlformats.org/officeDocument/2006/relationships/notesMaster" Target="/ppt/notesMasters/notesMaster1.xml" Id="R16fde6dd3c3b443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9bb02bc5224bde" /><Relationship Type="http://schemas.openxmlformats.org/officeDocument/2006/relationships/notesMaster" Target="/ppt/notesMasters/notesMaster1.xml" Id="R18171c0839a2495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c47289843ff45d9" /><Relationship Type="http://schemas.openxmlformats.org/officeDocument/2006/relationships/notesMaster" Target="/ppt/notesMasters/notesMaster1.xml" Id="R74bb06db54a646a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d31c096d0847ab" /><Relationship Type="http://schemas.openxmlformats.org/officeDocument/2006/relationships/notesMaster" Target="/ppt/notesMasters/notesMaster1.xml" Id="Rdace9881ef794e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d176a00ad14b41" /><Relationship Type="http://schemas.openxmlformats.org/officeDocument/2006/relationships/notesMaster" Target="/ppt/notesMasters/notesMaster1.xml" Id="R86307c5c4ab743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2ebd45356da463e" /><Relationship Type="http://schemas.openxmlformats.org/officeDocument/2006/relationships/notesMaster" Target="/ppt/notesMasters/notesMaster1.xml" Id="Rebd1aeeaaeb44c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647b06efd01400e" /><Relationship Type="http://schemas.openxmlformats.org/officeDocument/2006/relationships/notesMaster" Target="/ppt/notesMasters/notesMaster1.xml" Id="R7518c2089723416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adad4f76a24cab" /><Relationship Type="http://schemas.openxmlformats.org/officeDocument/2006/relationships/notesMaster" Target="/ppt/notesMasters/notesMaster1.xml" Id="Re417637562a44b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b25af4107284212" /><Relationship Type="http://schemas.openxmlformats.org/officeDocument/2006/relationships/notesMaster" Target="/ppt/notesMasters/notesMaster1.xml" Id="R846824d4729d4cb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01ac2981efb4189" /><Relationship Type="http://schemas.openxmlformats.org/officeDocument/2006/relationships/notesMaster" Target="/ppt/notesMasters/notesMaster1.xml" Id="Rf7d7235d5ed048c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4966476e8e14edf" /><Relationship Type="http://schemas.openxmlformats.org/officeDocument/2006/relationships/notesMaster" Target="/ppt/notesMasters/notesMaster1.xml" Id="R83eb168cb3f54a8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2c35a816446413c" /><Relationship Type="http://schemas.openxmlformats.org/officeDocument/2006/relationships/notesMaster" Target="/ppt/notesMasters/notesMaster1.xml" Id="Rda83f844d359464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f5b78d315748c0" /><Relationship Type="http://schemas.openxmlformats.org/officeDocument/2006/relationships/notesMaster" Target="/ppt/notesMasters/notesMaster1.xml" Id="Rbeab68ae48044fa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aa34a7a270437f" /><Relationship Type="http://schemas.openxmlformats.org/officeDocument/2006/relationships/notesMaster" Target="/ppt/notesMasters/notesMaster1.xml" Id="R502fa9a495c7413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995a47380f6445b" /><Relationship Type="http://schemas.openxmlformats.org/officeDocument/2006/relationships/notesMaster" Target="/ppt/notesMasters/notesMaster1.xml" Id="Ra8ab3ccd6943474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fad1b5682794372" /><Relationship Type="http://schemas.openxmlformats.org/officeDocument/2006/relationships/notesMaster" Target="/ppt/notesMasters/notesMaster1.xml" Id="R5af856eec3d5401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0cd19bd2b714839" /><Relationship Type="http://schemas.openxmlformats.org/officeDocument/2006/relationships/notesMaster" Target="/ppt/notesMasters/notesMaster1.xml" Id="Rf7e13a23eded4b7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ed4982757ee4d6a" /><Relationship Type="http://schemas.openxmlformats.org/officeDocument/2006/relationships/notesMaster" Target="/ppt/notesMasters/notesMaster1.xml" Id="R465fb0e962d24c1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4835c1241694eda" /><Relationship Type="http://schemas.openxmlformats.org/officeDocument/2006/relationships/notesMaster" Target="/ppt/notesMasters/notesMaster1.xml" Id="R7fd0715664b346b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f1ddff466304db6" /><Relationship Type="http://schemas.openxmlformats.org/officeDocument/2006/relationships/notesMaster" Target="/ppt/notesMasters/notesMaster1.xml" Id="R1a23fc0d063b429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9f912a745a848bf" /><Relationship Type="http://schemas.openxmlformats.org/officeDocument/2006/relationships/notesMaster" Target="/ppt/notesMasters/notesMaster1.xml" Id="R7d7e36dad5b242a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303a35cb231489d" /><Relationship Type="http://schemas.openxmlformats.org/officeDocument/2006/relationships/notesMaster" Target="/ppt/notesMasters/notesMaster1.xml" Id="Ref7c110e3bbe411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ebdfa22c5124618" /><Relationship Type="http://schemas.openxmlformats.org/officeDocument/2006/relationships/notesMaster" Target="/ppt/notesMasters/notesMaster1.xml" Id="R690e449999e0496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cbb4d1dd0b54371" /><Relationship Type="http://schemas.openxmlformats.org/officeDocument/2006/relationships/notesMaster" Target="/ppt/notesMasters/notesMaster1.xml" Id="Rc7aa3bc94c51459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6755bfb19e34f46" /><Relationship Type="http://schemas.openxmlformats.org/officeDocument/2006/relationships/notesMaster" Target="/ppt/notesMasters/notesMaster1.xml" Id="R518704c1f26045a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c9758f59b9c4911" /><Relationship Type="http://schemas.openxmlformats.org/officeDocument/2006/relationships/notesMaster" Target="/ppt/notesMasters/notesMaster1.xml" Id="Rb5447f163e514eb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b6fa7a4ef264bd0" /><Relationship Type="http://schemas.openxmlformats.org/officeDocument/2006/relationships/notesMaster" Target="/ppt/notesMasters/notesMaster1.xml" Id="R8b51b1464b374d0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ab1f06e5538461c" /><Relationship Type="http://schemas.openxmlformats.org/officeDocument/2006/relationships/notesMaster" Target="/ppt/notesMasters/notesMaster1.xml" Id="Rc869958625bf493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d04a86b8bdd41c8" /><Relationship Type="http://schemas.openxmlformats.org/officeDocument/2006/relationships/notesMaster" Target="/ppt/notesMasters/notesMaster1.xml" Id="R94405942439f419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2c93106d3904cb1" /><Relationship Type="http://schemas.openxmlformats.org/officeDocument/2006/relationships/notesMaster" Target="/ppt/notesMasters/notesMaster1.xml" Id="R209534458c49469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de8fbc091e9469b" /><Relationship Type="http://schemas.openxmlformats.org/officeDocument/2006/relationships/notesMaster" Target="/ppt/notesMasters/notesMaster1.xml" Id="R652c0abc038b437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4655a26c1b04c84" /><Relationship Type="http://schemas.openxmlformats.org/officeDocument/2006/relationships/notesMaster" Target="/ppt/notesMasters/notesMaster1.xml" Id="Rf8635616ffde436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d9efbba10784a2d" /><Relationship Type="http://schemas.openxmlformats.org/officeDocument/2006/relationships/notesMaster" Target="/ppt/notesMasters/notesMaster1.xml" Id="Ra34c22570d8242c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7958ec48cf54db4" /><Relationship Type="http://schemas.openxmlformats.org/officeDocument/2006/relationships/notesMaster" Target="/ppt/notesMasters/notesMaster1.xml" Id="R33e25b448d6e4c3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b6ad2b4f5ad48d7" /><Relationship Type="http://schemas.openxmlformats.org/officeDocument/2006/relationships/notesMaster" Target="/ppt/notesMasters/notesMaster1.xml" Id="Rc5eabf72910347f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23b5889f1ac4268" /><Relationship Type="http://schemas.openxmlformats.org/officeDocument/2006/relationships/notesMaster" Target="/ppt/notesMasters/notesMaster1.xml" Id="R9e69c342478c40b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77da2fefe7548bd" /><Relationship Type="http://schemas.openxmlformats.org/officeDocument/2006/relationships/notesMaster" Target="/ppt/notesMasters/notesMaster1.xml" Id="R85cd1c5dd2494fc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100d937008a4ad2" /><Relationship Type="http://schemas.openxmlformats.org/officeDocument/2006/relationships/notesMaster" Target="/ppt/notesMasters/notesMaster1.xml" Id="R1d9d2b95fcf84d0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3a700256b5d4359" /><Relationship Type="http://schemas.openxmlformats.org/officeDocument/2006/relationships/notesMaster" Target="/ppt/notesMasters/notesMaster1.xml" Id="Rd66c3f2725db4e8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7f10754760f4023" /><Relationship Type="http://schemas.openxmlformats.org/officeDocument/2006/relationships/notesMaster" Target="/ppt/notesMasters/notesMaster1.xml" Id="Rea9fa60abb2043a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a9dd924227d4fc0" /><Relationship Type="http://schemas.openxmlformats.org/officeDocument/2006/relationships/notesMaster" Target="/ppt/notesMasters/notesMaster1.xml" Id="R44d8632029c14de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55038a94d55462b" /><Relationship Type="http://schemas.openxmlformats.org/officeDocument/2006/relationships/notesMaster" Target="/ppt/notesMasters/notesMaster1.xml" Id="Ra55c09d86a0f4d2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105ef466e744614" /><Relationship Type="http://schemas.openxmlformats.org/officeDocument/2006/relationships/notesMaster" Target="/ppt/notesMasters/notesMaster1.xml" Id="R8b1b2bafb67d42c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0d090e2b1cd4746" /><Relationship Type="http://schemas.openxmlformats.org/officeDocument/2006/relationships/notesMaster" Target="/ppt/notesMasters/notesMaster1.xml" Id="R41921d63059e49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who has run Hello World locally. Explain the predict, run, explain, change routine. Examples contains full programs. The screen shows only the current focus.</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 verbal Python solution. Put input, storage, loop, and condition on the board. Revisit them through the lesson.</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first, then point out the header, main, braces, and semicolon. return 0 is an exit status, not printed output. Later snippets omit the unchanged wrapper. Always run the complete file.</a:t>
            </a:r>
          </a:p>
          <a:p xmlns:a="http://schemas.openxmlformats.org/drawingml/2006/main">
            <a:r>
              <a:t>Full demo: CPP-Classroom/示例/L1_C01_D01.cpp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declaration, condition parentheses, braces, and semicolons. Indentation still helps readability but does not define C++ blocks. Connect the wrapper to program structure.</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score from 85 to 90. Attempt to print bonus outside the block. Distinguish name scope from object lifetime, which end together for this simple local variable.</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Wait at least ten seconds, then remove the semicolon in the full demo. Compilation fails, so this source version does not run. Read the first diagnostic and repair it before running again.</a:t>
            </a:r>
          </a:p>
          <a:p xmlns:a="http://schemas.openxmlformats.org/drawingml/2006/main">
            <a:r>
              <a:t>Full demo: CPP-Classroom/示例/L1_C01_D01.cpp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a missing semicolon reported on the following line. The reported location is where the compiler notices the problem. Have a student read one diagnostic.</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namespaces as a way to distinguish names. Use std:: in class and show using for recognition. Use the demo for name conflicts without adding a header-splitting detour.</a:t>
            </a:r>
          </a:p>
          <a:p xmlns:a="http://schemas.openxmlformats.org/drawingml/2006/main">
            <a:r>
              <a:t>Full demo: CPP-Classroom/示例/L1_C02_D01.cpp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Elicit score=85. Quotes are not printed and variables contribute their values. Mention that endl also flushes the stream. Use \n for ordinary newlines.</a:t>
            </a:r>
          </a:p>
          <a:p xmlns:a="http://schemas.openxmlformats.org/drawingml/2006/main">
            <a:r>
              <a:t>Full demo: CPP-Classroom/示例/L1_C02_D02.cpp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each type can represent. string requires the string header. Contrast single quotes for char with double quotes for strings. bool prints 0 or 1 by default. boolalpha prints true or false.</a:t>
            </a:r>
          </a:p>
          <a:p xmlns:a="http://schemas.openxmlformats.org/drawingml/2006/main">
            <a:r>
              <a:t>Full demo: CPP-Classroom/示例/L1_C03_D02.cpp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truncated is 3. Compare initialization and assignment. An explicit conversion expresses intent but can still lose information. Test -3.5 to observe truncation toward zero.</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Common systems use 4-byte int and 8-byte double, but the language does not guarantee those sizes. Signed overflow cannot be assumed to wrap. Introduce numeric_limits as a reference.</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8 4 and observe 4. Separate lines also give 4. Whitespace separates these integers. Try 8,4 and explain that a comma is not automatically accepted as a separator.</a:t>
            </a:r>
          </a:p>
          <a:p xmlns:a="http://schemas.openxmlformats.org/drawingml/2006/main">
            <a:r>
              <a:t>Full demo: CPP-Classroom/示例/L1_C03_D01.cpp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two-token example, then use std::getline(std::cin,line). Mixing extraction and getline can leave a newline pending. std::ws can help when leading whitespace should be skipped.</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inside main. Elicit the plain-language meaning: exit if reading an integer fails. Revisit if and ! later. Do not treat score as a valid result after failure.</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the Hello World wrapper with iostream and string. Check extraction order and quotes. After two minutes, ask a student to explain the types, then run their solution. Keep the answer off screen.</a:t>
            </a:r>
          </a:p>
          <a:p xmlns:a="http://schemas.openxmlformats.org/drawingml/2006/main">
            <a:r>
              <a:t>Suggested time: 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after students attempt the exercise. Ask why the colon is quoted. Discuss reversed input order and whether a name containing spaces fits this interface.</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Elicit 1, 1.5, and 1. Integer division truncates toward zero. % gives an integer remainder. The example uses positive values. Mention truncation toward zero for negatives too.</a:t>
            </a:r>
          </a:p>
          <a:p xmlns:a="http://schemas.openxmlformats.org/drawingml/2006/main">
            <a:r>
              <a:t>Full demo: CPP-Classroom/示例/L1_C04_D01.cpp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integer result 1 before its conversion to double. Converting a first gives the division a floating operand. Ask whether static_cast&lt;double&gt;(a/b) recovers the fraction. It does not.</a:t>
            </a:r>
          </a:p>
          <a:p xmlns:a="http://schemas.openxmlformats.org/drawingml/2006/main">
            <a:r>
              <a:t>Full demo: CPP-Classroom/示例/L1_C04_D01.cpp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Circle the subexpressions on the board. The final value is double 1. Default formatting may print 1 rather than 1.0. Separate numerical type from presentation.</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Elicit x=3 and outputs 1 then 0. Explain that if(x=3) may compile while changing x. Successful compilation does not prove the intended behavior.</a:t>
            </a:r>
          </a:p>
          <a:p xmlns:a="http://schemas.openxmlformats.org/drawingml/2006/main">
            <a:r>
              <a:t>Full demo: CPP-Classroom/示例/L1_C04_D02.cpp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score and total are doubles. &amp;&amp; skips the right side when the left is false. || skips it when the left is true. ! negates. Ask why reversing the conditions loses the zero-denominator guard.</a:t>
            </a:r>
          </a:p>
          <a:p xmlns:a="http://schemas.openxmlformats.org/drawingml/2006/main">
            <a:r>
              <a:t>Full demo: CPP-Classroom/示例/L1_C04_D03.cpp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-1, 0, 100, and 101. Compare with score&gt;=0 &amp;&amp; score&lt;=100. Explain both the logical relation and evaluation short-circuiting.</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each line: 4, 6, 18. Keep ++ out of complex expressions. Mention cmath functions such as sqrt and abs as reference material rather than a catalog on screen.</a:t>
            </a:r>
          </a:p>
          <a:p xmlns:a="http://schemas.openxmlformats.org/drawingml/2006/main">
            <a:r>
              <a:t>Full demo: CPP-Classroom/示例/L1_C04_D04.cpp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each expression through cout. floor and ceil return rounded floating values, unlike conversion to int. For -2.8, floor gives -3 while truncation toward zero gives -2.</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A prints. Compare with two independent if statements. Run 95, 60, and 59. Explain why the higher threshold comes first.</a:t>
            </a:r>
          </a:p>
          <a:p xmlns:a="http://schemas.openxmlformats.org/drawingml/2006/main">
            <a:r>
              <a:t>Full demo: CPP-Classroom/示例/L1_C05_D01.cpp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Move &gt;=60 before &gt;=90 and ask how 95 is classified. Trace then run the cases. If valid input is constrained to 0..100, validate that separately.</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iomanip with fixed and setprecision(1). Have students predict 59 60 60: 59.7 and no pass. Then test 60 60 60. Compare the numerical average before output formatting.</a:t>
            </a:r>
          </a:p>
          <a:p xmlns:a="http://schemas.openxmlformats.org/drawingml/2006/main">
            <a:r>
              <a:t>Suggested time: 7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Include iostream and iomanip. Input 59 60 60 produces about 59.6667, displayed as 59.7 with no pass. Do not use rounded display text for the test. Stream formatting persists for later output.</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save their code. Note recurring questions and revisit one or two after the break.</a:t>
            </a:r>
          </a:p>
          <a:p xmlns:a="http://schemas.openxmlformats.org/drawingml/2006/main">
            <a:r>
              <a:t>Suggested time: 10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i/sum on the board: 1/1, 2/3, 3/6. The next test fails at i=4. Emphasize that the update follows the body.</a:t>
            </a:r>
          </a:p>
          <a:p xmlns:a="http://schemas.openxmlformats.org/drawingml/2006/main">
            <a:r>
              <a:t>Full demo: CPP-Classroom/示例/L1_C05_D02.cpp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row, ask where i came from and why sum changes or stays. Step with a debugger or board trace so students understand more than the final 6.</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adds 3, changing three iterations to four. Connect the half-open interval [0,3) to the next array example.</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0 through 4. continue still leads to the for update expression. break exits directly. Swap the tests and ask whether these particular results change.</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Sketch the five positions on the board. Outputs are 94 and 0. scores[5] is out of bounds and causes undefined behavior. One observed run cannot establish its behavior.</a:t>
            </a:r>
          </a:p>
          <a:p xmlns:a="http://schemas.openxmlformats.org/drawingml/2006/main">
            <a:r>
              <a:t>Full demo: CPP-Classroom/示例/L1_C06_D01.cpp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automatic local arrays inside main, not global or static arrays. Do not rely on observed garbage output from c. Explicit zero initialization provides a defined starting state.</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Include array. Contrast built-in arrays with std::array assignment. The copy has independent elements. Leave dynamic allocation for later.</a:t>
            </a:r>
          </a:p>
          <a:p xmlns:a="http://schemas.openxmlformats.org/drawingml/2006/main">
            <a:r>
              <a:t>Full demo: CPP-Classroom/示例/L1_C06_D02.cpp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separate elements held by a and b. Connect this to the range-loop copy on the next slide without adding a memory-layout detour.</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Vote, then run: it remains 60. Each score is a copy. The next slide changes one symbol for a direct comparison.</a:t>
            </a:r>
          </a:p>
          <a:p xmlns:a="http://schemas.openxmlformats.org/drawingml/2006/main">
            <a:r>
              <a:t>Full demo: CPP-Classroom/示例/L1_C06_D03.cpp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an alias intuition here and explain references fully in Lesson 2. Mention const int&amp; as a read-only borrowed element.</a:t>
            </a:r>
          </a:p>
          <a:p xmlns:a="http://schemas.openxmlformats.org/drawingml/2006/main">
            <a:r>
              <a:t>Full demo: CPP-Classroom/示例/L1_C06_D03.cpp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syntax comparisons and each needs a body. Ask for a use case: summing, applying a bonus, or reading a larger object. Copying an int is cheap, so a reference is not automatically better.</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 3 passes and a sum of 291. Ask about initial values, the &gt;= boundary, and floating division. Early finishers can read five inputs and discuss how a general interface would handle empty data.</a:t>
            </a:r>
          </a:p>
          <a:p xmlns:a="http://schemas.openxmlformats.org/drawingml/2006/main">
            <a:r>
              <a:t>Suggested time: 7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scores has a fixed size of 5 here. A general interface allowing empty containers needs a zero-size guard. Ask why both accumulators start at 0 before reviewing the code.</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explain these points using their own code, rather than only give final answers.</a:t>
            </a:r>
          </a:p>
          <a:p xmlns:a="http://schemas.openxmlformats.org/drawingml/2006/main">
            <a:r>
              <a:t>Suggested time: 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Character positions are 0 through size()-1. These examples use ASCII names. Do not equate byte positions with arbitrary Chinese characters. Mention checked access with at briefly.</a:t>
            </a:r>
          </a:p>
          <a:p xmlns:a="http://schemas.openxmlformats.org/drawingml/2006/main">
            <a:r>
              <a:t>Full demo: CPP-Classroom/示例/L1_C07_D01.cpp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soyo at 0..3, the comma at 4, and anon beginning at 5. Ask students to account for the comma rather than memorize the number.</a:t>
            </a:r>
          </a:p>
          <a:p xmlns:a="http://schemas.openxmlformats.org/drawingml/2006/main">
            <a:r>
              <a:t>Full demo: CPP-Classroom/示例/L1_C07_D02.cpp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about find("soyo"): it returns 0, which if(pos) treats as false. A missing match gives npos. Compare against npos before using the position.</a:t>
            </a:r>
          </a:p>
          <a:p xmlns:a="http://schemas.openxmlformats.org/drawingml/2006/main">
            <a:r>
              <a:t>Full demo: CPP-Classroom/示例/L1_C07_D02.cpp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result comparison, not standalone code. Verify with members.find in the full program. Ask which cases if(pos) misclassifies.</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is the number of characters to replace, not an end index. Try the equal-length edit first, then tomori and observe later positions shifting.</a:t>
            </a:r>
          </a:p>
          <a:p xmlns:a="http://schemas.openxmlformats.org/drawingml/2006/main">
            <a:r>
              <a:t>Full demo: CPP-Classroom/示例/L1_C07_D03.cpp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each line starting from soyo,anon,taki. erase(0,5) removes rana,. clear removes everything. Positions refer to the current string, not its earlier version.</a:t>
            </a:r>
          </a:p>
          <a:p xmlns:a="http://schemas.openxmlformats.org/drawingml/2006/main">
            <a:r>
              <a:t>Full demo: CPP-Classroom/示例/L1_C07_D04.cpp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 the preceding three calls to these states. Identify the five erased characters rana,. Erasing only four leaves a leading comma.</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one run with anon and one without. Ask whether a match at 0 also works. Expect soyo,tomori,taki. Avoid hard-coding index 5.</a:t>
            </a:r>
          </a:p>
          <a:p xmlns:a="http://schemas.openxmlformats.org/drawingml/2006/main">
            <a:r>
              <a:t>Suggested time: 6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Band in Lesson 2. struct and class share the same mechanisms with different default access. The full record also has bass. This view focuses on two fields.</a:t>
            </a:r>
          </a:p>
          <a:p xmlns:a="http://schemas.openxmlformats.org/drawingml/2006/main">
            <a:r>
              <a:t>Full demo: CPP-Classroom/示例/L1_C08_D01.cpp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two-field record shown in class. b.guitar stays anon. The type defines structure. Lesson 2 will add operations to the class.</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94 87 50 should give an average of 77.0 and 2 passes. Combine input, loops, conversion, conditions, and formatting. Ask students to explain a boundary case as well as run the code.</a:t>
            </a:r>
          </a:p>
          <a:p xmlns:a="http://schemas.openxmlformats.org/drawingml/2006/main">
            <a:r>
              <a:t>Suggested time: 10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exchange test cases and explain how they locate faults. Print intermediate values temporarily, then remove debug output. Revisit the Python plan from the opening.</a:t>
            </a:r>
          </a:p>
          <a:p xmlns:a="http://schemas.openxmlformats.org/drawingml/2006/main">
            <a:r>
              <a:t>Suggested time: 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Elicit main, input, types, conditions, and loop boundaries. Assign the required Assessment-01 tasks and explain challenges separately. Refer students to notes and the exercise index for detail.</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c16da5a68646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e5ed52312d4b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e9f61e581643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7e736b8dd342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7fd4a832fe40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32b4d9c5a242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795E7A-51BA-4037-A8EF-4DA0E50067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038F71-294C-4DB8-9F07-30A0BCFC258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25B4BF-81BC-4B16-B8AA-41A09A10CC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514812-2828-4762-AFE6-B22B002FE5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4F11DF-66D3-43FC-982C-E33F549825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A992A3-02E2-4283-88DE-2A22AF11EA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A3EA84-A196-4A8D-A05D-2D0018E316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3F9C86-3294-44DD-BBC8-D6446B73BD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32CFA5-60D8-48B8-9B30-F44AC77CD6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1494DE-87A1-406C-B2EC-0E92085F71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2df86822bf413b" /><Relationship Type="http://schemas.openxmlformats.org/officeDocument/2006/relationships/slideLayout" Target="/ppt/slideLayouts/slideLayout1.xml" Id="R7be5bf894d974b56" /><Relationship Type="http://schemas.openxmlformats.org/officeDocument/2006/relationships/slideLayout" Target="/ppt/slideLayouts/slideLayout2.xml" Id="R5ee36b67bd804426" /><Relationship Type="http://schemas.openxmlformats.org/officeDocument/2006/relationships/slideLayout" Target="/ppt/slideLayouts/slideLayout3.xml" Id="R14b79128d7d248fd" /><Relationship Type="http://schemas.openxmlformats.org/officeDocument/2006/relationships/slideLayout" Target="/ppt/slideLayouts/slideLayout4.xml" Id="Race0e1b35d394721" /><Relationship Type="http://schemas.openxmlformats.org/officeDocument/2006/relationships/slideLayout" Target="/ppt/slideLayouts/slideLayout5.xml" Id="Rfb096697cab845e9" /><Relationship Type="http://schemas.openxmlformats.org/officeDocument/2006/relationships/slideLayout" Target="/ppt/slideLayouts/slideLayout6.xml" Id="R717514be39bf48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e5bf894d974b56"/>
    <p:sldLayoutId xmlns:r="http://schemas.openxmlformats.org/officeDocument/2006/relationships" id="2147483650" r:id="R5ee36b67bd804426"/>
    <p:sldLayoutId xmlns:r="http://schemas.openxmlformats.org/officeDocument/2006/relationships" id="2147483651" r:id="R14b79128d7d248fd"/>
    <p:sldLayoutId xmlns:r="http://schemas.openxmlformats.org/officeDocument/2006/relationships" id="2147483652" r:id="Race0e1b35d394721"/>
    <p:sldLayoutId xmlns:r="http://schemas.openxmlformats.org/officeDocument/2006/relationships" id="2147483653" r:id="Rfb096697cab845e9"/>
    <p:sldLayoutId xmlns:r="http://schemas.openxmlformats.org/officeDocument/2006/relationships" id="2147483654" r:id="R717514be39bf48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1a6b6f33d5466d" /><Relationship Type="http://schemas.openxmlformats.org/officeDocument/2006/relationships/notesSlide" Target="/ppt/notesSlides/notesSlide1.xml" Id="Ra5f89ebed86247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98c2821c774b0c" /><Relationship Type="http://schemas.openxmlformats.org/officeDocument/2006/relationships/notesSlide" Target="/ppt/notesSlides/notesSlide2.xml" Id="R90415426792c44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530e3b55c24c60" /><Relationship Type="http://schemas.openxmlformats.org/officeDocument/2006/relationships/notesSlide" Target="/ppt/notesSlides/notesSlide3.xml" Id="R72ed85f967f64c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569d1fa1324c65" /><Relationship Type="http://schemas.openxmlformats.org/officeDocument/2006/relationships/notesSlide" Target="/ppt/notesSlides/notesSlide4.xml" Id="Rdc5799b5fb7d40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4ebaaeb3a2446c" /><Relationship Type="http://schemas.openxmlformats.org/officeDocument/2006/relationships/notesSlide" Target="/ppt/notesSlides/notesSlide5.xml" Id="Rae081e83aed54b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1996b4232247a6" /><Relationship Type="http://schemas.openxmlformats.org/officeDocument/2006/relationships/notesSlide" Target="/ppt/notesSlides/notesSlide6.xml" Id="Rb1ccc204bbf546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dff1a6ecdb442f" /><Relationship Type="http://schemas.openxmlformats.org/officeDocument/2006/relationships/notesSlide" Target="/ppt/notesSlides/notesSlide7.xml" Id="R51a0c4d58d9048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c8a07fed8418f" /><Relationship Type="http://schemas.openxmlformats.org/officeDocument/2006/relationships/notesSlide" Target="/ppt/notesSlides/notesSlide8.xml" Id="Rd50b5b0cadb347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4effe3b65cc436c" /><Relationship Type="http://schemas.openxmlformats.org/officeDocument/2006/relationships/notesSlide" Target="/ppt/notesSlides/notesSlide9.xml" Id="R2b9fc33437f144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342bf007e14801" /><Relationship Type="http://schemas.openxmlformats.org/officeDocument/2006/relationships/notesSlide" Target="/ppt/notesSlides/notesSlide10.xml" Id="Rddacc9b88faa40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75675a0cb04636" /><Relationship Type="http://schemas.openxmlformats.org/officeDocument/2006/relationships/notesSlide" Target="/ppt/notesSlides/notesSlide11.xml" Id="R499692567b3343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1ed8d54ca874bb4" /><Relationship Type="http://schemas.openxmlformats.org/officeDocument/2006/relationships/notesSlide" Target="/ppt/notesSlides/notesSlide12.xml" Id="R5510d9d4fb2e4d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8b00507f6f54c35" /><Relationship Type="http://schemas.openxmlformats.org/officeDocument/2006/relationships/notesSlide" Target="/ppt/notesSlides/notesSlide13.xml" Id="R16ac262d32e749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f3a035a189343d8" /><Relationship Type="http://schemas.openxmlformats.org/officeDocument/2006/relationships/notesSlide" Target="/ppt/notesSlides/notesSlide14.xml" Id="Rd754703afe5d4d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b762f0b5e384a65" /><Relationship Type="http://schemas.openxmlformats.org/officeDocument/2006/relationships/notesSlide" Target="/ppt/notesSlides/notesSlide15.xml" Id="R615185dc0acd4b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66ae6a79e3a4781" /><Relationship Type="http://schemas.openxmlformats.org/officeDocument/2006/relationships/notesSlide" Target="/ppt/notesSlides/notesSlide16.xml" Id="R4648af458d2045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410e09f117549c4" /><Relationship Type="http://schemas.openxmlformats.org/officeDocument/2006/relationships/notesSlide" Target="/ppt/notesSlides/notesSlide17.xml" Id="R2613933795da40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5b6e88249d2404b" /><Relationship Type="http://schemas.openxmlformats.org/officeDocument/2006/relationships/notesSlide" Target="/ppt/notesSlides/notesSlide18.xml" Id="R1f1e724626cc45f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108c66ee14748c9" /><Relationship Type="http://schemas.openxmlformats.org/officeDocument/2006/relationships/notesSlide" Target="/ppt/notesSlides/notesSlide19.xml" Id="R80a8998568fe48d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ecf57fb693b4eda" /><Relationship Type="http://schemas.openxmlformats.org/officeDocument/2006/relationships/notesSlide" Target="/ppt/notesSlides/notesSlide20.xml" Id="Re7bceff5460943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7b1c8e2e4b04457" /><Relationship Type="http://schemas.openxmlformats.org/officeDocument/2006/relationships/notesSlide" Target="/ppt/notesSlides/notesSlide21.xml" Id="R1f2782ecaa5641c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4898a5b9a2b4308" /><Relationship Type="http://schemas.openxmlformats.org/officeDocument/2006/relationships/notesSlide" Target="/ppt/notesSlides/notesSlide22.xml" Id="Raa97373f1d2f483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b92f34dc75a4664" /><Relationship Type="http://schemas.openxmlformats.org/officeDocument/2006/relationships/notesSlide" Target="/ppt/notesSlides/notesSlide23.xml" Id="Rea79c450ccdf4e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7fe15c1a3f242aa" /><Relationship Type="http://schemas.openxmlformats.org/officeDocument/2006/relationships/notesSlide" Target="/ppt/notesSlides/notesSlide24.xml" Id="Rb0899555d96546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e9545dc297c44f7" /><Relationship Type="http://schemas.openxmlformats.org/officeDocument/2006/relationships/notesSlide" Target="/ppt/notesSlides/notesSlide25.xml" Id="R6bb151a99c03480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9837fb7ecef441d" /><Relationship Type="http://schemas.openxmlformats.org/officeDocument/2006/relationships/notesSlide" Target="/ppt/notesSlides/notesSlide26.xml" Id="Rc155c369f9a742f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c3de10bd5cf4577" /><Relationship Type="http://schemas.openxmlformats.org/officeDocument/2006/relationships/notesSlide" Target="/ppt/notesSlides/notesSlide27.xml" Id="R45e17de9755940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302ab508a7646e3" /><Relationship Type="http://schemas.openxmlformats.org/officeDocument/2006/relationships/notesSlide" Target="/ppt/notesSlides/notesSlide28.xml" Id="R93f096f6dd8c4ef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52585afc1d34d54" /><Relationship Type="http://schemas.openxmlformats.org/officeDocument/2006/relationships/notesSlide" Target="/ppt/notesSlides/notesSlide29.xml" Id="R2f6fee5c5c8a47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8bf9e373e384462" /><Relationship Type="http://schemas.openxmlformats.org/officeDocument/2006/relationships/notesSlide" Target="/ppt/notesSlides/notesSlide30.xml" Id="R5c61d227c4ec429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6998f03f67a45b4" /><Relationship Type="http://schemas.openxmlformats.org/officeDocument/2006/relationships/notesSlide" Target="/ppt/notesSlides/notesSlide31.xml" Id="R143333e7a9c346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1939cef34cc4ce2" /><Relationship Type="http://schemas.openxmlformats.org/officeDocument/2006/relationships/notesSlide" Target="/ppt/notesSlides/notesSlide32.xml" Id="R931cbb0621cd4b8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a89c4c619ae4719" /><Relationship Type="http://schemas.openxmlformats.org/officeDocument/2006/relationships/notesSlide" Target="/ppt/notesSlides/notesSlide33.xml" Id="Rf6d4d478c75047f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9ecfee0032c4cbd" /><Relationship Type="http://schemas.openxmlformats.org/officeDocument/2006/relationships/notesSlide" Target="/ppt/notesSlides/notesSlide34.xml" Id="Rb0edf89225264c9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37fdbd5945646ba" /><Relationship Type="http://schemas.openxmlformats.org/officeDocument/2006/relationships/notesSlide" Target="/ppt/notesSlides/notesSlide35.xml" Id="R232bc3317060421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5a8fb77c5d34af1" /><Relationship Type="http://schemas.openxmlformats.org/officeDocument/2006/relationships/notesSlide" Target="/ppt/notesSlides/notesSlide36.xml" Id="R697ae54c57bf495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4cc0af833394955" /><Relationship Type="http://schemas.openxmlformats.org/officeDocument/2006/relationships/notesSlide" Target="/ppt/notesSlides/notesSlide37.xml" Id="R66170afa20eb44d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4981755a9e54c37" /><Relationship Type="http://schemas.openxmlformats.org/officeDocument/2006/relationships/notesSlide" Target="/ppt/notesSlides/notesSlide38.xml" Id="R10f90cf82ea7409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1a6a108d64f4d30" /><Relationship Type="http://schemas.openxmlformats.org/officeDocument/2006/relationships/notesSlide" Target="/ppt/notesSlides/notesSlide39.xml" Id="R537b1fae0604444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7ffe419374f46c8" /><Relationship Type="http://schemas.openxmlformats.org/officeDocument/2006/relationships/notesSlide" Target="/ppt/notesSlides/notesSlide40.xml" Id="Rb9fbb25c12fc4c1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b77adfbf0f54587" /><Relationship Type="http://schemas.openxmlformats.org/officeDocument/2006/relationships/notesSlide" Target="/ppt/notesSlides/notesSlide41.xml" Id="R4db4bbefe5524ba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6d8cae11bb04665" /><Relationship Type="http://schemas.openxmlformats.org/officeDocument/2006/relationships/notesSlide" Target="/ppt/notesSlides/notesSlide42.xml" Id="R0f6f4f065b834ef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e0431ecc31454297" /><Relationship Type="http://schemas.openxmlformats.org/officeDocument/2006/relationships/notesSlide" Target="/ppt/notesSlides/notesSlide43.xml" Id="R18a4a436b6f1495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d4f98caeef642e7" /><Relationship Type="http://schemas.openxmlformats.org/officeDocument/2006/relationships/notesSlide" Target="/ppt/notesSlides/notesSlide44.xml" Id="Rdc8650051146464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589c203610ab4307" /><Relationship Type="http://schemas.openxmlformats.org/officeDocument/2006/relationships/notesSlide" Target="/ppt/notesSlides/notesSlide45.xml" Id="R09be0b60dcd9435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ecaffb25b0d49c7" /><Relationship Type="http://schemas.openxmlformats.org/officeDocument/2006/relationships/notesSlide" Target="/ppt/notesSlides/notesSlide46.xml" Id="Ra9ea6d18c6e1456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b2dc4eeef7d442a" /><Relationship Type="http://schemas.openxmlformats.org/officeDocument/2006/relationships/notesSlide" Target="/ppt/notesSlides/notesSlide47.xml" Id="R8122806bba754f0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a1bf5ec42e0e42d1" /><Relationship Type="http://schemas.openxmlformats.org/officeDocument/2006/relationships/notesSlide" Target="/ppt/notesSlides/notesSlide48.xml" Id="R87da6b6330c04d8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8dd5f373ba44d32" /><Relationship Type="http://schemas.openxmlformats.org/officeDocument/2006/relationships/notesSlide" Target="/ppt/notesSlides/notesSlide49.xml" Id="R2daf92f65cd8418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5adf2aeb99ed4b74" /><Relationship Type="http://schemas.openxmlformats.org/officeDocument/2006/relationships/notesSlide" Target="/ppt/notesSlides/notesSlide50.xml" Id="R6f88546896404aa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0548c8b072434555" /><Relationship Type="http://schemas.openxmlformats.org/officeDocument/2006/relationships/notesSlide" Target="/ppt/notesSlides/notesSlide51.xml" Id="Ra0e35b48b75a40b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9faae721f1034398" /><Relationship Type="http://schemas.openxmlformats.org/officeDocument/2006/relationships/notesSlide" Target="/ppt/notesSlides/notesSlide52.xml" Id="R8a717db3f1e6422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ec9427b5c224703" /><Relationship Type="http://schemas.openxmlformats.org/officeDocument/2006/relationships/notesSlide" Target="/ppt/notesSlides/notesSlide53.xml" Id="R9bfb91db54044f8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40489e3309c947ba" /><Relationship Type="http://schemas.openxmlformats.org/officeDocument/2006/relationships/notesSlide" Target="/ppt/notesSlides/notesSlide54.xml" Id="R30bc8db89e4e42f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5afccae28acf457e" /><Relationship Type="http://schemas.openxmlformats.org/officeDocument/2006/relationships/notesSlide" Target="/ppt/notesSlides/notesSlide55.xml" Id="Rbbd3e0903b37413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b4ebd1db9d444de2" /><Relationship Type="http://schemas.openxmlformats.org/officeDocument/2006/relationships/notesSlide" Target="/ppt/notesSlides/notesSlide56.xml" Id="R63f1bac36de7491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5cad7665f18443aa" /><Relationship Type="http://schemas.openxmlformats.org/officeDocument/2006/relationships/notesSlide" Target="/ppt/notesSlides/notesSlide57.xml" Id="R25a29d21014b41b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b1a798cbf1241c1" /><Relationship Type="http://schemas.openxmlformats.org/officeDocument/2006/relationships/notesSlide" Target="/ppt/notesSlides/notesSlide58.xml" Id="R4d869370228b4f9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0858e392a3444f5d" /><Relationship Type="http://schemas.openxmlformats.org/officeDocument/2006/relationships/notesSlide" Target="/ppt/notesSlides/notesSlide59.xml" Id="R1a2c8012d98c45c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712a9d4d07be4125" /><Relationship Type="http://schemas.openxmlformats.org/officeDocument/2006/relationships/notesSlide" Target="/ppt/notesSlides/notesSlide60.xml" Id="R7668395682964bfa"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5819ccc6dfe8428b" /><Relationship Type="http://schemas.openxmlformats.org/officeDocument/2006/relationships/notesSlide" Target="/ppt/notesSlides/notesSlide61.xml" Id="R39d0734f5efe4b0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eba8b01ace9b4b87" /><Relationship Type="http://schemas.openxmlformats.org/officeDocument/2006/relationships/notesSlide" Target="/ppt/notesSlides/notesSlide62.xml" Id="R8cd15573e975482c" /></Relationships>
</file>

<file path=ppt/slides/slide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A48F8028-FB98-4089-82EE-B500BA440E5C}"/>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AB0178F-BD36-4AB0-A4D8-D58B0CC7919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1 / 62</a:t>
            </a:r>
          </a:p>
        </p:txBody>
      </p:sp>
      <p:sp>
        <p:nvSpPr>
          <p:cNvPr id="3" name="heading-1">
            <a:extLst xmlns:a="http://schemas.openxmlformats.org/drawingml/2006/main">
              <a:ext uri="{FF2B5EF4-FFF2-40B4-BE49-F238E27FC236}">
                <a16:creationId xmlns:a16="http://schemas.microsoft.com/office/drawing/2014/main" id="{C9A4D437-ABAD-438A-A085-0632349D3028}"/>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C++ Fundamentals</a:t>
            </a:r>
          </a:p>
        </p:txBody>
      </p:sp>
      <p:sp>
        <p:nvSpPr>
          <p:cNvPr id="4" name="body-1">
            <a:extLst xmlns:a="http://schemas.openxmlformats.org/drawingml/2006/main">
              <a:ext uri="{FF2B5EF4-FFF2-40B4-BE49-F238E27FC236}">
                <a16:creationId xmlns:a16="http://schemas.microsoft.com/office/drawing/2014/main" id="{2903AFE3-A2FD-4CC9-B81F-3E116982D789}"/>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Lesson 1 / Input, decisions, and data</a:t>
            </a:r>
          </a:p>
        </p:txBody>
      </p:sp>
    </p:spTree>
    <p:extLst>
      <p:ext uri="{BB962C8B-B14F-4D97-AF65-F5344CB8AC3E}">
        <p14:creationId xmlns:p14="http://schemas.microsoft.com/office/powerpoint/2010/main" val="15694439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E8A0230D-44CC-48B0-9061-7A6E42CD886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DD6138D-5274-4C68-BAB6-19770E51112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 / 62</a:t>
            </a:r>
          </a:p>
        </p:txBody>
      </p:sp>
      <p:sp>
        <p:nvSpPr>
          <p:cNvPr id="3" name="heading-1">
            <a:extLst xmlns:a="http://schemas.openxmlformats.org/drawingml/2006/main">
              <a:ext uri="{FF2B5EF4-FFF2-40B4-BE49-F238E27FC236}">
                <a16:creationId xmlns:a16="http://schemas.microsoft.com/office/drawing/2014/main" id="{EC6A0E4C-8352-44BB-803F-D0B60CA224E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Our program for today</a:t>
            </a:r>
          </a:p>
        </p:txBody>
      </p:sp>
      <p:sp>
        <p:nvSpPr>
          <p:cNvPr id="4" name="code-1">
            <a:extLst xmlns:a="http://schemas.openxmlformats.org/drawingml/2006/main">
              <a:ext uri="{FF2B5EF4-FFF2-40B4-BE49-F238E27FC236}">
                <a16:creationId xmlns:a16="http://schemas.microsoft.com/office/drawing/2014/main" id="{D4F4F4DE-63CB-4313-B97B-7F743E791A6C}"/>
              </a:ext>
            </a:extLst>
          </p:cNvPr>
          <p:cNvSpPr>
            <a:spLocks xmlns:a="http://schemas.openxmlformats.org/drawingml/2006/main" noGrp="1"/>
          </p:cNvSpPr>
          <p:nvPr/>
        </p:nvSpPr>
        <p:spPr>
          <a:xfrm xmlns:a="http://schemas.openxmlformats.org/drawingml/2006/main">
            <a:off x="800100" y="1828800"/>
            <a:ext cx="105918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111111"/>
                </a:solidFill>
                <a:latin typeface="PingFang SC"/>
                <a:ea typeface="PingFang SC"/>
                <a:cs typeface="PingFang SC"/>
              </a:defRPr>
            </a:defPPr>
            <a:lvl1pPr>
              <a:defRPr sz="2850" b="0">
                <a:solidFill>
                  <a:srgbClr val="111111"/>
                </a:solidFill>
                <a:latin typeface="PingFang SC"/>
                <a:ea typeface="PingFang SC"/>
                <a:cs typeface="PingFang SC"/>
              </a:defRPr>
            </a:lvl1pPr>
            <a:lvl2pPr>
              <a:defRPr sz="2850" b="0">
                <a:solidFill>
                  <a:srgbClr val="111111"/>
                </a:solidFill>
                <a:latin typeface="PingFang SC"/>
                <a:ea typeface="PingFang SC"/>
                <a:cs typeface="PingFang SC"/>
              </a:defRPr>
            </a:lvl2pPr>
            <a:lvl3pPr>
              <a:defRPr sz="2850" b="0">
                <a:solidFill>
                  <a:srgbClr val="111111"/>
                </a:solidFill>
                <a:latin typeface="PingFang SC"/>
                <a:ea typeface="PingFang SC"/>
                <a:cs typeface="PingFang SC"/>
              </a:defRPr>
            </a:lvl3pPr>
            <a:lvl4pPr>
              <a:defRPr sz="2850" b="0">
                <a:solidFill>
                  <a:srgbClr val="111111"/>
                </a:solidFill>
                <a:latin typeface="PingFang SC"/>
                <a:ea typeface="PingFang SC"/>
                <a:cs typeface="PingFang SC"/>
              </a:defRPr>
            </a:lvl4pPr>
            <a:lvl5pPr>
              <a:defRPr sz="2850" b="0">
                <a:solidFill>
                  <a:srgbClr val="111111"/>
                </a:solidFill>
                <a:latin typeface="PingFang SC"/>
                <a:ea typeface="PingFang SC"/>
                <a:cs typeface="PingFang SC"/>
              </a:defRPr>
            </a:lvl5pPr>
            <a:lvl6pPr>
              <a:defRPr sz="2850" b="0">
                <a:solidFill>
                  <a:srgbClr val="111111"/>
                </a:solidFill>
                <a:latin typeface="PingFang SC"/>
                <a:ea typeface="PingFang SC"/>
                <a:cs typeface="PingFang SC"/>
              </a:defRPr>
            </a:lvl6pPr>
            <a:lvl7pPr>
              <a:defRPr sz="2850" b="0">
                <a:solidFill>
                  <a:srgbClr val="111111"/>
                </a:solidFill>
                <a:latin typeface="PingFang SC"/>
                <a:ea typeface="PingFang SC"/>
                <a:cs typeface="PingFang SC"/>
              </a:defRPr>
            </a:lvl7pPr>
            <a:lvl8pPr>
              <a:defRPr sz="2850" b="0">
                <a:solidFill>
                  <a:srgbClr val="111111"/>
                </a:solidFill>
                <a:latin typeface="PingFang SC"/>
                <a:ea typeface="PingFang SC"/>
                <a:cs typeface="PingFang SC"/>
              </a:defRPr>
            </a:lvl8pPr>
            <a:lvl9pPr>
              <a:defRPr sz="2850" b="0">
                <a:solidFill>
                  <a:srgbClr val="111111"/>
                </a:solidFill>
                <a:latin typeface="PingFang SC"/>
                <a:ea typeface="PingFang SC"/>
                <a:cs typeface="PingFang SC"/>
              </a:defRPr>
            </a:lvl9pPr>
          </a:lstStyle>
          <a:p xmlns:a="http://schemas.openxmlformats.org/drawingml/2006/main">
            <a:pPr>
              <a:defRPr sz="2850" b="0">
                <a:solidFill>
                  <a:srgbClr val="111111"/>
                </a:solidFill>
                <a:latin typeface="PingFang SC"/>
                <a:ea typeface="PingFang SC"/>
                <a:cs typeface="PingFang SC"/>
              </a:defRPr>
            </a:pPr>
            <a:r>
              <a:rPr sz="2850" b="0">
                <a:solidFill>
                  <a:srgbClr val="111111"/>
                </a:solidFill>
                <a:latin typeface="PingFang SC"/>
                <a:ea typeface="PingFang SC"/>
                <a:cs typeface="PingFang SC"/>
              </a:rPr>
              <a:t>Input: 3 scores</a:t>
            </a:r>
          </a:p>
        </p:txBody>
      </p:sp>
      <p:sp>
        <p:nvSpPr>
          <p:cNvPr id="5" name="code-2">
            <a:extLst xmlns:a="http://schemas.openxmlformats.org/drawingml/2006/main">
              <a:ext uri="{FF2B5EF4-FFF2-40B4-BE49-F238E27FC236}">
                <a16:creationId xmlns:a16="http://schemas.microsoft.com/office/drawing/2014/main" id="{0BFFE2B9-FB53-4B86-BF74-299DA5A90040}"/>
              </a:ext>
            </a:extLst>
          </p:cNvPr>
          <p:cNvSpPr>
            <a:spLocks xmlns:a="http://schemas.openxmlformats.org/drawingml/2006/main" noGrp="1"/>
          </p:cNvSpPr>
          <p:nvPr/>
        </p:nvSpPr>
        <p:spPr>
          <a:xfrm xmlns:a="http://schemas.openxmlformats.org/drawingml/2006/main">
            <a:off x="800100" y="2400300"/>
            <a:ext cx="105918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111111"/>
                </a:solidFill>
                <a:latin typeface="PingFang SC"/>
                <a:ea typeface="PingFang SC"/>
                <a:cs typeface="PingFang SC"/>
              </a:defRPr>
            </a:defPPr>
            <a:lvl1pPr>
              <a:defRPr sz="2850" b="0">
                <a:solidFill>
                  <a:srgbClr val="111111"/>
                </a:solidFill>
                <a:latin typeface="PingFang SC"/>
                <a:ea typeface="PingFang SC"/>
                <a:cs typeface="PingFang SC"/>
              </a:defRPr>
            </a:lvl1pPr>
            <a:lvl2pPr>
              <a:defRPr sz="2850" b="0">
                <a:solidFill>
                  <a:srgbClr val="111111"/>
                </a:solidFill>
                <a:latin typeface="PingFang SC"/>
                <a:ea typeface="PingFang SC"/>
                <a:cs typeface="PingFang SC"/>
              </a:defRPr>
            </a:lvl2pPr>
            <a:lvl3pPr>
              <a:defRPr sz="2850" b="0">
                <a:solidFill>
                  <a:srgbClr val="111111"/>
                </a:solidFill>
                <a:latin typeface="PingFang SC"/>
                <a:ea typeface="PingFang SC"/>
                <a:cs typeface="PingFang SC"/>
              </a:defRPr>
            </a:lvl3pPr>
            <a:lvl4pPr>
              <a:defRPr sz="2850" b="0">
                <a:solidFill>
                  <a:srgbClr val="111111"/>
                </a:solidFill>
                <a:latin typeface="PingFang SC"/>
                <a:ea typeface="PingFang SC"/>
                <a:cs typeface="PingFang SC"/>
              </a:defRPr>
            </a:lvl4pPr>
            <a:lvl5pPr>
              <a:defRPr sz="2850" b="0">
                <a:solidFill>
                  <a:srgbClr val="111111"/>
                </a:solidFill>
                <a:latin typeface="PingFang SC"/>
                <a:ea typeface="PingFang SC"/>
                <a:cs typeface="PingFang SC"/>
              </a:defRPr>
            </a:lvl5pPr>
            <a:lvl6pPr>
              <a:defRPr sz="2850" b="0">
                <a:solidFill>
                  <a:srgbClr val="111111"/>
                </a:solidFill>
                <a:latin typeface="PingFang SC"/>
                <a:ea typeface="PingFang SC"/>
                <a:cs typeface="PingFang SC"/>
              </a:defRPr>
            </a:lvl6pPr>
            <a:lvl7pPr>
              <a:defRPr sz="2850" b="0">
                <a:solidFill>
                  <a:srgbClr val="111111"/>
                </a:solidFill>
                <a:latin typeface="PingFang SC"/>
                <a:ea typeface="PingFang SC"/>
                <a:cs typeface="PingFang SC"/>
              </a:defRPr>
            </a:lvl7pPr>
            <a:lvl8pPr>
              <a:defRPr sz="2850" b="0">
                <a:solidFill>
                  <a:srgbClr val="111111"/>
                </a:solidFill>
                <a:latin typeface="PingFang SC"/>
                <a:ea typeface="PingFang SC"/>
                <a:cs typeface="PingFang SC"/>
              </a:defRPr>
            </a:lvl8pPr>
            <a:lvl9pPr>
              <a:defRPr sz="2850" b="0">
                <a:solidFill>
                  <a:srgbClr val="111111"/>
                </a:solidFill>
                <a:latin typeface="PingFang SC"/>
                <a:ea typeface="PingFang SC"/>
                <a:cs typeface="PingFang SC"/>
              </a:defRPr>
            </a:lvl9pPr>
          </a:lstStyle>
          <a:p xmlns:a="http://schemas.openxmlformats.org/drawingml/2006/main">
            <a:pPr>
              <a:defRPr sz="2850" b="0">
                <a:solidFill>
                  <a:srgbClr val="111111"/>
                </a:solidFill>
                <a:latin typeface="PingFang SC"/>
                <a:ea typeface="PingFang SC"/>
                <a:cs typeface="PingFang SC"/>
              </a:defRPr>
            </a:pPr>
            <a:r>
              <a:rPr sz="2850" b="0">
                <a:solidFill>
                  <a:srgbClr val="111111"/>
                </a:solidFill>
                <a:latin typeface="PingFang SC"/>
                <a:ea typeface="PingFang SC"/>
                <a:cs typeface="PingFang SC"/>
              </a:rPr>
              <a:t>Compute: sum and average</a:t>
            </a:r>
          </a:p>
        </p:txBody>
      </p:sp>
      <p:sp>
        <p:nvSpPr>
          <p:cNvPr id="6" name="code-3">
            <a:extLst xmlns:a="http://schemas.openxmlformats.org/drawingml/2006/main">
              <a:ext uri="{FF2B5EF4-FFF2-40B4-BE49-F238E27FC236}">
                <a16:creationId xmlns:a16="http://schemas.microsoft.com/office/drawing/2014/main" id="{727CEFC3-F1F2-4192-9A64-F4BED4137004}"/>
              </a:ext>
            </a:extLst>
          </p:cNvPr>
          <p:cNvSpPr>
            <a:spLocks xmlns:a="http://schemas.openxmlformats.org/drawingml/2006/main" noGrp="1"/>
          </p:cNvSpPr>
          <p:nvPr/>
        </p:nvSpPr>
        <p:spPr>
          <a:xfrm xmlns:a="http://schemas.openxmlformats.org/drawingml/2006/main">
            <a:off x="800100" y="2971800"/>
            <a:ext cx="105918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111111"/>
                </a:solidFill>
                <a:latin typeface="PingFang SC"/>
                <a:ea typeface="PingFang SC"/>
                <a:cs typeface="PingFang SC"/>
              </a:defRPr>
            </a:defPPr>
            <a:lvl1pPr>
              <a:defRPr sz="2850" b="0">
                <a:solidFill>
                  <a:srgbClr val="111111"/>
                </a:solidFill>
                <a:latin typeface="PingFang SC"/>
                <a:ea typeface="PingFang SC"/>
                <a:cs typeface="PingFang SC"/>
              </a:defRPr>
            </a:lvl1pPr>
            <a:lvl2pPr>
              <a:defRPr sz="2850" b="0">
                <a:solidFill>
                  <a:srgbClr val="111111"/>
                </a:solidFill>
                <a:latin typeface="PingFang SC"/>
                <a:ea typeface="PingFang SC"/>
                <a:cs typeface="PingFang SC"/>
              </a:defRPr>
            </a:lvl2pPr>
            <a:lvl3pPr>
              <a:defRPr sz="2850" b="0">
                <a:solidFill>
                  <a:srgbClr val="111111"/>
                </a:solidFill>
                <a:latin typeface="PingFang SC"/>
                <a:ea typeface="PingFang SC"/>
                <a:cs typeface="PingFang SC"/>
              </a:defRPr>
            </a:lvl3pPr>
            <a:lvl4pPr>
              <a:defRPr sz="2850" b="0">
                <a:solidFill>
                  <a:srgbClr val="111111"/>
                </a:solidFill>
                <a:latin typeface="PingFang SC"/>
                <a:ea typeface="PingFang SC"/>
                <a:cs typeface="PingFang SC"/>
              </a:defRPr>
            </a:lvl4pPr>
            <a:lvl5pPr>
              <a:defRPr sz="2850" b="0">
                <a:solidFill>
                  <a:srgbClr val="111111"/>
                </a:solidFill>
                <a:latin typeface="PingFang SC"/>
                <a:ea typeface="PingFang SC"/>
                <a:cs typeface="PingFang SC"/>
              </a:defRPr>
            </a:lvl5pPr>
            <a:lvl6pPr>
              <a:defRPr sz="2850" b="0">
                <a:solidFill>
                  <a:srgbClr val="111111"/>
                </a:solidFill>
                <a:latin typeface="PingFang SC"/>
                <a:ea typeface="PingFang SC"/>
                <a:cs typeface="PingFang SC"/>
              </a:defRPr>
            </a:lvl6pPr>
            <a:lvl7pPr>
              <a:defRPr sz="2850" b="0">
                <a:solidFill>
                  <a:srgbClr val="111111"/>
                </a:solidFill>
                <a:latin typeface="PingFang SC"/>
                <a:ea typeface="PingFang SC"/>
                <a:cs typeface="PingFang SC"/>
              </a:defRPr>
            </a:lvl7pPr>
            <a:lvl8pPr>
              <a:defRPr sz="2850" b="0">
                <a:solidFill>
                  <a:srgbClr val="111111"/>
                </a:solidFill>
                <a:latin typeface="PingFang SC"/>
                <a:ea typeface="PingFang SC"/>
                <a:cs typeface="PingFang SC"/>
              </a:defRPr>
            </a:lvl8pPr>
            <a:lvl9pPr>
              <a:defRPr sz="2850" b="0">
                <a:solidFill>
                  <a:srgbClr val="111111"/>
                </a:solidFill>
                <a:latin typeface="PingFang SC"/>
                <a:ea typeface="PingFang SC"/>
                <a:cs typeface="PingFang SC"/>
              </a:defRPr>
            </a:lvl9pPr>
          </a:lstStyle>
          <a:p xmlns:a="http://schemas.openxmlformats.org/drawingml/2006/main">
            <a:pPr>
              <a:defRPr sz="2850" b="0">
                <a:solidFill>
                  <a:srgbClr val="111111"/>
                </a:solidFill>
                <a:latin typeface="PingFang SC"/>
                <a:ea typeface="PingFang SC"/>
                <a:cs typeface="PingFang SC"/>
              </a:defRPr>
            </a:pPr>
            <a:r>
              <a:rPr sz="2850" b="0">
                <a:solidFill>
                  <a:srgbClr val="111111"/>
                </a:solidFill>
                <a:latin typeface="PingFang SC"/>
                <a:ea typeface="PingFang SC"/>
                <a:cs typeface="PingFang SC"/>
              </a:rPr>
              <a:t>Decide: average at least 60?</a:t>
            </a:r>
          </a:p>
        </p:txBody>
      </p:sp>
      <p:sp>
        <p:nvSpPr>
          <p:cNvPr id="7" name="code-4">
            <a:extLst xmlns:a="http://schemas.openxmlformats.org/drawingml/2006/main">
              <a:ext uri="{FF2B5EF4-FFF2-40B4-BE49-F238E27FC236}">
                <a16:creationId xmlns:a16="http://schemas.microsoft.com/office/drawing/2014/main" id="{7F425D36-7046-4C81-9DA6-4662A5F381DD}"/>
              </a:ext>
            </a:extLst>
          </p:cNvPr>
          <p:cNvSpPr>
            <a:spLocks xmlns:a="http://schemas.openxmlformats.org/drawingml/2006/main" noGrp="1"/>
          </p:cNvSpPr>
          <p:nvPr/>
        </p:nvSpPr>
        <p:spPr>
          <a:xfrm xmlns:a="http://schemas.openxmlformats.org/drawingml/2006/main">
            <a:off x="800100" y="3543300"/>
            <a:ext cx="105918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111111"/>
                </a:solidFill>
                <a:latin typeface="PingFang SC"/>
                <a:ea typeface="PingFang SC"/>
                <a:cs typeface="PingFang SC"/>
              </a:defRPr>
            </a:defPPr>
            <a:lvl1pPr>
              <a:defRPr sz="2850" b="0">
                <a:solidFill>
                  <a:srgbClr val="111111"/>
                </a:solidFill>
                <a:latin typeface="PingFang SC"/>
                <a:ea typeface="PingFang SC"/>
                <a:cs typeface="PingFang SC"/>
              </a:defRPr>
            </a:lvl1pPr>
            <a:lvl2pPr>
              <a:defRPr sz="2850" b="0">
                <a:solidFill>
                  <a:srgbClr val="111111"/>
                </a:solidFill>
                <a:latin typeface="PingFang SC"/>
                <a:ea typeface="PingFang SC"/>
                <a:cs typeface="PingFang SC"/>
              </a:defRPr>
            </a:lvl2pPr>
            <a:lvl3pPr>
              <a:defRPr sz="2850" b="0">
                <a:solidFill>
                  <a:srgbClr val="111111"/>
                </a:solidFill>
                <a:latin typeface="PingFang SC"/>
                <a:ea typeface="PingFang SC"/>
                <a:cs typeface="PingFang SC"/>
              </a:defRPr>
            </a:lvl3pPr>
            <a:lvl4pPr>
              <a:defRPr sz="2850" b="0">
                <a:solidFill>
                  <a:srgbClr val="111111"/>
                </a:solidFill>
                <a:latin typeface="PingFang SC"/>
                <a:ea typeface="PingFang SC"/>
                <a:cs typeface="PingFang SC"/>
              </a:defRPr>
            </a:lvl4pPr>
            <a:lvl5pPr>
              <a:defRPr sz="2850" b="0">
                <a:solidFill>
                  <a:srgbClr val="111111"/>
                </a:solidFill>
                <a:latin typeface="PingFang SC"/>
                <a:ea typeface="PingFang SC"/>
                <a:cs typeface="PingFang SC"/>
              </a:defRPr>
            </a:lvl5pPr>
            <a:lvl6pPr>
              <a:defRPr sz="2850" b="0">
                <a:solidFill>
                  <a:srgbClr val="111111"/>
                </a:solidFill>
                <a:latin typeface="PingFang SC"/>
                <a:ea typeface="PingFang SC"/>
                <a:cs typeface="PingFang SC"/>
              </a:defRPr>
            </a:lvl6pPr>
            <a:lvl7pPr>
              <a:defRPr sz="2850" b="0">
                <a:solidFill>
                  <a:srgbClr val="111111"/>
                </a:solidFill>
                <a:latin typeface="PingFang SC"/>
                <a:ea typeface="PingFang SC"/>
                <a:cs typeface="PingFang SC"/>
              </a:defRPr>
            </a:lvl7pPr>
            <a:lvl8pPr>
              <a:defRPr sz="2850" b="0">
                <a:solidFill>
                  <a:srgbClr val="111111"/>
                </a:solidFill>
                <a:latin typeface="PingFang SC"/>
                <a:ea typeface="PingFang SC"/>
                <a:cs typeface="PingFang SC"/>
              </a:defRPr>
            </a:lvl8pPr>
            <a:lvl9pPr>
              <a:defRPr sz="2850" b="0">
                <a:solidFill>
                  <a:srgbClr val="111111"/>
                </a:solidFill>
                <a:latin typeface="PingFang SC"/>
                <a:ea typeface="PingFang SC"/>
                <a:cs typeface="PingFang SC"/>
              </a:defRPr>
            </a:lvl9pPr>
          </a:lstStyle>
          <a:p xmlns:a="http://schemas.openxmlformats.org/drawingml/2006/main">
            <a:pPr>
              <a:defRPr sz="2850" b="0">
                <a:solidFill>
                  <a:srgbClr val="111111"/>
                </a:solidFill>
                <a:latin typeface="PingFang SC"/>
                <a:ea typeface="PingFang SC"/>
                <a:cs typeface="PingFang SC"/>
              </a:defRPr>
            </a:pPr>
            <a:r>
              <a:rPr sz="2850" b="0">
                <a:solidFill>
                  <a:srgbClr val="111111"/>
                </a:solidFill>
                <a:latin typeface="PingFang SC"/>
                <a:ea typeface="PingFang SC"/>
                <a:cs typeface="PingFang SC"/>
              </a:rPr>
              <a:t>Print: the report</a:t>
            </a:r>
          </a:p>
        </p:txBody>
      </p:sp>
      <p:sp>
        <p:nvSpPr>
          <p:cNvPr id="8" name="cue-1">
            <a:extLst xmlns:a="http://schemas.openxmlformats.org/drawingml/2006/main">
              <a:ext uri="{FF2B5EF4-FFF2-40B4-BE49-F238E27FC236}">
                <a16:creationId xmlns:a16="http://schemas.microsoft.com/office/drawing/2014/main" id="{C2EF7B29-E9D1-441B-82BB-EF9EC1AEAF6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How would you write this in Python?</a:t>
            </a:r>
          </a:p>
        </p:txBody>
      </p:sp>
    </p:spTree>
    <p:extLst>
      <p:ext uri="{BB962C8B-B14F-4D97-AF65-F5344CB8AC3E}">
        <p14:creationId xmlns:p14="http://schemas.microsoft.com/office/powerpoint/2010/main" val="15307972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79123291-3F7B-4DA0-8D47-7FA2358BF5C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3D7E777-F712-4CD0-BDD9-FEFEB03AB03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 / 62</a:t>
            </a:r>
          </a:p>
        </p:txBody>
      </p:sp>
      <p:sp>
        <p:nvSpPr>
          <p:cNvPr id="3" name="heading-1">
            <a:extLst xmlns:a="http://schemas.openxmlformats.org/drawingml/2006/main">
              <a:ext uri="{FF2B5EF4-FFF2-40B4-BE49-F238E27FC236}">
                <a16:creationId xmlns:a16="http://schemas.microsoft.com/office/drawing/2014/main" id="{FA8C616A-3534-4D86-81C8-B9F6D75F8952}"/>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One complete program</a:t>
            </a:r>
          </a:p>
        </p:txBody>
      </p:sp>
      <p:sp>
        <p:nvSpPr>
          <p:cNvPr id="4" name="code-1">
            <a:extLst xmlns:a="http://schemas.openxmlformats.org/drawingml/2006/main">
              <a:ext uri="{FF2B5EF4-FFF2-40B4-BE49-F238E27FC236}">
                <a16:creationId xmlns:a16="http://schemas.microsoft.com/office/drawing/2014/main" id="{17985D0E-CAE1-4112-B1EC-379D44F0CF03}"/>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9A3E00"/>
                </a:solidFill>
                <a:latin typeface="Menlo"/>
                <a:ea typeface="Menlo"/>
                <a:cs typeface="Menlo"/>
              </a:rPr>
              <a:t>#</a:t>
            </a:r>
            <a:r>
              <a:rPr sz="2250">
                <a:solidFill>
                  <a:srgbClr val="005CC5"/>
                </a:solidFill>
                <a:latin typeface="Menlo"/>
                <a:ea typeface="Menlo"/>
                <a:cs typeface="Menlo"/>
              </a:rPr>
              <a:t>include</a:t>
            </a:r>
            <a:r>
              <a:rPr sz="2250">
                <a:solidFill>
                  <a:srgbClr val="9A3E00"/>
                </a:solidFill>
                <a:latin typeface="Menlo"/>
                <a:ea typeface="Menlo"/>
                <a:cs typeface="Menlo"/>
              </a:rPr>
              <a:t> </a:t>
            </a:r>
            <a:r>
              <a:rPr sz="2250">
                <a:solidFill>
                  <a:srgbClr val="0B6B3A"/>
                </a:solidFill>
                <a:latin typeface="Menlo"/>
                <a:ea typeface="Menlo"/>
                <a:cs typeface="Menlo"/>
              </a:rPr>
              <a:t>&lt;iostream&gt;</a:t>
            </a:r>
          </a:p>
        </p:txBody>
      </p:sp>
      <p:sp>
        <p:nvSpPr>
          <p:cNvPr id="5" name="code-2">
            <a:extLst xmlns:a="http://schemas.openxmlformats.org/drawingml/2006/main">
              <a:ext uri="{FF2B5EF4-FFF2-40B4-BE49-F238E27FC236}">
                <a16:creationId xmlns:a16="http://schemas.microsoft.com/office/drawing/2014/main" id="{63EC6213-FACE-4683-BC40-226D3767418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3B5014E5-C2D7-4607-B122-17B0E57CA18A}"/>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t>
            </a:r>
            <a:r>
              <a:rPr sz="2250">
                <a:solidFill>
                  <a:srgbClr val="6F42C1"/>
                </a:solidFill>
                <a:latin typeface="Menlo"/>
                <a:ea typeface="Menlo"/>
                <a:cs typeface="Menlo"/>
              </a:rPr>
              <a:t>main</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F70E112B-7B2D-4033-9C49-99B52FD3BA82}"/>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"Hello, C++!</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27E1D17D-ED77-4450-BD76-3125278412AB}"/>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return</a:t>
            </a:r>
            <a:r>
              <a:rPr sz="2250">
                <a:solidFill>
                  <a:srgbClr val="222222"/>
                </a:solidFill>
                <a:latin typeface="Menlo"/>
                <a:ea typeface="Menlo"/>
                <a:cs typeface="Menlo"/>
              </a:rPr>
              <a:t> </a:t>
            </a:r>
            <a:r>
              <a:rPr sz="2250">
                <a:solidFill>
                  <a:srgbClr val="9A4D00"/>
                </a:solidFill>
                <a:latin typeface="Menlo"/>
                <a:ea typeface="Menlo"/>
                <a:cs typeface="Menlo"/>
              </a:rPr>
              <a:t>0</a:t>
            </a: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3AE870FE-49BE-4751-8FD9-86C83EC3DB6D}"/>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0" name="cue-1">
            <a:extLst xmlns:a="http://schemas.openxmlformats.org/drawingml/2006/main">
              <a:ext uri="{FF2B5EF4-FFF2-40B4-BE49-F238E27FC236}">
                <a16:creationId xmlns:a16="http://schemas.microsoft.com/office/drawing/2014/main" id="{521F2170-84CE-4D32-AC08-E3B7FC37DF6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Execution enters main. Statements end with a semicolon.</a:t>
            </a:r>
          </a:p>
        </p:txBody>
      </p:sp>
    </p:spTree>
    <p:extLst>
      <p:ext uri="{BB962C8B-B14F-4D97-AF65-F5344CB8AC3E}">
        <p14:creationId xmlns:p14="http://schemas.microsoft.com/office/powerpoint/2010/main" val="15839697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55C16B73-8FB7-45D5-ACAB-1C91A9A4B4DB}"/>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137074B4-C551-4C9A-9A90-E1B030D14D9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 / 62</a:t>
            </a:r>
          </a:p>
        </p:txBody>
      </p:sp>
      <p:sp>
        <p:nvSpPr>
          <p:cNvPr id="3" name="heading-1">
            <a:extLst xmlns:a="http://schemas.openxmlformats.org/drawingml/2006/main">
              <a:ext uri="{FF2B5EF4-FFF2-40B4-BE49-F238E27FC236}">
                <a16:creationId xmlns:a16="http://schemas.microsoft.com/office/drawing/2014/main" id="{1E3C61ED-E3C1-4F7F-AD2E-52D004E23A8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Python and C++ notation</a:t>
            </a:r>
          </a:p>
        </p:txBody>
      </p:sp>
      <p:sp>
        <p:nvSpPr>
          <p:cNvPr id="4" name="code-1">
            <a:extLst xmlns:a="http://schemas.openxmlformats.org/drawingml/2006/main">
              <a:ext uri="{FF2B5EF4-FFF2-40B4-BE49-F238E27FC236}">
                <a16:creationId xmlns:a16="http://schemas.microsoft.com/office/drawing/2014/main" id="{C9FE0423-00CE-4C00-A2C0-8A169A222CFE}"/>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Python: score = 85</a:t>
            </a:r>
          </a:p>
        </p:txBody>
      </p:sp>
      <p:sp>
        <p:nvSpPr>
          <p:cNvPr id="5" name="code-2">
            <a:extLst xmlns:a="http://schemas.openxmlformats.org/drawingml/2006/main">
              <a:ext uri="{FF2B5EF4-FFF2-40B4-BE49-F238E27FC236}">
                <a16:creationId xmlns:a16="http://schemas.microsoft.com/office/drawing/2014/main" id="{9443A89C-16B9-4685-84AB-DE1B16E6550B}"/>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85</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0B23D919-3BAC-4386-AEDA-710460FCF7E7}"/>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7" name="code-4">
            <a:extLst xmlns:a="http://schemas.openxmlformats.org/drawingml/2006/main">
              <a:ext uri="{FF2B5EF4-FFF2-40B4-BE49-F238E27FC236}">
                <a16:creationId xmlns:a16="http://schemas.microsoft.com/office/drawing/2014/main" id="{3F661A40-81BE-49CE-BC3B-A0E851F8705E}"/>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a:t>
            </a:r>
            <a:r>
              <a:rPr sz="2250">
                <a:solidFill>
                  <a:srgbClr val="59636E"/>
                </a:solidFill>
                <a:latin typeface="Menlo"/>
                <a:ea typeface="Menlo"/>
                <a:cs typeface="Menlo"/>
              </a:rPr>
              <a:t> Python: if score </a:t>
            </a:r>
            <a:r>
              <a:rPr sz="2250">
                <a:solidFill>
                  <a:srgbClr val="59636E"/>
                </a:solidFill>
                <a:latin typeface="Menlo"/>
                <a:ea typeface="Menlo"/>
                <a:cs typeface="Menlo"/>
              </a:rPr>
              <a:t>&gt;= 60:</a:t>
            </a:r>
          </a:p>
        </p:txBody>
      </p:sp>
      <p:sp>
        <p:nvSpPr>
          <p:cNvPr id="8" name="code-5">
            <a:extLst xmlns:a="http://schemas.openxmlformats.org/drawingml/2006/main">
              <a:ext uri="{FF2B5EF4-FFF2-40B4-BE49-F238E27FC236}">
                <a16:creationId xmlns:a16="http://schemas.microsoft.com/office/drawing/2014/main" id="{40B4935E-7C00-40CA-8E89-1BCA4731BEF9}"/>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(score &gt;= </a:t>
            </a:r>
            <a:r>
              <a:rPr sz="2250">
                <a:solidFill>
                  <a:srgbClr val="9A4D00"/>
                </a:solidFill>
                <a:latin typeface="Menlo"/>
                <a:ea typeface="Menlo"/>
                <a:cs typeface="Menlo"/>
              </a:rPr>
              <a:t>60</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9" name="code-6">
            <a:extLst xmlns:a="http://schemas.openxmlformats.org/drawingml/2006/main">
              <a:ext uri="{FF2B5EF4-FFF2-40B4-BE49-F238E27FC236}">
                <a16:creationId xmlns:a16="http://schemas.microsoft.com/office/drawing/2014/main" id="{1E112A16-D4BA-4CEA-9614-421801C9D569}"/>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"pass</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593BB484-77BA-497A-B9AF-41B1112BF70A}"/>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2FD973DA-3E92-475F-AF20-64F234FD51CF}"/>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type precedes the name. Braces delimit a block.</a:t>
            </a:r>
          </a:p>
        </p:txBody>
      </p:sp>
    </p:spTree>
    <p:extLst>
      <p:ext uri="{BB962C8B-B14F-4D97-AF65-F5344CB8AC3E}">
        <p14:creationId xmlns:p14="http://schemas.microsoft.com/office/powerpoint/2010/main" val="1367113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60D60FB8-6BFE-4D44-9C73-18BCCAADF41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5BD24CB-E3BA-4C2C-990F-402C6F8705D2}"/>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 / 62</a:t>
            </a:r>
          </a:p>
        </p:txBody>
      </p:sp>
      <p:sp>
        <p:nvSpPr>
          <p:cNvPr id="3" name="heading-1">
            <a:extLst xmlns:a="http://schemas.openxmlformats.org/drawingml/2006/main">
              <a:ext uri="{FF2B5EF4-FFF2-40B4-BE49-F238E27FC236}">
                <a16:creationId xmlns:a16="http://schemas.microsoft.com/office/drawing/2014/main" id="{6A8B961C-F5D1-4A5D-81DD-6D5525892D6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Blocks and variable scope</a:t>
            </a:r>
          </a:p>
        </p:txBody>
      </p:sp>
      <p:sp>
        <p:nvSpPr>
          <p:cNvPr id="4" name="code-1">
            <a:extLst xmlns:a="http://schemas.openxmlformats.org/drawingml/2006/main">
              <a:ext uri="{FF2B5EF4-FFF2-40B4-BE49-F238E27FC236}">
                <a16:creationId xmlns:a16="http://schemas.microsoft.com/office/drawing/2014/main" id="{7A69075B-AD0B-4DE6-84F4-F3CA381E5599}"/>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85</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2A6E1D57-945F-47B1-B5B6-DA328C91C80A}"/>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72FFE50C-DE55-4DF4-AF11-7D9381F50AD1}"/>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 bonus </a:t>
            </a:r>
            <a:r>
              <a:rPr sz="2250">
                <a:solidFill>
                  <a:srgbClr val="222222"/>
                </a:solidFill>
                <a:latin typeface="Menlo"/>
                <a:ea typeface="Menlo"/>
                <a:cs typeface="Menlo"/>
              </a:rPr>
              <a:t>= </a:t>
            </a:r>
            <a:r>
              <a:rPr sz="2250">
                <a:solidFill>
                  <a:srgbClr val="9A4D00"/>
                </a:solidFill>
                <a:latin typeface="Menlo"/>
                <a:ea typeface="Menlo"/>
                <a:cs typeface="Menlo"/>
              </a:rPr>
              <a:t>5</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05723DD1-ED82-475F-B2D1-7C83E32936E7}"/>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score +</a:t>
            </a:r>
            <a:r>
              <a:rPr sz="2250">
                <a:solidFill>
                  <a:srgbClr val="222222"/>
                </a:solidFill>
                <a:latin typeface="Menlo"/>
                <a:ea typeface="Menlo"/>
                <a:cs typeface="Menlo"/>
              </a:rPr>
              <a:t>= bonus;</a:t>
            </a:r>
          </a:p>
        </p:txBody>
      </p:sp>
      <p:sp>
        <p:nvSpPr>
          <p:cNvPr id="8" name="code-5">
            <a:extLst xmlns:a="http://schemas.openxmlformats.org/drawingml/2006/main">
              <a:ext uri="{FF2B5EF4-FFF2-40B4-BE49-F238E27FC236}">
                <a16:creationId xmlns:a16="http://schemas.microsoft.com/office/drawing/2014/main" id="{29720457-B838-4BDA-9D31-188939BA94DB}"/>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6AC30360-E0D7-468C-ADF6-0A10ECCC1A9C}"/>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score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8EFC2BE0-60D5-450F-9CC2-70599B8179FB}"/>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bonus is no</a:t>
            </a:r>
            <a:r>
              <a:rPr sz="2250">
                <a:solidFill>
                  <a:srgbClr val="59636E"/>
                </a:solidFill>
                <a:latin typeface="Menlo"/>
                <a:ea typeface="Menlo"/>
                <a:cs typeface="Menlo"/>
              </a:rPr>
              <a:t> longer in scope </a:t>
            </a:r>
            <a:r>
              <a:rPr sz="2250">
                <a:solidFill>
                  <a:srgbClr val="59636E"/>
                </a:solidFill>
                <a:latin typeface="Menlo"/>
                <a:ea typeface="Menlo"/>
                <a:cs typeface="Menlo"/>
              </a:rPr>
              <a:t>here</a:t>
            </a:r>
          </a:p>
        </p:txBody>
      </p:sp>
      <p:sp>
        <p:nvSpPr>
          <p:cNvPr id="11" name="cue-1">
            <a:extLst xmlns:a="http://schemas.openxmlformats.org/drawingml/2006/main">
              <a:ext uri="{FF2B5EF4-FFF2-40B4-BE49-F238E27FC236}">
                <a16:creationId xmlns:a16="http://schemas.microsoft.com/office/drawing/2014/main" id="{C1867E1E-2379-4409-BBA6-1D7801A0703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Inner code can use outer names. A local name ends with its block.</a:t>
            </a:r>
          </a:p>
        </p:txBody>
      </p:sp>
    </p:spTree>
    <p:extLst>
      <p:ext uri="{BB962C8B-B14F-4D97-AF65-F5344CB8AC3E}">
        <p14:creationId xmlns:p14="http://schemas.microsoft.com/office/powerpoint/2010/main" val="17371263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2125EEBB-F7B9-4151-91E8-141CCEF35F4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C2A5D90-87E9-44C9-AB35-0DDD6B39B07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 / 62</a:t>
            </a:r>
          </a:p>
        </p:txBody>
      </p:sp>
      <p:sp>
        <p:nvSpPr>
          <p:cNvPr id="3" name="heading-1">
            <a:extLst xmlns:a="http://schemas.openxmlformats.org/drawingml/2006/main">
              <a:ext uri="{FF2B5EF4-FFF2-40B4-BE49-F238E27FC236}">
                <a16:creationId xmlns:a16="http://schemas.microsoft.com/office/drawing/2014/main" id="{9CD63393-5A48-4706-B565-62EBFD7FA35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Compilation and execution</a:t>
            </a:r>
          </a:p>
        </p:txBody>
      </p:sp>
      <p:sp>
        <p:nvSpPr>
          <p:cNvPr id="4" name="code-1">
            <a:extLst xmlns:a="http://schemas.openxmlformats.org/drawingml/2006/main">
              <a:ext uri="{FF2B5EF4-FFF2-40B4-BE49-F238E27FC236}">
                <a16:creationId xmlns:a16="http://schemas.microsoft.com/office/drawing/2014/main" id="{E6FDB428-19AE-495A-8D33-5CCDD389649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"Hello</a:t>
            </a:r>
            <a:r>
              <a:rPr sz="2250">
                <a:solidFill>
                  <a:srgbClr val="0B6B3A"/>
                </a:solidFill>
                <a:latin typeface="Menlo"/>
                <a:ea typeface="Menlo"/>
                <a:cs typeface="Menlo"/>
              </a:rPr>
              <a:t>\n</a:t>
            </a:r>
            <a:r>
              <a:rPr sz="2250">
                <a:solidFill>
                  <a:srgbClr val="0B6B3A"/>
                </a:solidFill>
                <a:latin typeface="Menlo"/>
                <a:ea typeface="Menlo"/>
                <a:cs typeface="Menlo"/>
              </a:rPr>
              <a:t>"</a:t>
            </a:r>
          </a:p>
        </p:txBody>
      </p:sp>
      <p:sp>
        <p:nvSpPr>
          <p:cNvPr id="5" name="cue-1">
            <a:extLst xmlns:a="http://schemas.openxmlformats.org/drawingml/2006/main">
              <a:ext uri="{FF2B5EF4-FFF2-40B4-BE49-F238E27FC236}">
                <a16:creationId xmlns:a16="http://schemas.microsoft.com/office/drawing/2014/main" id="{3DEA356A-364C-48F5-A947-F74A1B31BB49}"/>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semicolon is missing. Will this version print Hello?</a:t>
            </a:r>
          </a:p>
        </p:txBody>
      </p:sp>
    </p:spTree>
    <p:extLst>
      <p:ext uri="{BB962C8B-B14F-4D97-AF65-F5344CB8AC3E}">
        <p14:creationId xmlns:p14="http://schemas.microsoft.com/office/powerpoint/2010/main" val="21073570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BD8075C4-4882-4724-B9B7-5A9D53EC3228}"/>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C19D4C9-C94A-4D56-B9CE-188AE8D5D85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7 / 62</a:t>
            </a:r>
          </a:p>
        </p:txBody>
      </p:sp>
      <p:sp>
        <p:nvSpPr>
          <p:cNvPr id="3" name="heading-1">
            <a:extLst xmlns:a="http://schemas.openxmlformats.org/drawingml/2006/main">
              <a:ext uri="{FF2B5EF4-FFF2-40B4-BE49-F238E27FC236}">
                <a16:creationId xmlns:a16="http://schemas.microsoft.com/office/drawing/2014/main" id="{B414B1D2-D780-4541-8DC5-56A1BC79694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first compiler diagnostic</a:t>
            </a:r>
          </a:p>
        </p:txBody>
      </p:sp>
      <p:sp>
        <p:nvSpPr>
          <p:cNvPr id="4" name="body-1">
            <a:extLst xmlns:a="http://schemas.openxmlformats.org/drawingml/2006/main">
              <a:ext uri="{FF2B5EF4-FFF2-40B4-BE49-F238E27FC236}">
                <a16:creationId xmlns:a16="http://schemas.microsoft.com/office/drawing/2014/main" id="{680B7F66-BCC5-4D12-962D-6ED402871B4A}"/>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Read the file and line number</a:t>
            </a:r>
          </a:p>
        </p:txBody>
      </p:sp>
      <p:sp>
        <p:nvSpPr>
          <p:cNvPr id="5" name="body-2">
            <a:extLst xmlns:a="http://schemas.openxmlformats.org/drawingml/2006/main">
              <a:ext uri="{FF2B5EF4-FFF2-40B4-BE49-F238E27FC236}">
                <a16:creationId xmlns:a16="http://schemas.microsoft.com/office/drawing/2014/main" id="{96CC28CE-54DD-4051-BCD9-B6CD5FF74891}"/>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Inspect that line and the line before it</a:t>
            </a:r>
          </a:p>
        </p:txBody>
      </p:sp>
      <p:sp>
        <p:nvSpPr>
          <p:cNvPr id="6" name="body-3">
            <a:extLst xmlns:a="http://schemas.openxmlformats.org/drawingml/2006/main">
              <a:ext uri="{FF2B5EF4-FFF2-40B4-BE49-F238E27FC236}">
                <a16:creationId xmlns:a16="http://schemas.microsoft.com/office/drawing/2014/main" id="{EF2962D3-AB07-4FA5-AF0F-13DA866CA894}"/>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Fix the first cause, then compile again</a:t>
            </a:r>
          </a:p>
        </p:txBody>
      </p:sp>
    </p:spTree>
    <p:extLst>
      <p:ext uri="{BB962C8B-B14F-4D97-AF65-F5344CB8AC3E}">
        <p14:creationId xmlns:p14="http://schemas.microsoft.com/office/powerpoint/2010/main" val="4188218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E3B74860-8FD5-4C76-9575-344CBC29F125}"/>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F98BA82-B3CA-4C23-BBA0-31FC8AE6517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8 / 62</a:t>
            </a:r>
          </a:p>
        </p:txBody>
      </p:sp>
      <p:sp>
        <p:nvSpPr>
          <p:cNvPr id="3" name="heading-1">
            <a:extLst xmlns:a="http://schemas.openxmlformats.org/drawingml/2006/main">
              <a:ext uri="{FF2B5EF4-FFF2-40B4-BE49-F238E27FC236}">
                <a16:creationId xmlns:a16="http://schemas.microsoft.com/office/drawing/2014/main" id="{3CB95ABC-41C7-497E-85B5-E943FA7A2A9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std:: qualifies a name</a:t>
            </a:r>
          </a:p>
        </p:txBody>
      </p:sp>
      <p:sp>
        <p:nvSpPr>
          <p:cNvPr id="4" name="code-1">
            <a:extLst xmlns:a="http://schemas.openxmlformats.org/drawingml/2006/main">
              <a:ext uri="{FF2B5EF4-FFF2-40B4-BE49-F238E27FC236}">
                <a16:creationId xmlns:a16="http://schemas.microsoft.com/office/drawing/2014/main" id="{6F6D8AC4-673C-469B-8DD2-CA4113810FD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"AIM</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9AD563D1-2279-4B43-9E48-746A04BF6C4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50D28EA8-EA15-4F9E-8C6A-69E985057CD3}"/>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using</a:t>
            </a: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a:t>
            </a:r>
          </a:p>
        </p:txBody>
      </p:sp>
      <p:sp>
        <p:nvSpPr>
          <p:cNvPr id="7" name="code-4">
            <a:extLst xmlns:a="http://schemas.openxmlformats.org/drawingml/2006/main">
              <a:ext uri="{FF2B5EF4-FFF2-40B4-BE49-F238E27FC236}">
                <a16:creationId xmlns:a16="http://schemas.microsoft.com/office/drawing/2014/main" id="{D8C66C80-CFF4-47E7-87BE-4550ED2028D3}"/>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cout &lt;&lt; </a:t>
            </a:r>
            <a:r>
              <a:rPr sz="2250">
                <a:solidFill>
                  <a:srgbClr val="0B6B3A"/>
                </a:solidFill>
                <a:latin typeface="Menlo"/>
                <a:ea typeface="Menlo"/>
                <a:cs typeface="Menlo"/>
              </a:rPr>
              <a:t>"AIM</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6CCFB4A0-D481-46C5-BC72-40915B24B9C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Both forms name the same standard library object.</a:t>
            </a:r>
          </a:p>
        </p:txBody>
      </p:sp>
    </p:spTree>
    <p:extLst>
      <p:ext uri="{BB962C8B-B14F-4D97-AF65-F5344CB8AC3E}">
        <p14:creationId xmlns:p14="http://schemas.microsoft.com/office/powerpoint/2010/main" val="5148961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C9F6A7A5-D84E-4AB8-82EE-849D2D83B05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7B2E99B-C99D-45B1-BBCF-864D4C4CFF38}"/>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9 / 62</a:t>
            </a:r>
          </a:p>
        </p:txBody>
      </p:sp>
      <p:sp>
        <p:nvSpPr>
          <p:cNvPr id="3" name="heading-1">
            <a:extLst xmlns:a="http://schemas.openxmlformats.org/drawingml/2006/main">
              <a:ext uri="{FF2B5EF4-FFF2-40B4-BE49-F238E27FC236}">
                <a16:creationId xmlns:a16="http://schemas.microsoft.com/office/drawing/2014/main" id="{F81C12A8-0390-439B-83CC-F33E44E59D67}"/>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Output order</a:t>
            </a:r>
          </a:p>
        </p:txBody>
      </p:sp>
      <p:sp>
        <p:nvSpPr>
          <p:cNvPr id="4" name="code-1">
            <a:extLst xmlns:a="http://schemas.openxmlformats.org/drawingml/2006/main">
              <a:ext uri="{FF2B5EF4-FFF2-40B4-BE49-F238E27FC236}">
                <a16:creationId xmlns:a16="http://schemas.microsoft.com/office/drawing/2014/main" id="{58C10A22-7183-468D-B9FD-4E37E7A264D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85</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EC1FEB76-8158-4F36-AD2F-1FE76FC0FD65}"/>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"score="</a:t>
            </a:r>
            <a:r>
              <a:rPr sz="2250">
                <a:solidFill>
                  <a:srgbClr val="222222"/>
                </a:solidFill>
                <a:latin typeface="Menlo"/>
                <a:ea typeface="Menlo"/>
                <a:cs typeface="Menlo"/>
              </a:rPr>
              <a:t> &lt;&lt; score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6" name="cue-1">
            <a:extLst xmlns:a="http://schemas.openxmlformats.org/drawingml/2006/main">
              <a:ext uri="{FF2B5EF4-FFF2-40B4-BE49-F238E27FC236}">
                <a16:creationId xmlns:a16="http://schemas.microsoft.com/office/drawing/2014/main" id="{DDAAEFA2-0C8C-44F9-B863-2DB26DAA736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What appears on screen?</a:t>
            </a:r>
          </a:p>
        </p:txBody>
      </p:sp>
    </p:spTree>
    <p:extLst>
      <p:ext uri="{BB962C8B-B14F-4D97-AF65-F5344CB8AC3E}">
        <p14:creationId xmlns:p14="http://schemas.microsoft.com/office/powerpoint/2010/main" val="2046179838"/>
      </p:ext>
    </p:extLst>
  </p:cSld>
</p:sld>
</file>

<file path=ppt/slides/slide1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E21B375A-9FF8-4CFA-9825-6F18CE945378}"/>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530D315-7E5F-4405-82FB-B1115D98B4F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10 / 62</a:t>
            </a:r>
          </a:p>
        </p:txBody>
      </p:sp>
      <p:sp>
        <p:nvSpPr>
          <p:cNvPr id="3" name="heading-1">
            <a:extLst xmlns:a="http://schemas.openxmlformats.org/drawingml/2006/main">
              <a:ext uri="{FF2B5EF4-FFF2-40B4-BE49-F238E27FC236}">
                <a16:creationId xmlns:a16="http://schemas.microsoft.com/office/drawing/2014/main" id="{1FF2B6E2-77BF-48A5-AFC8-EEA85E263BFB}"/>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Input and types</a:t>
            </a:r>
          </a:p>
        </p:txBody>
      </p:sp>
      <p:sp>
        <p:nvSpPr>
          <p:cNvPr id="4" name="body-1">
            <a:extLst xmlns:a="http://schemas.openxmlformats.org/drawingml/2006/main">
              <a:ext uri="{FF2B5EF4-FFF2-40B4-BE49-F238E27FC236}">
                <a16:creationId xmlns:a16="http://schemas.microsoft.com/office/drawing/2014/main" id="{BFDCE5B0-661E-4528-8096-20312EFD7B01}"/>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First decide what each value represents</a:t>
            </a:r>
          </a:p>
        </p:txBody>
      </p:sp>
    </p:spTree>
    <p:extLst>
      <p:ext uri="{BB962C8B-B14F-4D97-AF65-F5344CB8AC3E}">
        <p14:creationId xmlns:p14="http://schemas.microsoft.com/office/powerpoint/2010/main" val="16756856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36A0A2DC-10AB-443B-892A-0D748075396C}"/>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6D56B1B-FEA3-49B3-9B5A-1FA7500F9C5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11 / 62</a:t>
            </a:r>
          </a:p>
        </p:txBody>
      </p:sp>
      <p:sp>
        <p:nvSpPr>
          <p:cNvPr id="3" name="heading-1">
            <a:extLst xmlns:a="http://schemas.openxmlformats.org/drawingml/2006/main">
              <a:ext uri="{FF2B5EF4-FFF2-40B4-BE49-F238E27FC236}">
                <a16:creationId xmlns:a16="http://schemas.microsoft.com/office/drawing/2014/main" id="{8AFAE771-8B14-4081-B835-E81DFFB93DF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Variable types</a:t>
            </a:r>
          </a:p>
        </p:txBody>
      </p:sp>
      <p:sp>
        <p:nvSpPr>
          <p:cNvPr id="4" name="code-1">
            <a:extLst xmlns:a="http://schemas.openxmlformats.org/drawingml/2006/main">
              <a:ext uri="{FF2B5EF4-FFF2-40B4-BE49-F238E27FC236}">
                <a16:creationId xmlns:a16="http://schemas.microsoft.com/office/drawing/2014/main" id="{FF8CF9AD-FA9C-496A-BE9E-E95D3BD4D5E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count </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0760AC57-4D82-4248-BD3E-E3822CD9BF3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double</a:t>
            </a:r>
            <a:r>
              <a:rPr sz="2250">
                <a:solidFill>
                  <a:srgbClr val="222222"/>
                </a:solidFill>
                <a:latin typeface="Menlo"/>
                <a:ea typeface="Menlo"/>
                <a:cs typeface="Menlo"/>
              </a:rPr>
              <a:t> average </a:t>
            </a:r>
            <a:r>
              <a:rPr sz="2250">
                <a:solidFill>
                  <a:srgbClr val="222222"/>
                </a:solidFill>
                <a:latin typeface="Menlo"/>
                <a:ea typeface="Menlo"/>
                <a:cs typeface="Menlo"/>
              </a:rPr>
              <a:t>= </a:t>
            </a:r>
            <a:r>
              <a:rPr sz="2250">
                <a:solidFill>
                  <a:srgbClr val="9A4D00"/>
                </a:solidFill>
                <a:latin typeface="Menlo"/>
                <a:ea typeface="Menlo"/>
                <a:cs typeface="Menlo"/>
              </a:rPr>
              <a:t>82.5</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9735D1B8-0595-4B02-9D2F-4A24812378F3}"/>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char</a:t>
            </a:r>
            <a:r>
              <a:rPr sz="2250">
                <a:solidFill>
                  <a:srgbClr val="222222"/>
                </a:solidFill>
                <a:latin typeface="Menlo"/>
                <a:ea typeface="Menlo"/>
                <a:cs typeface="Menlo"/>
              </a:rPr>
              <a:t> grade </a:t>
            </a:r>
            <a:r>
              <a:rPr sz="2250">
                <a:solidFill>
                  <a:srgbClr val="222222"/>
                </a:solidFill>
                <a:latin typeface="Menlo"/>
                <a:ea typeface="Menlo"/>
                <a:cs typeface="Menlo"/>
              </a:rPr>
              <a:t>= </a:t>
            </a:r>
            <a:r>
              <a:rPr sz="2250">
                <a:solidFill>
                  <a:srgbClr val="0B6B3A"/>
                </a:solidFill>
                <a:latin typeface="Menlo"/>
                <a:ea typeface="Menlo"/>
                <a:cs typeface="Menlo"/>
              </a:rPr>
              <a:t>'A'</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516075A6-2CDF-4D6E-B8C0-C24D55E73943}"/>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t>
            </a:r>
            <a:r>
              <a:rPr sz="2250">
                <a:solidFill>
                  <a:srgbClr val="222222"/>
                </a:solidFill>
                <a:latin typeface="Menlo"/>
                <a:ea typeface="Menlo"/>
                <a:cs typeface="Menlo"/>
              </a:rPr>
              <a:t>string </a:t>
            </a:r>
            <a:r>
              <a:rPr sz="2250">
                <a:solidFill>
                  <a:srgbClr val="6F42C1"/>
                </a:solidFill>
                <a:latin typeface="Menlo"/>
                <a:ea typeface="Menlo"/>
                <a:cs typeface="Menlo"/>
              </a:rPr>
              <a:t>name</a:t>
            </a:r>
            <a:r>
              <a:rPr sz="2250">
                <a:solidFill>
                  <a:srgbClr val="222222"/>
                </a:solidFill>
                <a:latin typeface="Menlo"/>
                <a:ea typeface="Menlo"/>
                <a:cs typeface="Menlo"/>
              </a:rPr>
              <a:t>(</a:t>
            </a:r>
            <a:r>
              <a:rPr sz="2250">
                <a:solidFill>
                  <a:srgbClr val="0B6B3A"/>
                </a:solidFill>
                <a:latin typeface="Menlo"/>
                <a:ea typeface="Menlo"/>
                <a:cs typeface="Menlo"/>
              </a:rPr>
              <a:t>"anon"</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0838FCCB-F719-4B92-A355-A8AA86314C20}"/>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bool</a:t>
            </a:r>
            <a:r>
              <a:rPr sz="2250">
                <a:solidFill>
                  <a:srgbClr val="222222"/>
                </a:solidFill>
                <a:latin typeface="Menlo"/>
                <a:ea typeface="Menlo"/>
                <a:cs typeface="Menlo"/>
              </a:rPr>
              <a:t> passed </a:t>
            </a:r>
            <a:r>
              <a:rPr sz="2250">
                <a:solidFill>
                  <a:srgbClr val="222222"/>
                </a:solidFill>
                <a:latin typeface="Menlo"/>
                <a:ea typeface="Menlo"/>
                <a:cs typeface="Menlo"/>
              </a:rPr>
              <a:t>= </a:t>
            </a:r>
            <a:r>
              <a:rPr sz="2250">
                <a:solidFill>
                  <a:srgbClr val="005CC5"/>
                </a:solidFill>
                <a:latin typeface="Menlo"/>
                <a:ea typeface="Menlo"/>
                <a:cs typeface="Menlo"/>
              </a:rPr>
              <a:t>true</a:t>
            </a: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1AC80292-A6BD-49A0-81E7-193BFD488E55}"/>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Integer / fraction / character / string / condition</a:t>
            </a:r>
          </a:p>
        </p:txBody>
      </p:sp>
    </p:spTree>
    <p:extLst>
      <p:ext uri="{BB962C8B-B14F-4D97-AF65-F5344CB8AC3E}">
        <p14:creationId xmlns:p14="http://schemas.microsoft.com/office/powerpoint/2010/main" val="17110118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47298CE1-E266-4A6D-8B3D-4A38D8FAF23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8AA9869-F37B-4891-AE80-2BCC504D6803}"/>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12 / 62</a:t>
            </a:r>
          </a:p>
        </p:txBody>
      </p:sp>
      <p:sp>
        <p:nvSpPr>
          <p:cNvPr id="3" name="heading-1">
            <a:extLst xmlns:a="http://schemas.openxmlformats.org/drawingml/2006/main">
              <a:ext uri="{FF2B5EF4-FFF2-40B4-BE49-F238E27FC236}">
                <a16:creationId xmlns:a16="http://schemas.microsoft.com/office/drawing/2014/main" id="{F5A32489-A79E-4D46-91E5-AAA98756BB7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Initialization and later assignment</a:t>
            </a:r>
          </a:p>
        </p:txBody>
      </p:sp>
      <p:sp>
        <p:nvSpPr>
          <p:cNvPr id="4" name="code-1">
            <a:extLst xmlns:a="http://schemas.openxmlformats.org/drawingml/2006/main">
              <a:ext uri="{FF2B5EF4-FFF2-40B4-BE49-F238E27FC236}">
                <a16:creationId xmlns:a16="http://schemas.microsoft.com/office/drawing/2014/main" id="{CFAF26DC-9559-4A4E-A67B-C9FF874CF18F}"/>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count </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initialization</a:t>
            </a:r>
          </a:p>
        </p:txBody>
      </p:sp>
      <p:sp>
        <p:nvSpPr>
          <p:cNvPr id="5" name="code-2">
            <a:extLst xmlns:a="http://schemas.openxmlformats.org/drawingml/2006/main">
              <a:ext uri="{FF2B5EF4-FFF2-40B4-BE49-F238E27FC236}">
                <a16:creationId xmlns:a16="http://schemas.microsoft.com/office/drawing/2014/main" id="{0AB1556B-E7D2-42EE-9A22-C60FDC95F2D8}"/>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count </a:t>
            </a:r>
            <a:r>
              <a:rPr sz="2250">
                <a:solidFill>
                  <a:srgbClr val="222222"/>
                </a:solidFill>
                <a:latin typeface="Menlo"/>
                <a:ea typeface="Menlo"/>
                <a:cs typeface="Menlo"/>
              </a:rPr>
              <a:t>= </a:t>
            </a:r>
            <a:r>
              <a:rPr sz="2250">
                <a:solidFill>
                  <a:srgbClr val="9A4D00"/>
                </a:solidFill>
                <a:latin typeface="Menlo"/>
                <a:ea typeface="Menlo"/>
                <a:cs typeface="Menlo"/>
              </a:rPr>
              <a:t>5</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assignment</a:t>
            </a:r>
          </a:p>
        </p:txBody>
      </p:sp>
      <p:sp>
        <p:nvSpPr>
          <p:cNvPr id="6" name="code-3">
            <a:extLst xmlns:a="http://schemas.openxmlformats.org/drawingml/2006/main">
              <a:ext uri="{FF2B5EF4-FFF2-40B4-BE49-F238E27FC236}">
                <a16:creationId xmlns:a16="http://schemas.microsoft.com/office/drawing/2014/main" id="{A6180681-4754-425D-8430-6A897D52E58B}"/>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7" name="code-4">
            <a:extLst xmlns:a="http://schemas.openxmlformats.org/drawingml/2006/main">
              <a:ext uri="{FF2B5EF4-FFF2-40B4-BE49-F238E27FC236}">
                <a16:creationId xmlns:a16="http://schemas.microsoft.com/office/drawing/2014/main" id="{C9A2017F-634E-48C3-BA0A-5EC1EB3E665D}"/>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double</a:t>
            </a:r>
            <a:r>
              <a:rPr sz="2250">
                <a:solidFill>
                  <a:srgbClr val="222222"/>
                </a:solidFill>
                <a:latin typeface="Menlo"/>
                <a:ea typeface="Menlo"/>
                <a:cs typeface="Menlo"/>
              </a:rPr>
              <a:t> measured </a:t>
            </a:r>
            <a:r>
              <a:rPr sz="2250">
                <a:solidFill>
                  <a:srgbClr val="222222"/>
                </a:solidFill>
                <a:latin typeface="Menlo"/>
                <a:ea typeface="Menlo"/>
                <a:cs typeface="Menlo"/>
              </a:rPr>
              <a:t>= </a:t>
            </a:r>
            <a:r>
              <a:rPr sz="2250">
                <a:solidFill>
                  <a:srgbClr val="9A4D00"/>
                </a:solidFill>
                <a:latin typeface="Menlo"/>
                <a:ea typeface="Menlo"/>
                <a:cs typeface="Menlo"/>
              </a:rPr>
              <a:t>3.5</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2B5117FE-B3A2-4D7D-B62B-5373EC61B7B1}"/>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truncated </a:t>
            </a:r>
            <a:r>
              <a:rPr sz="2250">
                <a:solidFill>
                  <a:srgbClr val="222222"/>
                </a:solidFill>
                <a:latin typeface="Menlo"/>
                <a:ea typeface="Menlo"/>
                <a:cs typeface="Menlo"/>
              </a:rPr>
              <a:t>= </a:t>
            </a:r>
            <a:r>
              <a:rPr sz="2250">
                <a:solidFill>
                  <a:srgbClr val="005CC5"/>
                </a:solidFill>
                <a:latin typeface="Menlo"/>
                <a:ea typeface="Menlo"/>
                <a:cs typeface="Menlo"/>
              </a:rPr>
              <a:t>static_cast</a:t>
            </a:r>
            <a:r>
              <a:rPr sz="2250">
                <a:solidFill>
                  <a:srgbClr val="222222"/>
                </a:solidFill>
                <a:latin typeface="Menlo"/>
                <a:ea typeface="Menlo"/>
                <a:cs typeface="Menlo"/>
              </a:rPr>
              <a:t>&lt;</a:t>
            </a:r>
            <a:r>
              <a:rPr sz="2250">
                <a:solidFill>
                  <a:srgbClr val="6F42C1"/>
                </a:solidFill>
                <a:latin typeface="Menlo"/>
                <a:ea typeface="Menlo"/>
                <a:cs typeface="Menlo"/>
              </a:rPr>
              <a:t>int</a:t>
            </a:r>
            <a:r>
              <a:rPr sz="2250">
                <a:solidFill>
                  <a:srgbClr val="222222"/>
                </a:solidFill>
                <a:latin typeface="Menlo"/>
                <a:ea typeface="Menlo"/>
                <a:cs typeface="Menlo"/>
              </a:rPr>
              <a:t>&gt;</a:t>
            </a:r>
            <a:r>
              <a:rPr sz="2250">
                <a:solidFill>
                  <a:srgbClr val="222222"/>
                </a:solidFill>
                <a:latin typeface="Menlo"/>
                <a:ea typeface="Menlo"/>
                <a:cs typeface="Menlo"/>
              </a:rPr>
              <a:t>(measured)</a:t>
            </a: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ECFBD0C5-905F-4627-8A23-F17BECA18FF8}"/>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Initialization creates an object. Assignment changes an existing one.</a:t>
            </a:r>
          </a:p>
        </p:txBody>
      </p:sp>
      <p:sp>
        <p:nvSpPr>
          <p:cNvPr id="10" name="cue-2">
            <a:extLst xmlns:a="http://schemas.openxmlformats.org/drawingml/2006/main">
              <a:ext uri="{FF2B5EF4-FFF2-40B4-BE49-F238E27FC236}">
                <a16:creationId xmlns:a16="http://schemas.microsoft.com/office/drawing/2014/main" id="{B98EAED7-F855-4F14-A5AF-1DFB338CBF5C}"/>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An explicit conversion may still discard a fractional part.</a:t>
            </a:r>
          </a:p>
        </p:txBody>
      </p:sp>
    </p:spTree>
    <p:extLst>
      <p:ext uri="{BB962C8B-B14F-4D97-AF65-F5344CB8AC3E}">
        <p14:creationId xmlns:p14="http://schemas.microsoft.com/office/powerpoint/2010/main" val="3859753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9EB0CEFD-6D23-4ECD-A892-7BFA9ED5D36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2B76AD5-2BC5-4E20-8806-93C6675E8AC8}"/>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13 / 62</a:t>
            </a:r>
          </a:p>
        </p:txBody>
      </p:sp>
      <p:sp>
        <p:nvSpPr>
          <p:cNvPr id="3" name="heading-1">
            <a:extLst xmlns:a="http://schemas.openxmlformats.org/drawingml/2006/main">
              <a:ext uri="{FF2B5EF4-FFF2-40B4-BE49-F238E27FC236}">
                <a16:creationId xmlns:a16="http://schemas.microsoft.com/office/drawing/2014/main" id="{8F7219F5-C483-4C73-A7F2-9CBFEFD70C35}"/>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Types determine representable values</a:t>
            </a:r>
          </a:p>
        </p:txBody>
      </p:sp>
      <p:sp>
        <p:nvSpPr>
          <p:cNvPr id="4" name="code-1">
            <a:extLst xmlns:a="http://schemas.openxmlformats.org/drawingml/2006/main">
              <a:ext uri="{FF2B5EF4-FFF2-40B4-BE49-F238E27FC236}">
                <a16:creationId xmlns:a16="http://schemas.microsoft.com/office/drawing/2014/main" id="{3A8C6EB5-949C-46E1-9AE3-293EE1C5A55F}"/>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whole </a:t>
            </a:r>
            <a:r>
              <a:rPr sz="2250">
                <a:solidFill>
                  <a:srgbClr val="222222"/>
                </a:solidFill>
                <a:latin typeface="Menlo"/>
                <a:ea typeface="Menlo"/>
                <a:cs typeface="Menlo"/>
              </a:rPr>
              <a:t>= </a:t>
            </a:r>
            <a:r>
              <a:rPr sz="2250">
                <a:solidFill>
                  <a:srgbClr val="9A4D00"/>
                </a:solidFill>
                <a:latin typeface="Menlo"/>
                <a:ea typeface="Menlo"/>
                <a:cs typeface="Menlo"/>
              </a:rPr>
              <a:t>85</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BB414500-DFFE-4D38-B2C4-3516B911303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double</a:t>
            </a:r>
            <a:r>
              <a:rPr sz="2250">
                <a:solidFill>
                  <a:srgbClr val="222222"/>
                </a:solidFill>
                <a:latin typeface="Menlo"/>
                <a:ea typeface="Menlo"/>
                <a:cs typeface="Menlo"/>
              </a:rPr>
              <a:t> fraction </a:t>
            </a:r>
            <a:r>
              <a:rPr sz="2250">
                <a:solidFill>
                  <a:srgbClr val="222222"/>
                </a:solidFill>
                <a:latin typeface="Menlo"/>
                <a:ea typeface="Menlo"/>
                <a:cs typeface="Menlo"/>
              </a:rPr>
              <a:t>= </a:t>
            </a:r>
            <a:r>
              <a:rPr sz="2250">
                <a:solidFill>
                  <a:srgbClr val="9A4D00"/>
                </a:solidFill>
                <a:latin typeface="Menlo"/>
                <a:ea typeface="Menlo"/>
                <a:cs typeface="Menlo"/>
              </a:rPr>
              <a:t>85.5</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D0E2266B-2AA7-4681-B7BE-33926D936D1C}"/>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7" name="code-4">
            <a:extLst xmlns:a="http://schemas.openxmlformats.org/drawingml/2006/main">
              <a:ext uri="{FF2B5EF4-FFF2-40B4-BE49-F238E27FC236}">
                <a16:creationId xmlns:a16="http://schemas.microsoft.com/office/drawing/2014/main" id="{44804AE6-864E-4100-BDC6-D7B78B92251D}"/>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05CC5"/>
                </a:solidFill>
                <a:latin typeface="Menlo"/>
                <a:ea typeface="Menlo"/>
                <a:cs typeface="Menlo"/>
              </a:rPr>
              <a:t>sizeof</a:t>
            </a:r>
            <a:r>
              <a:rPr sz="2250">
                <a:solidFill>
                  <a:srgbClr val="222222"/>
                </a:solidFill>
                <a:latin typeface="Menlo"/>
                <a:ea typeface="Menlo"/>
                <a:cs typeface="Menlo"/>
              </a:rPr>
              <a:t>(whole)</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653D90F9-17CB-41A3-9F90-FECD6E4A2427}"/>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05CC5"/>
                </a:solidFill>
                <a:latin typeface="Menlo"/>
                <a:ea typeface="Menlo"/>
                <a:cs typeface="Menlo"/>
              </a:rPr>
              <a:t>sizeof</a:t>
            </a:r>
            <a:r>
              <a:rPr sz="2250">
                <a:solidFill>
                  <a:srgbClr val="222222"/>
                </a:solidFill>
                <a:latin typeface="Menlo"/>
                <a:ea typeface="Menlo"/>
                <a:cs typeface="Menlo"/>
              </a:rPr>
              <a:t>(fraction)</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66574EB3-95FE-481B-A746-36D2686BF7E7}"/>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Integers have bounds. Floating values have limited precision.</a:t>
            </a:r>
          </a:p>
        </p:txBody>
      </p:sp>
      <p:sp>
        <p:nvSpPr>
          <p:cNvPr id="10" name="cue-2">
            <a:extLst xmlns:a="http://schemas.openxmlformats.org/drawingml/2006/main">
              <a:ext uri="{FF2B5EF4-FFF2-40B4-BE49-F238E27FC236}">
                <a16:creationId xmlns:a16="http://schemas.microsoft.com/office/drawing/2014/main" id="{274BBC89-5AF7-4765-AEBF-0A0D84AB6C2D}"/>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Type sizes depend on the implementation.</a:t>
            </a:r>
          </a:p>
        </p:txBody>
      </p:sp>
    </p:spTree>
    <p:extLst>
      <p:ext uri="{BB962C8B-B14F-4D97-AF65-F5344CB8AC3E}">
        <p14:creationId xmlns:p14="http://schemas.microsoft.com/office/powerpoint/2010/main" val="7727597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CAA2DE36-79FD-4B95-A049-7BA2CA6E52A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9B195D45-A802-4386-9D97-E5645B2CE854}"/>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14 / 62</a:t>
            </a:r>
          </a:p>
        </p:txBody>
      </p:sp>
      <p:sp>
        <p:nvSpPr>
          <p:cNvPr id="3" name="heading-1">
            <a:extLst xmlns:a="http://schemas.openxmlformats.org/drawingml/2006/main">
              <a:ext uri="{FF2B5EF4-FFF2-40B4-BE49-F238E27FC236}">
                <a16:creationId xmlns:a16="http://schemas.microsoft.com/office/drawing/2014/main" id="{872DE9C1-E144-4120-9683-6817CD95AB3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Input follows extraction order</a:t>
            </a:r>
          </a:p>
        </p:txBody>
      </p:sp>
      <p:sp>
        <p:nvSpPr>
          <p:cNvPr id="4" name="code-1">
            <a:extLst xmlns:a="http://schemas.openxmlformats.org/drawingml/2006/main">
              <a:ext uri="{FF2B5EF4-FFF2-40B4-BE49-F238E27FC236}">
                <a16:creationId xmlns:a16="http://schemas.microsoft.com/office/drawing/2014/main" id="{CD837EEA-9080-4775-A879-399B9110BC10}"/>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222222"/>
                </a:solidFill>
                <a:latin typeface="Menlo"/>
                <a:ea typeface="Menlo"/>
                <a:cs typeface="Menlo"/>
              </a:rPr>
              <a:t>= </a:t>
            </a:r>
            <a:r>
              <a:rPr sz="2250">
                <a:solidFill>
                  <a:srgbClr val="9A4D00"/>
                </a:solidFill>
                <a:latin typeface="Menlo"/>
                <a:ea typeface="Menlo"/>
                <a:cs typeface="Menlo"/>
              </a:rPr>
              <a:t>0</a:t>
            </a:r>
            <a:r>
              <a:rPr sz="2250">
                <a:solidFill>
                  <a:srgbClr val="222222"/>
                </a:solidFill>
                <a:latin typeface="Menlo"/>
                <a:ea typeface="Menlo"/>
                <a:cs typeface="Menlo"/>
              </a:rPr>
              <a:t>, b = </a:t>
            </a:r>
            <a:r>
              <a:rPr sz="2250">
                <a:solidFill>
                  <a:srgbClr val="9A4D00"/>
                </a:solidFill>
                <a:latin typeface="Menlo"/>
                <a:ea typeface="Menlo"/>
                <a:cs typeface="Menlo"/>
              </a:rPr>
              <a:t>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68D73FF2-66C7-4D79-A26E-3E61FDBD979B}"/>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cin &gt;&gt; a &gt;&gt; b;</a:t>
            </a:r>
          </a:p>
        </p:txBody>
      </p:sp>
      <p:sp>
        <p:nvSpPr>
          <p:cNvPr id="6" name="code-3">
            <a:extLst xmlns:a="http://schemas.openxmlformats.org/drawingml/2006/main">
              <a:ext uri="{FF2B5EF4-FFF2-40B4-BE49-F238E27FC236}">
                <a16:creationId xmlns:a16="http://schemas.microsoft.com/office/drawing/2014/main" id="{ADB3F833-6887-423A-905A-06088F237088}"/>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 - b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C43FD292-5E5A-4B75-8A70-A4A2A7B8297C}"/>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Input 8 4. What is printed? What if they are on separate lines?</a:t>
            </a:r>
          </a:p>
        </p:txBody>
      </p:sp>
    </p:spTree>
    <p:extLst>
      <p:ext uri="{BB962C8B-B14F-4D97-AF65-F5344CB8AC3E}">
        <p14:creationId xmlns:p14="http://schemas.microsoft.com/office/powerpoint/2010/main" val="8608409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A28F5947-7799-49D3-861A-4241CD13023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03638DE-5C11-47ED-95E5-81193F9DB82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15 / 62</a:t>
            </a:r>
          </a:p>
        </p:txBody>
      </p:sp>
      <p:sp>
        <p:nvSpPr>
          <p:cNvPr id="3" name="heading-1">
            <a:extLst xmlns:a="http://schemas.openxmlformats.org/drawingml/2006/main">
              <a:ext uri="{FF2B5EF4-FFF2-40B4-BE49-F238E27FC236}">
                <a16:creationId xmlns:a16="http://schemas.microsoft.com/office/drawing/2014/main" id="{851B901F-6EB2-45A7-BB7E-2059297C4E7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Token extraction and line input</a:t>
            </a:r>
          </a:p>
        </p:txBody>
      </p:sp>
      <p:sp>
        <p:nvSpPr>
          <p:cNvPr id="4" name="code-1">
            <a:extLst xmlns:a="http://schemas.openxmlformats.org/drawingml/2006/main">
              <a:ext uri="{FF2B5EF4-FFF2-40B4-BE49-F238E27FC236}">
                <a16:creationId xmlns:a16="http://schemas.microsoft.com/office/drawing/2014/main" id="{D2A429F6-3F2A-4878-908F-D6A37523601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 first, second;</a:t>
            </a:r>
          </a:p>
        </p:txBody>
      </p:sp>
      <p:sp>
        <p:nvSpPr>
          <p:cNvPr id="5" name="code-2">
            <a:extLst xmlns:a="http://schemas.openxmlformats.org/drawingml/2006/main">
              <a:ext uri="{FF2B5EF4-FFF2-40B4-BE49-F238E27FC236}">
                <a16:creationId xmlns:a16="http://schemas.microsoft.com/office/drawing/2014/main" id="{7AE7504D-B9E9-41F6-A464-BDBBF9C001E4}"/>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cin &gt;&gt; first &gt;&gt; second;</a:t>
            </a:r>
          </a:p>
        </p:txBody>
      </p:sp>
      <p:sp>
        <p:nvSpPr>
          <p:cNvPr id="6" name="code-3">
            <a:extLst xmlns:a="http://schemas.openxmlformats.org/drawingml/2006/main">
              <a:ext uri="{FF2B5EF4-FFF2-40B4-BE49-F238E27FC236}">
                <a16:creationId xmlns:a16="http://schemas.microsoft.com/office/drawing/2014/main" id="{1E343FCC-3F58-4EE3-B8E9-0EDC4830F09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Input: poppin party</a:t>
            </a:r>
          </a:p>
        </p:txBody>
      </p:sp>
      <p:sp>
        <p:nvSpPr>
          <p:cNvPr id="7" name="code-4">
            <a:extLst xmlns:a="http://schemas.openxmlformats.org/drawingml/2006/main">
              <a:ext uri="{FF2B5EF4-FFF2-40B4-BE49-F238E27FC236}">
                <a16:creationId xmlns:a16="http://schemas.microsoft.com/office/drawing/2014/main" id="{F078637B-2571-48B5-BEFE-C7CC6ECDA82F}"/>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first = "poppin", second = "party"</a:t>
            </a:r>
          </a:p>
        </p:txBody>
      </p:sp>
      <p:sp>
        <p:nvSpPr>
          <p:cNvPr id="8" name="cue-1">
            <a:extLst xmlns:a="http://schemas.openxmlformats.org/drawingml/2006/main">
              <a:ext uri="{FF2B5EF4-FFF2-40B4-BE49-F238E27FC236}">
                <a16:creationId xmlns:a16="http://schemas.microsoft.com/office/drawing/2014/main" id="{4347F437-E6AA-410C-AFD5-EC8E27763F6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&gt;&gt; reads whitespace-separated tokens. getline reads a line.</a:t>
            </a:r>
          </a:p>
        </p:txBody>
      </p:sp>
    </p:spTree>
    <p:extLst>
      <p:ext uri="{BB962C8B-B14F-4D97-AF65-F5344CB8AC3E}">
        <p14:creationId xmlns:p14="http://schemas.microsoft.com/office/powerpoint/2010/main" val="16861473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4DECBD65-C951-4FE1-AADF-6C7D1F784A41}"/>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25DFCF0D-B838-4E39-8CFE-473A2FACDD8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16 / 62</a:t>
            </a:r>
          </a:p>
        </p:txBody>
      </p:sp>
      <p:sp>
        <p:nvSpPr>
          <p:cNvPr id="3" name="heading-1">
            <a:extLst xmlns:a="http://schemas.openxmlformats.org/drawingml/2006/main">
              <a:ext uri="{FF2B5EF4-FFF2-40B4-BE49-F238E27FC236}">
                <a16:creationId xmlns:a16="http://schemas.microsoft.com/office/drawing/2014/main" id="{93249BD5-DDEA-4271-A6AB-2D9F84DB84F8}"/>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Failed input</a:t>
            </a:r>
          </a:p>
        </p:txBody>
      </p:sp>
      <p:sp>
        <p:nvSpPr>
          <p:cNvPr id="4" name="code-1">
            <a:extLst xmlns:a="http://schemas.openxmlformats.org/drawingml/2006/main">
              <a:ext uri="{FF2B5EF4-FFF2-40B4-BE49-F238E27FC236}">
                <a16:creationId xmlns:a16="http://schemas.microsoft.com/office/drawing/2014/main" id="{7AD12156-FDEE-403B-968B-16C957CE9B6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118E92CE-97D4-49B1-A94F-AB87FB24BAB8}"/>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222222"/>
                </a:solidFill>
                <a:latin typeface="Menlo"/>
                <a:ea typeface="Menlo"/>
                <a:cs typeface="Menlo"/>
              </a:rPr>
              <a:t>(std::cin &gt;&gt; score)</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DFEC317B-BC6C-4955-AD86-0532A07DE4AA}"/>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"invalid input</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52B9EEEE-16D9-4ABF-A10D-86D671FBDDE7}"/>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return</a:t>
            </a:r>
            <a:r>
              <a:rPr sz="2250">
                <a:solidFill>
                  <a:srgbClr val="222222"/>
                </a:solidFill>
                <a:latin typeface="Menlo"/>
                <a:ea typeface="Menlo"/>
                <a:cs typeface="Menlo"/>
              </a:rPr>
              <a:t> </a:t>
            </a:r>
            <a:r>
              <a:rPr sz="2250">
                <a:solidFill>
                  <a:srgbClr val="9A4D00"/>
                </a:solidFill>
                <a:latin typeface="Menlo"/>
                <a:ea typeface="Menlo"/>
                <a:cs typeface="Menlo"/>
              </a:rPr>
              <a:t>1</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231653D0-939F-4E8A-AEE2-E71BDB71B38E}"/>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18DEBCAF-37D3-4372-AD66-C8CC3A73701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Where does execution go for input abc?</a:t>
            </a:r>
          </a:p>
        </p:txBody>
      </p:sp>
    </p:spTree>
    <p:extLst>
      <p:ext uri="{BB962C8B-B14F-4D97-AF65-F5344CB8AC3E}">
        <p14:creationId xmlns:p14="http://schemas.microsoft.com/office/powerpoint/2010/main" val="359345541"/>
      </p:ext>
    </p:extLst>
  </p:cSld>
</p:sld>
</file>

<file path=ppt/slides/slide1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BAB31F71-E0E8-4F06-9EEA-A7EFF3BDE712}"/>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A957052-3C42-45A4-B7B1-E8A5025C8A07}"/>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17 / 62</a:t>
            </a:r>
          </a:p>
        </p:txBody>
      </p:sp>
      <p:sp>
        <p:nvSpPr>
          <p:cNvPr id="3" name="heading-1">
            <a:extLst xmlns:a="http://schemas.openxmlformats.org/drawingml/2006/main">
              <a:ext uri="{FF2B5EF4-FFF2-40B4-BE49-F238E27FC236}">
                <a16:creationId xmlns:a16="http://schemas.microsoft.com/office/drawing/2014/main" id="{92F3E38C-EF8D-4827-9434-2701DA7EA2E6}"/>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read and print</a:t>
            </a:r>
          </a:p>
        </p:txBody>
      </p:sp>
      <p:sp>
        <p:nvSpPr>
          <p:cNvPr id="4" name="body-1">
            <a:extLst xmlns:a="http://schemas.openxmlformats.org/drawingml/2006/main">
              <a:ext uri="{FF2B5EF4-FFF2-40B4-BE49-F238E27FC236}">
                <a16:creationId xmlns:a16="http://schemas.microsoft.com/office/drawing/2014/main" id="{162CE0E5-1792-4A84-8CEA-E3D55010CDFC}"/>
              </a:ext>
            </a:extLst>
          </p:cNvPr>
          <p:cNvSpPr>
            <a:spLocks xmlns:a="http://schemas.openxmlformats.org/drawingml/2006/main" noGrp="1"/>
          </p:cNvSpPr>
          <p:nvPr/>
        </p:nvSpPr>
        <p:spPr>
          <a:xfrm xmlns:a="http://schemas.openxmlformats.org/drawingml/2006/main">
            <a:off x="800100" y="22383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Read a name and a score</a:t>
            </a:r>
          </a:p>
        </p:txBody>
      </p:sp>
      <p:sp>
        <p:nvSpPr>
          <p:cNvPr id="5" name="body-2">
            <a:extLst xmlns:a="http://schemas.openxmlformats.org/drawingml/2006/main">
              <a:ext uri="{FF2B5EF4-FFF2-40B4-BE49-F238E27FC236}">
                <a16:creationId xmlns:a16="http://schemas.microsoft.com/office/drawing/2014/main" id="{1C815DB9-2505-49FE-AA54-2E4E6DF680E3}"/>
              </a:ext>
            </a:extLst>
          </p:cNvPr>
          <p:cNvSpPr>
            <a:spLocks xmlns:a="http://schemas.openxmlformats.org/drawingml/2006/main" noGrp="1"/>
          </p:cNvSpPr>
          <p:nvPr/>
        </p:nvSpPr>
        <p:spPr>
          <a:xfrm xmlns:a="http://schemas.openxmlformats.org/drawingml/2006/main">
            <a:off x="800100" y="27527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Print anon:85</a:t>
            </a:r>
          </a:p>
        </p:txBody>
      </p:sp>
      <p:sp>
        <p:nvSpPr>
          <p:cNvPr id="6" name="body-3">
            <a:extLst xmlns:a="http://schemas.openxmlformats.org/drawingml/2006/main">
              <a:ext uri="{FF2B5EF4-FFF2-40B4-BE49-F238E27FC236}">
                <a16:creationId xmlns:a16="http://schemas.microsoft.com/office/drawing/2014/main" id="{09E60FDC-5631-4004-B986-47B76B6FB0FE}"/>
              </a:ext>
            </a:extLst>
          </p:cNvPr>
          <p:cNvSpPr>
            <a:spLocks xmlns:a="http://schemas.openxmlformats.org/drawingml/2006/main" noGrp="1"/>
          </p:cNvSpPr>
          <p:nvPr/>
        </p:nvSpPr>
        <p:spPr>
          <a:xfrm xmlns:a="http://schemas.openxmlformats.org/drawingml/2006/main">
            <a:off x="800100" y="32670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Sample input: anon 85</a:t>
            </a:r>
          </a:p>
        </p:txBody>
      </p:sp>
    </p:spTree>
    <p:extLst>
      <p:ext uri="{BB962C8B-B14F-4D97-AF65-F5344CB8AC3E}">
        <p14:creationId xmlns:p14="http://schemas.microsoft.com/office/powerpoint/2010/main" val="3995755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8971123B-B3FD-458A-8C32-C7C8920515C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1A03F6B-DA21-4418-913E-2867A3AC5A23}"/>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18 / 62</a:t>
            </a:r>
          </a:p>
        </p:txBody>
      </p:sp>
      <p:sp>
        <p:nvSpPr>
          <p:cNvPr id="3" name="heading-1">
            <a:extLst xmlns:a="http://schemas.openxmlformats.org/drawingml/2006/main">
              <a:ext uri="{FF2B5EF4-FFF2-40B4-BE49-F238E27FC236}">
                <a16:creationId xmlns:a16="http://schemas.microsoft.com/office/drawing/2014/main" id="{5CC925BF-30B7-49BD-99B1-54530F336BE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Read and print: review</a:t>
            </a:r>
          </a:p>
        </p:txBody>
      </p:sp>
      <p:sp>
        <p:nvSpPr>
          <p:cNvPr id="4" name="code-1">
            <a:extLst xmlns:a="http://schemas.openxmlformats.org/drawingml/2006/main">
              <a:ext uri="{FF2B5EF4-FFF2-40B4-BE49-F238E27FC236}">
                <a16:creationId xmlns:a16="http://schemas.microsoft.com/office/drawing/2014/main" id="{546B8EEF-7C72-4C23-A616-20E5DDAF47CB}"/>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 name;</a:t>
            </a:r>
          </a:p>
        </p:txBody>
      </p:sp>
      <p:sp>
        <p:nvSpPr>
          <p:cNvPr id="5" name="code-2">
            <a:extLst xmlns:a="http://schemas.openxmlformats.org/drawingml/2006/main">
              <a:ext uri="{FF2B5EF4-FFF2-40B4-BE49-F238E27FC236}">
                <a16:creationId xmlns:a16="http://schemas.microsoft.com/office/drawing/2014/main" id="{A526AFD5-F990-4FA8-9F82-C527B7F08425}"/>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0</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CACAA8B7-CEE4-4602-BB0D-E4727274EA08}"/>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cin &gt;&gt; name &gt;&gt; score;</a:t>
            </a:r>
          </a:p>
        </p:txBody>
      </p:sp>
      <p:sp>
        <p:nvSpPr>
          <p:cNvPr id="7" name="code-4">
            <a:extLst xmlns:a="http://schemas.openxmlformats.org/drawingml/2006/main">
              <a:ext uri="{FF2B5EF4-FFF2-40B4-BE49-F238E27FC236}">
                <a16:creationId xmlns:a16="http://schemas.microsoft.com/office/drawing/2014/main" id="{CDDBF8BD-068F-4DBC-8F12-1F211F298449}"/>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name &lt;&lt; </a:t>
            </a:r>
            <a:r>
              <a:rPr sz="2250">
                <a:solidFill>
                  <a:srgbClr val="0B6B3A"/>
                </a:solidFill>
                <a:latin typeface="Menlo"/>
                <a:ea typeface="Menlo"/>
                <a:cs typeface="Menlo"/>
              </a:rPr>
              <a:t>':'</a:t>
            </a:r>
            <a:r>
              <a:rPr sz="2250">
                <a:solidFill>
                  <a:srgbClr val="222222"/>
                </a:solidFill>
                <a:latin typeface="Menlo"/>
                <a:ea typeface="Menlo"/>
                <a:cs typeface="Menlo"/>
              </a:rPr>
              <a:t> &lt;&lt; score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E39975BA-FA70-4E89-BC88-646197E6430B}"/>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Check types, extraction order, and output punctuation.</a:t>
            </a:r>
          </a:p>
        </p:txBody>
      </p:sp>
    </p:spTree>
    <p:extLst>
      <p:ext uri="{BB962C8B-B14F-4D97-AF65-F5344CB8AC3E}">
        <p14:creationId xmlns:p14="http://schemas.microsoft.com/office/powerpoint/2010/main" val="1183211143"/>
      </p:ext>
    </p:extLst>
  </p:cSld>
</p:sld>
</file>

<file path=ppt/slides/slide1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5FD2B9EE-7F79-4D09-A972-72D9AFC18C9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914A9C9C-911E-41E1-9442-52DE157B2A67}"/>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19 / 62</a:t>
            </a:r>
          </a:p>
        </p:txBody>
      </p:sp>
      <p:sp>
        <p:nvSpPr>
          <p:cNvPr id="3" name="heading-1">
            <a:extLst xmlns:a="http://schemas.openxmlformats.org/drawingml/2006/main">
              <a:ext uri="{FF2B5EF4-FFF2-40B4-BE49-F238E27FC236}">
                <a16:creationId xmlns:a16="http://schemas.microsoft.com/office/drawing/2014/main" id="{40484BDB-2BC0-4137-AA60-E3A2F738DC9C}"/>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Operators and decisions</a:t>
            </a:r>
          </a:p>
        </p:txBody>
      </p:sp>
      <p:sp>
        <p:nvSpPr>
          <p:cNvPr id="4" name="body-1">
            <a:extLst xmlns:a="http://schemas.openxmlformats.org/drawingml/2006/main">
              <a:ext uri="{FF2B5EF4-FFF2-40B4-BE49-F238E27FC236}">
                <a16:creationId xmlns:a16="http://schemas.microsoft.com/office/drawing/2014/main" id="{BC96048D-B906-48E5-B3A1-64A7BE18D7AE}"/>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Predict a result, then explain the types</a:t>
            </a:r>
          </a:p>
        </p:txBody>
      </p:sp>
    </p:spTree>
    <p:extLst>
      <p:ext uri="{BB962C8B-B14F-4D97-AF65-F5344CB8AC3E}">
        <p14:creationId xmlns:p14="http://schemas.microsoft.com/office/powerpoint/2010/main" val="183568703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9A8F46A6-697A-4E55-8516-3DC16ADA4FC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C484281-37F3-4B57-9F26-A93B0F63C22C}"/>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20 / 62</a:t>
            </a:r>
          </a:p>
        </p:txBody>
      </p:sp>
      <p:sp>
        <p:nvSpPr>
          <p:cNvPr id="3" name="heading-1">
            <a:extLst xmlns:a="http://schemas.openxmlformats.org/drawingml/2006/main">
              <a:ext uri="{FF2B5EF4-FFF2-40B4-BE49-F238E27FC236}">
                <a16:creationId xmlns:a16="http://schemas.microsoft.com/office/drawing/2014/main" id="{BFBC5D50-538E-4736-965F-A41B72054BE9}"/>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value of 3 / 2</a:t>
            </a:r>
          </a:p>
        </p:txBody>
      </p:sp>
      <p:sp>
        <p:nvSpPr>
          <p:cNvPr id="4" name="code-1">
            <a:extLst xmlns:a="http://schemas.openxmlformats.org/drawingml/2006/main">
              <a:ext uri="{FF2B5EF4-FFF2-40B4-BE49-F238E27FC236}">
                <a16:creationId xmlns:a16="http://schemas.microsoft.com/office/drawing/2014/main" id="{5EAF31B8-A45E-4EC4-97F8-F63620B938FF}"/>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9A4D00"/>
                </a:solidFill>
                <a:latin typeface="Menlo"/>
                <a:ea typeface="Menlo"/>
                <a:cs typeface="Menlo"/>
              </a:rPr>
              <a:t>3</a:t>
            </a:r>
            <a:r>
              <a:rPr sz="2250">
                <a:solidFill>
                  <a:srgbClr val="222222"/>
                </a:solidFill>
                <a:latin typeface="Menlo"/>
                <a:ea typeface="Menlo"/>
                <a:cs typeface="Menlo"/>
              </a:rPr>
              <a:t> / </a:t>
            </a:r>
            <a:r>
              <a:rPr sz="2250">
                <a:solidFill>
                  <a:srgbClr val="9A4D00"/>
                </a:solidFill>
                <a:latin typeface="Menlo"/>
                <a:ea typeface="Menlo"/>
                <a:cs typeface="Menlo"/>
              </a:rPr>
              <a:t>2</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32D9A3D7-DFD6-4270-8614-627CFA7E972A}"/>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9A4D00"/>
                </a:solidFill>
                <a:latin typeface="Menlo"/>
                <a:ea typeface="Menlo"/>
                <a:cs typeface="Menlo"/>
              </a:rPr>
              <a:t>3</a:t>
            </a:r>
            <a:r>
              <a:rPr sz="2250">
                <a:solidFill>
                  <a:srgbClr val="222222"/>
                </a:solidFill>
                <a:latin typeface="Menlo"/>
                <a:ea typeface="Menlo"/>
                <a:cs typeface="Menlo"/>
              </a:rPr>
              <a:t> / </a:t>
            </a:r>
            <a:r>
              <a:rPr sz="2250">
                <a:solidFill>
                  <a:srgbClr val="9A4D00"/>
                </a:solidFill>
                <a:latin typeface="Menlo"/>
                <a:ea typeface="Menlo"/>
                <a:cs typeface="Menlo"/>
              </a:rPr>
              <a:t>2.0</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5E67B428-C94A-42D4-ACBE-44DE4E4E27D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9A4D00"/>
                </a:solidFill>
                <a:latin typeface="Menlo"/>
                <a:ea typeface="Menlo"/>
                <a:cs typeface="Menlo"/>
              </a:rPr>
              <a:t>3</a:t>
            </a:r>
            <a:r>
              <a:rPr sz="2250">
                <a:solidFill>
                  <a:srgbClr val="222222"/>
                </a:solidFill>
                <a:latin typeface="Menlo"/>
                <a:ea typeface="Menlo"/>
                <a:cs typeface="Menlo"/>
              </a:rPr>
              <a:t> % </a:t>
            </a:r>
            <a:r>
              <a:rPr sz="2250">
                <a:solidFill>
                  <a:srgbClr val="9A4D00"/>
                </a:solidFill>
                <a:latin typeface="Menlo"/>
                <a:ea typeface="Menlo"/>
                <a:cs typeface="Menlo"/>
              </a:rPr>
              <a:t>2</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4F51AFD2-E688-45B8-8522-5C1053BCEDA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What does each line print?</a:t>
            </a:r>
          </a:p>
        </p:txBody>
      </p:sp>
    </p:spTree>
    <p:extLst>
      <p:ext uri="{BB962C8B-B14F-4D97-AF65-F5344CB8AC3E}">
        <p14:creationId xmlns:p14="http://schemas.microsoft.com/office/powerpoint/2010/main" val="11966064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27C75272-386E-4EF8-97F4-8401D8288A2C}"/>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CD836994-DB45-43DE-A451-DB1373307C8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21 / 62</a:t>
            </a:r>
          </a:p>
        </p:txBody>
      </p:sp>
      <p:sp>
        <p:nvSpPr>
          <p:cNvPr id="3" name="heading-1">
            <a:extLst xmlns:a="http://schemas.openxmlformats.org/drawingml/2006/main">
              <a:ext uri="{FF2B5EF4-FFF2-40B4-BE49-F238E27FC236}">
                <a16:creationId xmlns:a16="http://schemas.microsoft.com/office/drawing/2014/main" id="{068965A9-3498-4FD6-A545-73E2913426F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When conversion happens</a:t>
            </a:r>
          </a:p>
        </p:txBody>
      </p:sp>
      <p:sp>
        <p:nvSpPr>
          <p:cNvPr id="4" name="code-1">
            <a:extLst xmlns:a="http://schemas.openxmlformats.org/drawingml/2006/main">
              <a:ext uri="{FF2B5EF4-FFF2-40B4-BE49-F238E27FC236}">
                <a16:creationId xmlns:a16="http://schemas.microsoft.com/office/drawing/2014/main" id="{C5A86527-754B-4221-9CE4-7F18E1290676}"/>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 b = </a:t>
            </a:r>
            <a:r>
              <a:rPr sz="2250">
                <a:solidFill>
                  <a:srgbClr val="9A4D00"/>
                </a:solidFill>
                <a:latin typeface="Menlo"/>
                <a:ea typeface="Menlo"/>
                <a:cs typeface="Menlo"/>
              </a:rPr>
              <a:t>2</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897D1B80-1590-4473-AEBA-46A5F274C8B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BE4C4CCA-6F82-455F-BC58-01CDF86599E5}"/>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double</a:t>
            </a:r>
            <a:r>
              <a:rPr sz="2250">
                <a:solidFill>
                  <a:srgbClr val="222222"/>
                </a:solidFill>
                <a:latin typeface="Menlo"/>
                <a:ea typeface="Menlo"/>
                <a:cs typeface="Menlo"/>
              </a:rPr>
              <a:t> x </a:t>
            </a:r>
            <a:r>
              <a:rPr sz="2250">
                <a:solidFill>
                  <a:srgbClr val="222222"/>
                </a:solidFill>
                <a:latin typeface="Menlo"/>
                <a:ea typeface="Menlo"/>
                <a:cs typeface="Menlo"/>
              </a:rPr>
              <a:t>= a / b;</a:t>
            </a:r>
          </a:p>
        </p:txBody>
      </p:sp>
      <p:sp>
        <p:nvSpPr>
          <p:cNvPr id="7" name="code-4">
            <a:extLst xmlns:a="http://schemas.openxmlformats.org/drawingml/2006/main">
              <a:ext uri="{FF2B5EF4-FFF2-40B4-BE49-F238E27FC236}">
                <a16:creationId xmlns:a16="http://schemas.microsoft.com/office/drawing/2014/main" id="{E64C25CE-F1A8-497B-93B6-ED34C3824A7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double</a:t>
            </a:r>
            <a:r>
              <a:rPr sz="2250">
                <a:solidFill>
                  <a:srgbClr val="222222"/>
                </a:solidFill>
                <a:latin typeface="Menlo"/>
                <a:ea typeface="Menlo"/>
                <a:cs typeface="Menlo"/>
              </a:rPr>
              <a:t> y </a:t>
            </a:r>
            <a:r>
              <a:rPr sz="2250">
                <a:solidFill>
                  <a:srgbClr val="222222"/>
                </a:solidFill>
                <a:latin typeface="Menlo"/>
                <a:ea typeface="Menlo"/>
                <a:cs typeface="Menlo"/>
              </a:rPr>
              <a:t>= </a:t>
            </a:r>
            <a:r>
              <a:rPr sz="2250">
                <a:solidFill>
                  <a:srgbClr val="005CC5"/>
                </a:solidFill>
                <a:latin typeface="Menlo"/>
                <a:ea typeface="Menlo"/>
                <a:cs typeface="Menlo"/>
              </a:rPr>
              <a:t>static_cast</a:t>
            </a:r>
            <a:r>
              <a:rPr sz="2250">
                <a:solidFill>
                  <a:srgbClr val="222222"/>
                </a:solidFill>
                <a:latin typeface="Menlo"/>
                <a:ea typeface="Menlo"/>
                <a:cs typeface="Menlo"/>
              </a:rPr>
              <a:t>&lt;</a:t>
            </a:r>
            <a:r>
              <a:rPr sz="2250">
                <a:solidFill>
                  <a:srgbClr val="6F42C1"/>
                </a:solidFill>
                <a:latin typeface="Menlo"/>
                <a:ea typeface="Menlo"/>
                <a:cs typeface="Menlo"/>
              </a:rPr>
              <a:t>double</a:t>
            </a:r>
            <a:r>
              <a:rPr sz="2250">
                <a:solidFill>
                  <a:srgbClr val="222222"/>
                </a:solidFill>
                <a:latin typeface="Menlo"/>
                <a:ea typeface="Menlo"/>
                <a:cs typeface="Menlo"/>
              </a:rPr>
              <a:t>&gt;</a:t>
            </a:r>
            <a:r>
              <a:rPr sz="2250">
                <a:solidFill>
                  <a:srgbClr val="222222"/>
                </a:solidFill>
                <a:latin typeface="Menlo"/>
                <a:ea typeface="Menlo"/>
                <a:cs typeface="Menlo"/>
              </a:rPr>
              <a:t>(a)</a:t>
            </a:r>
            <a:r>
              <a:rPr sz="2250">
                <a:solidFill>
                  <a:srgbClr val="222222"/>
                </a:solidFill>
                <a:latin typeface="Menlo"/>
                <a:ea typeface="Menlo"/>
                <a:cs typeface="Menlo"/>
              </a:rPr>
              <a:t> / b;</a:t>
            </a:r>
          </a:p>
        </p:txBody>
      </p:sp>
      <p:sp>
        <p:nvSpPr>
          <p:cNvPr id="8" name="cue-1">
            <a:extLst xmlns:a="http://schemas.openxmlformats.org/drawingml/2006/main">
              <a:ext uri="{FF2B5EF4-FFF2-40B4-BE49-F238E27FC236}">
                <a16:creationId xmlns:a16="http://schemas.microsoft.com/office/drawing/2014/main" id="{C99416C1-B192-43A9-BF29-BD33E5473AC5}"/>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x is 1, y is 1.5</a:t>
            </a:r>
          </a:p>
        </p:txBody>
      </p:sp>
      <p:sp>
        <p:nvSpPr>
          <p:cNvPr id="9" name="cue-2">
            <a:extLst xmlns:a="http://schemas.openxmlformats.org/drawingml/2006/main">
              <a:ext uri="{FF2B5EF4-FFF2-40B4-BE49-F238E27FC236}">
                <a16:creationId xmlns:a16="http://schemas.microsoft.com/office/drawing/2014/main" id="{FB8328D2-3824-46AE-9FF0-DCAA9012089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destination type does not redo the division.</a:t>
            </a:r>
          </a:p>
        </p:txBody>
      </p:sp>
    </p:spTree>
    <p:extLst>
      <p:ext uri="{BB962C8B-B14F-4D97-AF65-F5344CB8AC3E}">
        <p14:creationId xmlns:p14="http://schemas.microsoft.com/office/powerpoint/2010/main" val="19130405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9725497D-B37B-4C58-81CC-F477E35F686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DCCD3D4-3584-44D2-8905-DE01B97E9B2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22 / 62</a:t>
            </a:r>
          </a:p>
        </p:txBody>
      </p:sp>
      <p:sp>
        <p:nvSpPr>
          <p:cNvPr id="3" name="heading-1">
            <a:extLst xmlns:a="http://schemas.openxmlformats.org/drawingml/2006/main">
              <a:ext uri="{FF2B5EF4-FFF2-40B4-BE49-F238E27FC236}">
                <a16:creationId xmlns:a16="http://schemas.microsoft.com/office/drawing/2014/main" id="{EC39C70D-37C3-4957-9F36-2AB03A003BF9}"/>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Tracing three division expressions</a:t>
            </a:r>
          </a:p>
        </p:txBody>
      </p:sp>
      <p:sp>
        <p:nvSpPr>
          <p:cNvPr id="4" name="code-1">
            <a:extLst xmlns:a="http://schemas.openxmlformats.org/drawingml/2006/main">
              <a:ext uri="{FF2B5EF4-FFF2-40B4-BE49-F238E27FC236}">
                <a16:creationId xmlns:a16="http://schemas.microsoft.com/office/drawing/2014/main" id="{38A426DB-2075-433E-B2BC-2054CAB3C62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9A4D00"/>
                </a:solidFill>
                <a:latin typeface="Menlo"/>
                <a:ea typeface="Menlo"/>
                <a:cs typeface="Menlo"/>
              </a:rPr>
              <a:t>3</a:t>
            </a:r>
            <a:r>
              <a:rPr sz="2250">
                <a:solidFill>
                  <a:srgbClr val="222222"/>
                </a:solidFill>
                <a:latin typeface="Menlo"/>
                <a:ea typeface="Menlo"/>
                <a:cs typeface="Menlo"/>
              </a:rPr>
              <a:t> / </a:t>
            </a:r>
            <a:r>
              <a:rPr sz="2250">
                <a:solidFill>
                  <a:srgbClr val="9A4D00"/>
                </a:solidFill>
                <a:latin typeface="Menlo"/>
                <a:ea typeface="Menlo"/>
                <a:cs typeface="Menlo"/>
              </a:rPr>
              <a:t>2</a:t>
            </a:r>
            <a:r>
              <a:rPr sz="2250">
                <a:solidFill>
                  <a:srgbClr val="222222"/>
                </a:solidFill>
                <a:latin typeface="Menlo"/>
                <a:ea typeface="Menlo"/>
                <a:cs typeface="Menlo"/>
              </a:rPr>
              <a:t>                         </a:t>
            </a:r>
            <a:r>
              <a:rPr sz="2250">
                <a:solidFill>
                  <a:srgbClr val="59636E"/>
                </a:solidFill>
                <a:latin typeface="Menlo"/>
                <a:ea typeface="Menlo"/>
                <a:cs typeface="Menlo"/>
              </a:rPr>
              <a:t>// 1</a:t>
            </a:r>
          </a:p>
        </p:txBody>
      </p:sp>
      <p:sp>
        <p:nvSpPr>
          <p:cNvPr id="5" name="code-2">
            <a:extLst xmlns:a="http://schemas.openxmlformats.org/drawingml/2006/main">
              <a:ext uri="{FF2B5EF4-FFF2-40B4-BE49-F238E27FC236}">
                <a16:creationId xmlns:a16="http://schemas.microsoft.com/office/drawing/2014/main" id="{E9752298-60A3-4537-92D4-2C41FD063597}"/>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static_cast</a:t>
            </a:r>
            <a:r>
              <a:rPr sz="2250">
                <a:solidFill>
                  <a:srgbClr val="222222"/>
                </a:solidFill>
                <a:latin typeface="Menlo"/>
                <a:ea typeface="Menlo"/>
                <a:cs typeface="Menlo"/>
              </a:rPr>
              <a:t>&lt;</a:t>
            </a:r>
            <a:r>
              <a:rPr sz="2250">
                <a:solidFill>
                  <a:srgbClr val="6F42C1"/>
                </a:solidFill>
                <a:latin typeface="Menlo"/>
                <a:ea typeface="Menlo"/>
                <a:cs typeface="Menlo"/>
              </a:rPr>
              <a:t>double</a:t>
            </a:r>
            <a:r>
              <a:rPr sz="2250">
                <a:solidFill>
                  <a:srgbClr val="222222"/>
                </a:solidFill>
                <a:latin typeface="Menlo"/>
                <a:ea typeface="Menlo"/>
                <a:cs typeface="Menlo"/>
              </a:rPr>
              <a:t>&gt;</a:t>
            </a:r>
            <a:r>
              <a:rPr sz="2250">
                <a:solidFill>
                  <a:srgbClr val="222222"/>
                </a:solidFill>
                <a:latin typeface="Menlo"/>
                <a:ea typeface="Menlo"/>
                <a:cs typeface="Menlo"/>
              </a:rPr>
              <a:t>(</a:t>
            </a:r>
            <a:r>
              <a:rPr sz="2250">
                <a:solidFill>
                  <a:srgbClr val="9A4D00"/>
                </a:solidFill>
                <a:latin typeface="Menlo"/>
                <a:ea typeface="Menlo"/>
                <a:cs typeface="Menlo"/>
              </a:rPr>
              <a:t>3</a:t>
            </a:r>
            <a:r>
              <a:rPr sz="2250">
                <a:solidFill>
                  <a:srgbClr val="222222"/>
                </a:solidFill>
                <a:latin typeface="Menlo"/>
                <a:ea typeface="Menlo"/>
                <a:cs typeface="Menlo"/>
              </a:rPr>
              <a:t>)</a:t>
            </a:r>
            <a:r>
              <a:rPr sz="2250">
                <a:solidFill>
                  <a:srgbClr val="222222"/>
                </a:solidFill>
                <a:latin typeface="Menlo"/>
                <a:ea typeface="Menlo"/>
                <a:cs typeface="Menlo"/>
              </a:rPr>
              <a:t> / </a:t>
            </a:r>
            <a:r>
              <a:rPr sz="2250">
                <a:solidFill>
                  <a:srgbClr val="9A4D00"/>
                </a:solidFill>
                <a:latin typeface="Menlo"/>
                <a:ea typeface="Menlo"/>
                <a:cs typeface="Menlo"/>
              </a:rPr>
              <a:t>2</a:t>
            </a:r>
            <a:r>
              <a:rPr sz="2250">
                <a:solidFill>
                  <a:srgbClr val="222222"/>
                </a:solidFill>
                <a:latin typeface="Menlo"/>
                <a:ea typeface="Menlo"/>
                <a:cs typeface="Menlo"/>
              </a:rPr>
              <a:t>     </a:t>
            </a:r>
            <a:r>
              <a:rPr sz="2250">
                <a:solidFill>
                  <a:srgbClr val="59636E"/>
                </a:solidFill>
                <a:latin typeface="Menlo"/>
                <a:ea typeface="Menlo"/>
                <a:cs typeface="Menlo"/>
              </a:rPr>
              <a:t>// 1.5</a:t>
            </a:r>
          </a:p>
        </p:txBody>
      </p:sp>
      <p:sp>
        <p:nvSpPr>
          <p:cNvPr id="6" name="code-3">
            <a:extLst xmlns:a="http://schemas.openxmlformats.org/drawingml/2006/main">
              <a:ext uri="{FF2B5EF4-FFF2-40B4-BE49-F238E27FC236}">
                <a16:creationId xmlns:a16="http://schemas.microsoft.com/office/drawing/2014/main" id="{AF313674-E757-4CBF-B001-31A29D5EC75D}"/>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static_cast</a:t>
            </a:r>
            <a:r>
              <a:rPr sz="2250">
                <a:solidFill>
                  <a:srgbClr val="222222"/>
                </a:solidFill>
                <a:latin typeface="Menlo"/>
                <a:ea typeface="Menlo"/>
                <a:cs typeface="Menlo"/>
              </a:rPr>
              <a:t>&lt;</a:t>
            </a:r>
            <a:r>
              <a:rPr sz="2250">
                <a:solidFill>
                  <a:srgbClr val="6F42C1"/>
                </a:solidFill>
                <a:latin typeface="Menlo"/>
                <a:ea typeface="Menlo"/>
                <a:cs typeface="Menlo"/>
              </a:rPr>
              <a:t>double</a:t>
            </a:r>
            <a:r>
              <a:rPr sz="2250">
                <a:solidFill>
                  <a:srgbClr val="222222"/>
                </a:solidFill>
                <a:latin typeface="Menlo"/>
                <a:ea typeface="Menlo"/>
                <a:cs typeface="Menlo"/>
              </a:rPr>
              <a:t>&gt;</a:t>
            </a:r>
            <a:r>
              <a:rPr sz="2250">
                <a:solidFill>
                  <a:srgbClr val="222222"/>
                </a:solidFill>
                <a:latin typeface="Menlo"/>
                <a:ea typeface="Menlo"/>
                <a:cs typeface="Menlo"/>
              </a:rPr>
              <a:t>(</a:t>
            </a:r>
            <a:r>
              <a:rPr sz="2250">
                <a:solidFill>
                  <a:srgbClr val="9A4D00"/>
                </a:solidFill>
                <a:latin typeface="Menlo"/>
                <a:ea typeface="Menlo"/>
                <a:cs typeface="Menlo"/>
              </a:rPr>
              <a:t>3</a:t>
            </a:r>
            <a:r>
              <a:rPr sz="2250">
                <a:solidFill>
                  <a:srgbClr val="222222"/>
                </a:solidFill>
                <a:latin typeface="Menlo"/>
                <a:ea typeface="Menlo"/>
                <a:cs typeface="Menlo"/>
              </a:rPr>
              <a:t> / </a:t>
            </a:r>
            <a:r>
              <a:rPr sz="2250">
                <a:solidFill>
                  <a:srgbClr val="9A4D00"/>
                </a:solidFill>
                <a:latin typeface="Menlo"/>
                <a:ea typeface="Menlo"/>
                <a:cs typeface="Menlo"/>
              </a:rPr>
              <a:t>2</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1.0</a:t>
            </a:r>
          </a:p>
        </p:txBody>
      </p:sp>
      <p:sp>
        <p:nvSpPr>
          <p:cNvPr id="7" name="cue-1">
            <a:extLst xmlns:a="http://schemas.openxmlformats.org/drawingml/2006/main">
              <a:ext uri="{FF2B5EF4-FFF2-40B4-BE49-F238E27FC236}">
                <a16:creationId xmlns:a16="http://schemas.microsoft.com/office/drawing/2014/main" id="{B4BF494D-F6B6-49BD-846F-C3FD865A0F39}"/>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Identify operand types, perform division, then convert the result.</a:t>
            </a:r>
          </a:p>
        </p:txBody>
      </p:sp>
    </p:spTree>
    <p:extLst>
      <p:ext uri="{BB962C8B-B14F-4D97-AF65-F5344CB8AC3E}">
        <p14:creationId xmlns:p14="http://schemas.microsoft.com/office/powerpoint/2010/main" val="7146632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D4F5C923-EC4A-4668-86BE-A1BCC2ADBAB4}"/>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123C4D03-649C-4D66-8467-CB67B48C417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23 / 62</a:t>
            </a:r>
          </a:p>
        </p:txBody>
      </p:sp>
      <p:sp>
        <p:nvSpPr>
          <p:cNvPr id="3" name="heading-1">
            <a:extLst xmlns:a="http://schemas.openxmlformats.org/drawingml/2006/main">
              <a:ext uri="{FF2B5EF4-FFF2-40B4-BE49-F238E27FC236}">
                <a16:creationId xmlns:a16="http://schemas.microsoft.com/office/drawing/2014/main" id="{96EA1C28-C478-486E-87E8-71211474B039}"/>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Assignment and comparison</a:t>
            </a:r>
          </a:p>
        </p:txBody>
      </p:sp>
      <p:sp>
        <p:nvSpPr>
          <p:cNvPr id="4" name="code-1">
            <a:extLst xmlns:a="http://schemas.openxmlformats.org/drawingml/2006/main">
              <a:ext uri="{FF2B5EF4-FFF2-40B4-BE49-F238E27FC236}">
                <a16:creationId xmlns:a16="http://schemas.microsoft.com/office/drawing/2014/main" id="{C79D6B88-6F65-42FE-8E75-C60745F548B3}"/>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x </a:t>
            </a:r>
            <a:r>
              <a:rPr sz="2250">
                <a:solidFill>
                  <a:srgbClr val="222222"/>
                </a:solidFill>
                <a:latin typeface="Menlo"/>
                <a:ea typeface="Menlo"/>
                <a:cs typeface="Menlo"/>
              </a:rPr>
              <a:t>= </a:t>
            </a:r>
            <a:r>
              <a:rPr sz="2250">
                <a:solidFill>
                  <a:srgbClr val="9A4D00"/>
                </a:solidFill>
                <a:latin typeface="Menlo"/>
                <a:ea typeface="Menlo"/>
                <a:cs typeface="Menlo"/>
              </a:rPr>
              <a:t>10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DF32FA17-4E24-4FD6-9125-62564510EC08}"/>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x </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7D0E27D6-AA2A-47DC-B2C3-3EEC2C8AA770}"/>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7" name="code-4">
            <a:extLst xmlns:a="http://schemas.openxmlformats.org/drawingml/2006/main">
              <a:ext uri="{FF2B5EF4-FFF2-40B4-BE49-F238E27FC236}">
                <a16:creationId xmlns:a16="http://schemas.microsoft.com/office/drawing/2014/main" id="{12BF23A4-801C-4F99-84BB-BA0E11488E41}"/>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222222"/>
                </a:solidFill>
                <a:latin typeface="Menlo"/>
                <a:ea typeface="Menlo"/>
                <a:cs typeface="Menlo"/>
              </a:rPr>
              <a:t>(x == </a:t>
            </a:r>
            <a:r>
              <a:rPr sz="2250">
                <a:solidFill>
                  <a:srgbClr val="9A4D00"/>
                </a:solidFill>
                <a:latin typeface="Menlo"/>
                <a:ea typeface="Menlo"/>
                <a:cs typeface="Menlo"/>
              </a:rPr>
              <a:t>3</a:t>
            </a:r>
            <a:r>
              <a:rPr sz="2250">
                <a:solidFill>
                  <a:srgbClr val="222222"/>
                </a:solidFill>
                <a:latin typeface="Menlo"/>
                <a:ea typeface="Menlo"/>
                <a:cs typeface="Menlo"/>
              </a:rPr>
              <a:t>)</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59CF3544-231D-46A8-BBCC-4D2FEC328A20}"/>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222222"/>
                </a:solidFill>
                <a:latin typeface="Menlo"/>
                <a:ea typeface="Menlo"/>
                <a:cs typeface="Menlo"/>
              </a:rPr>
              <a:t>(x != </a:t>
            </a:r>
            <a:r>
              <a:rPr sz="2250">
                <a:solidFill>
                  <a:srgbClr val="9A4D00"/>
                </a:solidFill>
                <a:latin typeface="Menlo"/>
                <a:ea typeface="Menlo"/>
                <a:cs typeface="Menlo"/>
              </a:rPr>
              <a:t>3</a:t>
            </a:r>
            <a:r>
              <a:rPr sz="2250">
                <a:solidFill>
                  <a:srgbClr val="222222"/>
                </a:solidFill>
                <a:latin typeface="Menlo"/>
                <a:ea typeface="Menlo"/>
                <a:cs typeface="Menlo"/>
              </a:rPr>
              <a:t>)</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A7D6E435-C504-4F01-ABA0-06E5CD3F207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 changes a value. == tests equality.</a:t>
            </a:r>
          </a:p>
        </p:txBody>
      </p:sp>
    </p:spTree>
    <p:extLst>
      <p:ext uri="{BB962C8B-B14F-4D97-AF65-F5344CB8AC3E}">
        <p14:creationId xmlns:p14="http://schemas.microsoft.com/office/powerpoint/2010/main" val="158007271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CC7F36FE-02D4-4AC5-9380-70DB076A36B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1830CC32-7D1E-4A93-AF43-A9657760E52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24 / 62</a:t>
            </a:r>
          </a:p>
        </p:txBody>
      </p:sp>
      <p:sp>
        <p:nvSpPr>
          <p:cNvPr id="3" name="heading-1">
            <a:extLst xmlns:a="http://schemas.openxmlformats.org/drawingml/2006/main">
              <a:ext uri="{FF2B5EF4-FFF2-40B4-BE49-F238E27FC236}">
                <a16:creationId xmlns:a16="http://schemas.microsoft.com/office/drawing/2014/main" id="{B9F19617-F38C-44A3-8298-282A44EC46C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Compound conditions and short-circuiting</a:t>
            </a:r>
          </a:p>
        </p:txBody>
      </p:sp>
      <p:sp>
        <p:nvSpPr>
          <p:cNvPr id="4" name="code-1">
            <a:extLst xmlns:a="http://schemas.openxmlformats.org/drawingml/2006/main">
              <a:ext uri="{FF2B5EF4-FFF2-40B4-BE49-F238E27FC236}">
                <a16:creationId xmlns:a16="http://schemas.microsoft.com/office/drawing/2014/main" id="{22492415-CEAD-45C1-830E-D561587A671F}"/>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(total != </a:t>
            </a:r>
            <a:r>
              <a:rPr sz="2250">
                <a:solidFill>
                  <a:srgbClr val="9A4D00"/>
                </a:solidFill>
                <a:latin typeface="Menlo"/>
                <a:ea typeface="Menlo"/>
                <a:cs typeface="Menlo"/>
              </a:rPr>
              <a:t>0</a:t>
            </a:r>
            <a:r>
              <a:rPr sz="2250">
                <a:solidFill>
                  <a:srgbClr val="222222"/>
                </a:solidFill>
                <a:latin typeface="Menlo"/>
                <a:ea typeface="Menlo"/>
                <a:cs typeface="Menlo"/>
              </a:rPr>
              <a:t> &amp;&amp; score / total &gt; </a:t>
            </a:r>
            <a:r>
              <a:rPr sz="2250">
                <a:solidFill>
                  <a:srgbClr val="9A4D00"/>
                </a:solidFill>
                <a:latin typeface="Menlo"/>
                <a:ea typeface="Menlo"/>
                <a:cs typeface="Menlo"/>
              </a:rPr>
              <a:t>0.6</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599D8530-1102-45A5-9C58-AF80BB7E0118}"/>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"pass</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390CDCC8-7B34-442B-B995-D06E68DE5AEE}"/>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93CFC648-15FB-4EBD-82B8-9C5247D4F86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If total is 0, is the right side evaluated?</a:t>
            </a:r>
          </a:p>
        </p:txBody>
      </p:sp>
    </p:spTree>
    <p:extLst>
      <p:ext uri="{BB962C8B-B14F-4D97-AF65-F5344CB8AC3E}">
        <p14:creationId xmlns:p14="http://schemas.microsoft.com/office/powerpoint/2010/main" val="141989740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073BA2F2-922C-46D5-A745-0AB8EB89388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3E10D3C-703D-401E-96AE-A3C373236B8C}"/>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25 / 62</a:t>
            </a:r>
          </a:p>
        </p:txBody>
      </p:sp>
      <p:sp>
        <p:nvSpPr>
          <p:cNvPr id="3" name="heading-1">
            <a:extLst xmlns:a="http://schemas.openxmlformats.org/drawingml/2006/main">
              <a:ext uri="{FF2B5EF4-FFF2-40B4-BE49-F238E27FC236}">
                <a16:creationId xmlns:a16="http://schemas.microsoft.com/office/drawing/2014/main" id="{4C616F28-A846-471E-82F5-55EAD80D7BD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AND, OR, and NOT</a:t>
            </a:r>
          </a:p>
        </p:txBody>
      </p:sp>
      <p:sp>
        <p:nvSpPr>
          <p:cNvPr id="4" name="code-1">
            <a:extLst xmlns:a="http://schemas.openxmlformats.org/drawingml/2006/main">
              <a:ext uri="{FF2B5EF4-FFF2-40B4-BE49-F238E27FC236}">
                <a16:creationId xmlns:a16="http://schemas.microsoft.com/office/drawing/2014/main" id="{2CB43C76-F881-4290-A052-46C3CB2E258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true</a:t>
            </a:r>
            <a:r>
              <a:rPr sz="2250">
                <a:solidFill>
                  <a:srgbClr val="222222"/>
                </a:solidFill>
                <a:latin typeface="Menlo"/>
                <a:ea typeface="Menlo"/>
                <a:cs typeface="Menlo"/>
              </a:rPr>
              <a:t>  &amp;&amp; </a:t>
            </a:r>
            <a:r>
              <a:rPr sz="2250">
                <a:solidFill>
                  <a:srgbClr val="005CC5"/>
                </a:solidFill>
                <a:latin typeface="Menlo"/>
                <a:ea typeface="Menlo"/>
                <a:cs typeface="Menlo"/>
              </a:rPr>
              <a:t>false</a:t>
            </a:r>
            <a:r>
              <a:rPr sz="2250">
                <a:solidFill>
                  <a:srgbClr val="222222"/>
                </a:solidFill>
                <a:latin typeface="Menlo"/>
                <a:ea typeface="Menlo"/>
                <a:cs typeface="Menlo"/>
              </a:rPr>
              <a:t>   </a:t>
            </a:r>
            <a:r>
              <a:rPr sz="2250">
                <a:solidFill>
                  <a:srgbClr val="59636E"/>
                </a:solidFill>
                <a:latin typeface="Menlo"/>
                <a:ea typeface="Menlo"/>
                <a:cs typeface="Menlo"/>
              </a:rPr>
              <a:t>// false</a:t>
            </a:r>
          </a:p>
        </p:txBody>
      </p:sp>
      <p:sp>
        <p:nvSpPr>
          <p:cNvPr id="5" name="code-2">
            <a:extLst xmlns:a="http://schemas.openxmlformats.org/drawingml/2006/main">
              <a:ext uri="{FF2B5EF4-FFF2-40B4-BE49-F238E27FC236}">
                <a16:creationId xmlns:a16="http://schemas.microsoft.com/office/drawing/2014/main" id="{DE110BF5-1D8E-4948-A4BF-5E0C4D55C0D5}"/>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true</a:t>
            </a:r>
            <a:r>
              <a:rPr sz="2250">
                <a:solidFill>
                  <a:srgbClr val="222222"/>
                </a:solidFill>
                <a:latin typeface="Menlo"/>
                <a:ea typeface="Menlo"/>
                <a:cs typeface="Menlo"/>
              </a:rPr>
              <a:t>  || </a:t>
            </a:r>
            <a:r>
              <a:rPr sz="2250">
                <a:solidFill>
                  <a:srgbClr val="005CC5"/>
                </a:solidFill>
                <a:latin typeface="Menlo"/>
                <a:ea typeface="Menlo"/>
                <a:cs typeface="Menlo"/>
              </a:rPr>
              <a:t>false</a:t>
            </a:r>
            <a:r>
              <a:rPr sz="2250">
                <a:solidFill>
                  <a:srgbClr val="222222"/>
                </a:solidFill>
                <a:latin typeface="Menlo"/>
                <a:ea typeface="Menlo"/>
                <a:cs typeface="Menlo"/>
              </a:rPr>
              <a:t>   </a:t>
            </a:r>
            <a:r>
              <a:rPr sz="2250">
                <a:solidFill>
                  <a:srgbClr val="59636E"/>
                </a:solidFill>
                <a:latin typeface="Menlo"/>
                <a:ea typeface="Menlo"/>
                <a:cs typeface="Menlo"/>
              </a:rPr>
              <a:t>// true</a:t>
            </a:r>
          </a:p>
        </p:txBody>
      </p:sp>
      <p:sp>
        <p:nvSpPr>
          <p:cNvPr id="6" name="code-3">
            <a:extLst xmlns:a="http://schemas.openxmlformats.org/drawingml/2006/main">
              <a:ext uri="{FF2B5EF4-FFF2-40B4-BE49-F238E27FC236}">
                <a16:creationId xmlns:a16="http://schemas.microsoft.com/office/drawing/2014/main" id="{D86D0270-D0B8-4619-AFC7-C1B50C97FF93}"/>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r>
              <a:rPr sz="2250">
                <a:solidFill>
                  <a:srgbClr val="005CC5"/>
                </a:solidFill>
                <a:latin typeface="Menlo"/>
                <a:ea typeface="Menlo"/>
                <a:cs typeface="Menlo"/>
              </a:rPr>
              <a:t>true</a:t>
            </a:r>
            <a:r>
              <a:rPr sz="2250">
                <a:solidFill>
                  <a:srgbClr val="222222"/>
                </a:solidFill>
                <a:latin typeface="Menlo"/>
                <a:ea typeface="Menlo"/>
                <a:cs typeface="Menlo"/>
              </a:rPr>
              <a:t>            </a:t>
            </a:r>
            <a:r>
              <a:rPr sz="2250">
                <a:solidFill>
                  <a:srgbClr val="59636E"/>
                </a:solidFill>
                <a:latin typeface="Menlo"/>
                <a:ea typeface="Menlo"/>
                <a:cs typeface="Menlo"/>
              </a:rPr>
              <a:t>// false</a:t>
            </a:r>
          </a:p>
        </p:txBody>
      </p:sp>
      <p:sp>
        <p:nvSpPr>
          <p:cNvPr id="7" name="code-4">
            <a:extLst xmlns:a="http://schemas.openxmlformats.org/drawingml/2006/main">
              <a:ext uri="{FF2B5EF4-FFF2-40B4-BE49-F238E27FC236}">
                <a16:creationId xmlns:a16="http://schemas.microsoft.com/office/drawing/2014/main" id="{739ABD26-6944-4C52-B893-E6C7AD9414C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r>
              <a:rPr sz="2250">
                <a:solidFill>
                  <a:srgbClr val="222222"/>
                </a:solidFill>
                <a:latin typeface="Menlo"/>
                <a:ea typeface="Menlo"/>
                <a:cs typeface="Menlo"/>
              </a:rPr>
              <a:t>(score &lt; </a:t>
            </a:r>
            <a:r>
              <a:rPr sz="2250">
                <a:solidFill>
                  <a:srgbClr val="9A4D00"/>
                </a:solidFill>
                <a:latin typeface="Menlo"/>
                <a:ea typeface="Menlo"/>
                <a:cs typeface="Menlo"/>
              </a:rPr>
              <a:t>0</a:t>
            </a:r>
            <a:r>
              <a:rPr sz="2250">
                <a:solidFill>
                  <a:srgbClr val="222222"/>
                </a:solidFill>
                <a:latin typeface="Menlo"/>
                <a:ea typeface="Menlo"/>
                <a:cs typeface="Menlo"/>
              </a:rPr>
              <a:t> || score &gt; </a:t>
            </a:r>
            <a:r>
              <a:rPr sz="2250">
                <a:solidFill>
                  <a:srgbClr val="9A4D00"/>
                </a:solidFill>
                <a:latin typeface="Menlo"/>
                <a:ea typeface="Menlo"/>
                <a:cs typeface="Menlo"/>
              </a:rPr>
              <a:t>100</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AD455ED0-B000-4813-AC96-97DACEF5D96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last expression means the score is in [0, 100].</a:t>
            </a:r>
          </a:p>
        </p:txBody>
      </p:sp>
    </p:spTree>
    <p:extLst>
      <p:ext uri="{BB962C8B-B14F-4D97-AF65-F5344CB8AC3E}">
        <p14:creationId xmlns:p14="http://schemas.microsoft.com/office/powerpoint/2010/main" val="26937554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2688009C-34A8-4418-A96D-30A452275AC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F4F36F44-D7C9-4FAB-9A5C-7017B9404EE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26 / 62</a:t>
            </a:r>
          </a:p>
        </p:txBody>
      </p:sp>
      <p:sp>
        <p:nvSpPr>
          <p:cNvPr id="3" name="heading-1">
            <a:extLst xmlns:a="http://schemas.openxmlformats.org/drawingml/2006/main">
              <a:ext uri="{FF2B5EF4-FFF2-40B4-BE49-F238E27FC236}">
                <a16:creationId xmlns:a16="http://schemas.microsoft.com/office/drawing/2014/main" id="{2A66F764-436B-4CB5-B77C-F3CD0B8138D0}"/>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Updating a variable</a:t>
            </a:r>
          </a:p>
        </p:txBody>
      </p:sp>
      <p:sp>
        <p:nvSpPr>
          <p:cNvPr id="4" name="code-1">
            <a:extLst xmlns:a="http://schemas.openxmlformats.org/drawingml/2006/main">
              <a:ext uri="{FF2B5EF4-FFF2-40B4-BE49-F238E27FC236}">
                <a16:creationId xmlns:a16="http://schemas.microsoft.com/office/drawing/2014/main" id="{2E2310AD-DA94-46DA-ABDF-5CF060C05112}"/>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count </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6178FDA4-CCE8-4F13-9489-0E777D568B0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++count;</a:t>
            </a:r>
          </a:p>
        </p:txBody>
      </p:sp>
      <p:sp>
        <p:nvSpPr>
          <p:cNvPr id="6" name="code-3">
            <a:extLst xmlns:a="http://schemas.openxmlformats.org/drawingml/2006/main">
              <a:ext uri="{FF2B5EF4-FFF2-40B4-BE49-F238E27FC236}">
                <a16:creationId xmlns:a16="http://schemas.microsoft.com/office/drawing/2014/main" id="{54B47DE5-E1C6-4372-A17C-391942B29575}"/>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count +</a:t>
            </a:r>
            <a:r>
              <a:rPr sz="2250">
                <a:solidFill>
                  <a:srgbClr val="222222"/>
                </a:solidFill>
                <a:latin typeface="Menlo"/>
                <a:ea typeface="Menlo"/>
                <a:cs typeface="Menlo"/>
              </a:rPr>
              <a:t>= </a:t>
            </a:r>
            <a:r>
              <a:rPr sz="2250">
                <a:solidFill>
                  <a:srgbClr val="9A4D00"/>
                </a:solidFill>
                <a:latin typeface="Menlo"/>
                <a:ea typeface="Menlo"/>
                <a:cs typeface="Menlo"/>
              </a:rPr>
              <a:t>2</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84ADD591-FAD9-4F8A-9FFE-356C4BA16813}"/>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count *</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80DD743F-9B18-4CC5-9E95-898983E1371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What is count after each line?</a:t>
            </a:r>
          </a:p>
        </p:txBody>
      </p:sp>
    </p:spTree>
    <p:extLst>
      <p:ext uri="{BB962C8B-B14F-4D97-AF65-F5344CB8AC3E}">
        <p14:creationId xmlns:p14="http://schemas.microsoft.com/office/powerpoint/2010/main" val="3459905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0F0200A2-792A-4C60-A8C2-97F6534B802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E44EF7B7-A737-4BB5-B191-578E2060A77C}"/>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27 / 62</a:t>
            </a:r>
          </a:p>
        </p:txBody>
      </p:sp>
      <p:sp>
        <p:nvSpPr>
          <p:cNvPr id="3" name="heading-1">
            <a:extLst xmlns:a="http://schemas.openxmlformats.org/drawingml/2006/main">
              <a:ext uri="{FF2B5EF4-FFF2-40B4-BE49-F238E27FC236}">
                <a16:creationId xmlns:a16="http://schemas.microsoft.com/office/drawing/2014/main" id="{E4903504-EB46-4CCA-8DC8-197033AA157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Math functions and result types</a:t>
            </a:r>
          </a:p>
        </p:txBody>
      </p:sp>
      <p:sp>
        <p:nvSpPr>
          <p:cNvPr id="4" name="code-1">
            <a:extLst xmlns:a="http://schemas.openxmlformats.org/drawingml/2006/main">
              <a:ext uri="{FF2B5EF4-FFF2-40B4-BE49-F238E27FC236}">
                <a16:creationId xmlns:a16="http://schemas.microsoft.com/office/drawing/2014/main" id="{F528EA3B-D4B4-4307-AA25-53D1F8160EC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9A3E00"/>
                </a:solidFill>
                <a:latin typeface="Menlo"/>
                <a:ea typeface="Menlo"/>
                <a:cs typeface="Menlo"/>
              </a:rPr>
              <a:t>#</a:t>
            </a:r>
            <a:r>
              <a:rPr sz="2250">
                <a:solidFill>
                  <a:srgbClr val="005CC5"/>
                </a:solidFill>
                <a:latin typeface="Menlo"/>
                <a:ea typeface="Menlo"/>
                <a:cs typeface="Menlo"/>
              </a:rPr>
              <a:t>include</a:t>
            </a:r>
            <a:r>
              <a:rPr sz="2250">
                <a:solidFill>
                  <a:srgbClr val="9A3E00"/>
                </a:solidFill>
                <a:latin typeface="Menlo"/>
                <a:ea typeface="Menlo"/>
                <a:cs typeface="Menlo"/>
              </a:rPr>
              <a:t> </a:t>
            </a:r>
            <a:r>
              <a:rPr sz="2250">
                <a:solidFill>
                  <a:srgbClr val="0B6B3A"/>
                </a:solidFill>
                <a:latin typeface="Menlo"/>
                <a:ea typeface="Menlo"/>
                <a:cs typeface="Menlo"/>
              </a:rPr>
              <a:t>&lt;cmath&gt;</a:t>
            </a:r>
          </a:p>
        </p:txBody>
      </p:sp>
      <p:sp>
        <p:nvSpPr>
          <p:cNvPr id="5" name="code-2">
            <a:extLst xmlns:a="http://schemas.openxmlformats.org/drawingml/2006/main">
              <a:ext uri="{FF2B5EF4-FFF2-40B4-BE49-F238E27FC236}">
                <a16:creationId xmlns:a16="http://schemas.microsoft.com/office/drawing/2014/main" id="{BDAC5707-7DB3-4447-843F-AB5DF1744F7E}"/>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55A24434-8579-447F-91AB-CF0011C82AC7}"/>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005CC5"/>
                </a:solidFill>
                <a:latin typeface="Menlo"/>
                <a:ea typeface="Menlo"/>
                <a:cs typeface="Menlo"/>
              </a:rPr>
              <a:t>sqrt</a:t>
            </a:r>
            <a:r>
              <a:rPr sz="2250">
                <a:solidFill>
                  <a:srgbClr val="222222"/>
                </a:solidFill>
                <a:latin typeface="Menlo"/>
                <a:ea typeface="Menlo"/>
                <a:cs typeface="Menlo"/>
              </a:rPr>
              <a:t>(</a:t>
            </a:r>
            <a:r>
              <a:rPr sz="2250">
                <a:solidFill>
                  <a:srgbClr val="9A4D00"/>
                </a:solidFill>
                <a:latin typeface="Menlo"/>
                <a:ea typeface="Menlo"/>
                <a:cs typeface="Menlo"/>
              </a:rPr>
              <a:t>9.0</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3.0</a:t>
            </a:r>
          </a:p>
        </p:txBody>
      </p:sp>
      <p:sp>
        <p:nvSpPr>
          <p:cNvPr id="7" name="code-4">
            <a:extLst xmlns:a="http://schemas.openxmlformats.org/drawingml/2006/main">
              <a:ext uri="{FF2B5EF4-FFF2-40B4-BE49-F238E27FC236}">
                <a16:creationId xmlns:a16="http://schemas.microsoft.com/office/drawing/2014/main" id="{0534D520-8D21-4B6D-9FEA-454EE599AFE7}"/>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005CC5"/>
                </a:solidFill>
                <a:latin typeface="Menlo"/>
                <a:ea typeface="Menlo"/>
                <a:cs typeface="Menlo"/>
              </a:rPr>
              <a:t>abs</a:t>
            </a:r>
            <a:r>
              <a:rPr sz="2250">
                <a:solidFill>
                  <a:srgbClr val="222222"/>
                </a:solidFill>
                <a:latin typeface="Menlo"/>
                <a:ea typeface="Menlo"/>
                <a:cs typeface="Menlo"/>
              </a:rPr>
              <a:t>(</a:t>
            </a:r>
            <a:r>
              <a:rPr sz="2250">
                <a:solidFill>
                  <a:srgbClr val="9A4D00"/>
                </a:solidFill>
                <a:latin typeface="Menlo"/>
                <a:ea typeface="Menlo"/>
                <a:cs typeface="Menlo"/>
              </a:rPr>
              <a:t>-3</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3</a:t>
            </a:r>
          </a:p>
        </p:txBody>
      </p:sp>
      <p:sp>
        <p:nvSpPr>
          <p:cNvPr id="8" name="code-5">
            <a:extLst xmlns:a="http://schemas.openxmlformats.org/drawingml/2006/main">
              <a:ext uri="{FF2B5EF4-FFF2-40B4-BE49-F238E27FC236}">
                <a16:creationId xmlns:a16="http://schemas.microsoft.com/office/drawing/2014/main" id="{B26A21DB-E903-4025-BC68-9A129ECE2BB3}"/>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005CC5"/>
                </a:solidFill>
                <a:latin typeface="Menlo"/>
                <a:ea typeface="Menlo"/>
                <a:cs typeface="Menlo"/>
              </a:rPr>
              <a:t>floor</a:t>
            </a:r>
            <a:r>
              <a:rPr sz="2250">
                <a:solidFill>
                  <a:srgbClr val="222222"/>
                </a:solidFill>
                <a:latin typeface="Menlo"/>
                <a:ea typeface="Menlo"/>
                <a:cs typeface="Menlo"/>
              </a:rPr>
              <a:t>(</a:t>
            </a:r>
            <a:r>
              <a:rPr sz="2250">
                <a:solidFill>
                  <a:srgbClr val="9A4D00"/>
                </a:solidFill>
                <a:latin typeface="Menlo"/>
                <a:ea typeface="Menlo"/>
                <a:cs typeface="Menlo"/>
              </a:rPr>
              <a:t>2.8</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2.0</a:t>
            </a:r>
          </a:p>
        </p:txBody>
      </p:sp>
      <p:sp>
        <p:nvSpPr>
          <p:cNvPr id="9" name="code-6">
            <a:extLst xmlns:a="http://schemas.openxmlformats.org/drawingml/2006/main">
              <a:ext uri="{FF2B5EF4-FFF2-40B4-BE49-F238E27FC236}">
                <a16:creationId xmlns:a16="http://schemas.microsoft.com/office/drawing/2014/main" id="{296CFCBB-6568-4FAA-BA59-DF89A4DFF01A}"/>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005CC5"/>
                </a:solidFill>
                <a:latin typeface="Menlo"/>
                <a:ea typeface="Menlo"/>
                <a:cs typeface="Menlo"/>
              </a:rPr>
              <a:t>ceil</a:t>
            </a:r>
            <a:r>
              <a:rPr sz="2250">
                <a:solidFill>
                  <a:srgbClr val="222222"/>
                </a:solidFill>
                <a:latin typeface="Menlo"/>
                <a:ea typeface="Menlo"/>
                <a:cs typeface="Menlo"/>
              </a:rPr>
              <a:t>(</a:t>
            </a:r>
            <a:r>
              <a:rPr sz="2250">
                <a:solidFill>
                  <a:srgbClr val="9A4D00"/>
                </a:solidFill>
                <a:latin typeface="Menlo"/>
                <a:ea typeface="Menlo"/>
                <a:cs typeface="Menlo"/>
              </a:rPr>
              <a:t>2.1</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3.0</a:t>
            </a:r>
          </a:p>
        </p:txBody>
      </p:sp>
      <p:sp>
        <p:nvSpPr>
          <p:cNvPr id="10" name="cue-1">
            <a:extLst xmlns:a="http://schemas.openxmlformats.org/drawingml/2006/main">
              <a:ext uri="{FF2B5EF4-FFF2-40B4-BE49-F238E27FC236}">
                <a16:creationId xmlns:a16="http://schemas.microsoft.com/office/drawing/2014/main" id="{F1BF47A1-CB05-4604-B172-E7382A35130B}"/>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call produces a value. Printing it still requires output.</a:t>
            </a:r>
          </a:p>
        </p:txBody>
      </p:sp>
    </p:spTree>
    <p:extLst>
      <p:ext uri="{BB962C8B-B14F-4D97-AF65-F5344CB8AC3E}">
        <p14:creationId xmlns:p14="http://schemas.microsoft.com/office/powerpoint/2010/main" val="7275959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7110331D-2DA8-418F-8C02-DD3467F70C9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1BFD20A5-8733-477D-B1EE-9D8915AD1F5C}"/>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28 / 62</a:t>
            </a:r>
          </a:p>
        </p:txBody>
      </p:sp>
      <p:sp>
        <p:nvSpPr>
          <p:cNvPr id="3" name="heading-1">
            <a:extLst xmlns:a="http://schemas.openxmlformats.org/drawingml/2006/main">
              <a:ext uri="{FF2B5EF4-FFF2-40B4-BE49-F238E27FC236}">
                <a16:creationId xmlns:a16="http://schemas.microsoft.com/office/drawing/2014/main" id="{00C34217-78FD-4300-93FC-0610131D07F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Mutually exclusive if branches</a:t>
            </a:r>
          </a:p>
        </p:txBody>
      </p:sp>
      <p:sp>
        <p:nvSpPr>
          <p:cNvPr id="4" name="code-1">
            <a:extLst xmlns:a="http://schemas.openxmlformats.org/drawingml/2006/main">
              <a:ext uri="{FF2B5EF4-FFF2-40B4-BE49-F238E27FC236}">
                <a16:creationId xmlns:a16="http://schemas.microsoft.com/office/drawing/2014/main" id="{191C5598-7626-4AAD-A461-CF9AA9CF180D}"/>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(score &gt;= </a:t>
            </a:r>
            <a:r>
              <a:rPr sz="2250">
                <a:solidFill>
                  <a:srgbClr val="9A4D00"/>
                </a:solidFill>
                <a:latin typeface="Menlo"/>
                <a:ea typeface="Menlo"/>
                <a:cs typeface="Menlo"/>
              </a:rPr>
              <a:t>90</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41BF04B0-3B4A-4888-85ED-1FDD518C3A3B}"/>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"A</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10E38B0C-CE2B-475D-80D9-4484217D4B49}"/>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else</a:t>
            </a:r>
            <a:r>
              <a:rPr sz="2250">
                <a:solidFill>
                  <a:srgbClr val="222222"/>
                </a:solidFill>
                <a:latin typeface="Menlo"/>
                <a:ea typeface="Menlo"/>
                <a:cs typeface="Menlo"/>
              </a:rPr>
              <a:t> </a:t>
            </a: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(score &gt;= </a:t>
            </a:r>
            <a:r>
              <a:rPr sz="2250">
                <a:solidFill>
                  <a:srgbClr val="9A4D00"/>
                </a:solidFill>
                <a:latin typeface="Menlo"/>
                <a:ea typeface="Menlo"/>
                <a:cs typeface="Menlo"/>
              </a:rPr>
              <a:t>60</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7" name="code-4">
            <a:extLst xmlns:a="http://schemas.openxmlformats.org/drawingml/2006/main">
              <a:ext uri="{FF2B5EF4-FFF2-40B4-BE49-F238E27FC236}">
                <a16:creationId xmlns:a16="http://schemas.microsoft.com/office/drawing/2014/main" id="{F4CED52F-173F-43CF-847D-72718127E9E0}"/>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std::cout &lt;&lt; </a:t>
            </a:r>
            <a:r>
              <a:rPr sz="2250">
                <a:solidFill>
                  <a:srgbClr val="0B6B3A"/>
                </a:solidFill>
                <a:latin typeface="Menlo"/>
                <a:ea typeface="Menlo"/>
                <a:cs typeface="Menlo"/>
              </a:rPr>
              <a:t>"pass</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4309ABDD-F28E-45F1-8E4F-34F259B10C57}"/>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else</a:t>
            </a:r>
            <a:r>
              <a:rPr sz="2250">
                <a:solidFill>
                  <a:srgbClr val="222222"/>
                </a:solidFill>
                <a:latin typeface="Menlo"/>
                <a:ea typeface="Menlo"/>
                <a:cs typeface="Menlo"/>
              </a:rPr>
              <a:t> {</a:t>
            </a:r>
          </a:p>
        </p:txBody>
      </p:sp>
      <p:sp>
        <p:nvSpPr>
          <p:cNvPr id="9" name="code-6">
            <a:extLst xmlns:a="http://schemas.openxmlformats.org/drawingml/2006/main">
              <a:ext uri="{FF2B5EF4-FFF2-40B4-BE49-F238E27FC236}">
                <a16:creationId xmlns:a16="http://schemas.microsoft.com/office/drawing/2014/main" id="{0E8AC80F-9B4B-4F04-80AC-47A5A0DB9B3B}"/>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std::cout &lt;&lt; </a:t>
            </a:r>
            <a:r>
              <a:rPr sz="2250">
                <a:solidFill>
                  <a:srgbClr val="0B6B3A"/>
                </a:solidFill>
                <a:latin typeface="Menlo"/>
                <a:ea typeface="Menlo"/>
                <a:cs typeface="Menlo"/>
              </a:rPr>
              <a:t>"retry</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51734761-4595-47ED-B871-1A3142801DE5}"/>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07479330-3E35-4E2C-93CF-DEA8B8CB716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For score=95, how many lines are printed?</a:t>
            </a:r>
          </a:p>
        </p:txBody>
      </p:sp>
    </p:spTree>
    <p:extLst>
      <p:ext uri="{BB962C8B-B14F-4D97-AF65-F5344CB8AC3E}">
        <p14:creationId xmlns:p14="http://schemas.microsoft.com/office/powerpoint/2010/main" val="13246603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9FF7A42C-C389-4876-8912-2564751609C2}"/>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5E4B50F-0E49-41AF-8CAE-A30F434E965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29 / 62</a:t>
            </a:r>
          </a:p>
        </p:txBody>
      </p:sp>
      <p:sp>
        <p:nvSpPr>
          <p:cNvPr id="3" name="heading-1">
            <a:extLst xmlns:a="http://schemas.openxmlformats.org/drawingml/2006/main">
              <a:ext uri="{FF2B5EF4-FFF2-40B4-BE49-F238E27FC236}">
                <a16:creationId xmlns:a16="http://schemas.microsoft.com/office/drawing/2014/main" id="{9041AF65-5C0E-4DAA-9A3B-172FF7120EE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Branch order and boundary cases</a:t>
            </a:r>
          </a:p>
        </p:txBody>
      </p:sp>
      <p:sp>
        <p:nvSpPr>
          <p:cNvPr id="4" name="code-1">
            <a:extLst xmlns:a="http://schemas.openxmlformats.org/drawingml/2006/main">
              <a:ext uri="{FF2B5EF4-FFF2-40B4-BE49-F238E27FC236}">
                <a16:creationId xmlns:a16="http://schemas.microsoft.com/office/drawing/2014/main" id="{40149243-B8AD-4E38-A75F-0DCDBDD50490}"/>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a:t>
            </a:r>
            <a:r>
              <a:rPr sz="2250">
                <a:solidFill>
                  <a:srgbClr val="59636E"/>
                </a:solidFill>
                <a:latin typeface="Menlo"/>
                <a:ea typeface="Menlo"/>
                <a:cs typeface="Menlo"/>
              </a:rPr>
              <a:t> Test cases for </a:t>
            </a:r>
            <a:r>
              <a:rPr sz="2250">
                <a:solidFill>
                  <a:srgbClr val="59636E"/>
                </a:solidFill>
                <a:latin typeface="Menlo"/>
                <a:ea typeface="Menlo"/>
                <a:cs typeface="Menlo"/>
              </a:rPr>
              <a:t>score:</a:t>
            </a:r>
          </a:p>
        </p:txBody>
      </p:sp>
      <p:sp>
        <p:nvSpPr>
          <p:cNvPr id="5" name="code-2">
            <a:extLst xmlns:a="http://schemas.openxmlformats.org/drawingml/2006/main">
              <a:ext uri="{FF2B5EF4-FFF2-40B4-BE49-F238E27FC236}">
                <a16:creationId xmlns:a16="http://schemas.microsoft.com/office/drawing/2014/main" id="{A0D64554-D3AD-498B-BDA9-3A8E84CFE576}"/>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59  -&gt; retry</a:t>
            </a:r>
          </a:p>
        </p:txBody>
      </p:sp>
      <p:sp>
        <p:nvSpPr>
          <p:cNvPr id="6" name="code-3">
            <a:extLst xmlns:a="http://schemas.openxmlformats.org/drawingml/2006/main">
              <a:ext uri="{FF2B5EF4-FFF2-40B4-BE49-F238E27FC236}">
                <a16:creationId xmlns:a16="http://schemas.microsoft.com/office/drawing/2014/main" id="{BE1A982B-FE56-4A08-AB90-F265F7997F3D}"/>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60  -&gt; pass</a:t>
            </a:r>
          </a:p>
        </p:txBody>
      </p:sp>
      <p:sp>
        <p:nvSpPr>
          <p:cNvPr id="7" name="code-4">
            <a:extLst xmlns:a="http://schemas.openxmlformats.org/drawingml/2006/main">
              <a:ext uri="{FF2B5EF4-FFF2-40B4-BE49-F238E27FC236}">
                <a16:creationId xmlns:a16="http://schemas.microsoft.com/office/drawing/2014/main" id="{520862BB-4C74-46E3-9F88-D084CD92D7E7}"/>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89  -&gt; pass</a:t>
            </a:r>
          </a:p>
        </p:txBody>
      </p:sp>
      <p:sp>
        <p:nvSpPr>
          <p:cNvPr id="8" name="code-5">
            <a:extLst xmlns:a="http://schemas.openxmlformats.org/drawingml/2006/main">
              <a:ext uri="{FF2B5EF4-FFF2-40B4-BE49-F238E27FC236}">
                <a16:creationId xmlns:a16="http://schemas.microsoft.com/office/drawing/2014/main" id="{62528F6D-8A93-4043-965A-BB0257A03CE9}"/>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90  -&gt; A</a:t>
            </a:r>
          </a:p>
        </p:txBody>
      </p:sp>
      <p:sp>
        <p:nvSpPr>
          <p:cNvPr id="9" name="code-6">
            <a:extLst xmlns:a="http://schemas.openxmlformats.org/drawingml/2006/main">
              <a:ext uri="{FF2B5EF4-FFF2-40B4-BE49-F238E27FC236}">
                <a16:creationId xmlns:a16="http://schemas.microsoft.com/office/drawing/2014/main" id="{ACA7229D-3CB5-44E1-864E-DA46234EF5C5}"/>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100 -&gt; A</a:t>
            </a:r>
          </a:p>
        </p:txBody>
      </p:sp>
      <p:sp>
        <p:nvSpPr>
          <p:cNvPr id="10" name="cue-1">
            <a:extLst xmlns:a="http://schemas.openxmlformats.org/drawingml/2006/main">
              <a:ext uri="{FF2B5EF4-FFF2-40B4-BE49-F238E27FC236}">
                <a16:creationId xmlns:a16="http://schemas.microsoft.com/office/drawing/2014/main" id="{23B15453-284D-4178-BAC6-D7E3EC984B3F}"/>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Testing both sides of each boundary catches more than testing only 80.</a:t>
            </a:r>
          </a:p>
        </p:txBody>
      </p:sp>
    </p:spTree>
    <p:extLst>
      <p:ext uri="{BB962C8B-B14F-4D97-AF65-F5344CB8AC3E}">
        <p14:creationId xmlns:p14="http://schemas.microsoft.com/office/powerpoint/2010/main" val="2071226210"/>
      </p:ext>
    </p:extLst>
  </p:cSld>
</p:sld>
</file>

<file path=ppt/slides/slide3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B910763F-6749-479E-8030-6A5A53786C8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C9080148-D8AD-4638-AEAD-D00271E418CC}"/>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30 / 62</a:t>
            </a:r>
          </a:p>
        </p:txBody>
      </p:sp>
      <p:sp>
        <p:nvSpPr>
          <p:cNvPr id="3" name="heading-1">
            <a:extLst xmlns:a="http://schemas.openxmlformats.org/drawingml/2006/main">
              <a:ext uri="{FF2B5EF4-FFF2-40B4-BE49-F238E27FC236}">
                <a16:creationId xmlns:a16="http://schemas.microsoft.com/office/drawing/2014/main" id="{7E111830-CE13-49AD-AF71-8DDF7A7D11D2}"/>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average and pass check</a:t>
            </a:r>
          </a:p>
        </p:txBody>
      </p:sp>
      <p:sp>
        <p:nvSpPr>
          <p:cNvPr id="4" name="body-1">
            <a:extLst xmlns:a="http://schemas.openxmlformats.org/drawingml/2006/main">
              <a:ext uri="{FF2B5EF4-FFF2-40B4-BE49-F238E27FC236}">
                <a16:creationId xmlns:a16="http://schemas.microsoft.com/office/drawing/2014/main" id="{BF24089D-F378-4181-BD9A-1104EB523C00}"/>
              </a:ext>
            </a:extLst>
          </p:cNvPr>
          <p:cNvSpPr>
            <a:spLocks xmlns:a="http://schemas.openxmlformats.org/drawingml/2006/main" noGrp="1"/>
          </p:cNvSpPr>
          <p:nvPr/>
        </p:nvSpPr>
        <p:spPr>
          <a:xfrm xmlns:a="http://schemas.openxmlformats.org/drawingml/2006/main">
            <a:off x="800100" y="22383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Read 3 integer scores</a:t>
            </a:r>
          </a:p>
        </p:txBody>
      </p:sp>
      <p:sp>
        <p:nvSpPr>
          <p:cNvPr id="5" name="body-2">
            <a:extLst xmlns:a="http://schemas.openxmlformats.org/drawingml/2006/main">
              <a:ext uri="{FF2B5EF4-FFF2-40B4-BE49-F238E27FC236}">
                <a16:creationId xmlns:a16="http://schemas.microsoft.com/office/drawing/2014/main" id="{946D13BF-AD09-4F59-A6E0-D91D9182BA66}"/>
              </a:ext>
            </a:extLst>
          </p:cNvPr>
          <p:cNvSpPr>
            <a:spLocks xmlns:a="http://schemas.openxmlformats.org/drawingml/2006/main" noGrp="1"/>
          </p:cNvSpPr>
          <p:nvPr/>
        </p:nvSpPr>
        <p:spPr>
          <a:xfrm xmlns:a="http://schemas.openxmlformats.org/drawingml/2006/main">
            <a:off x="800100" y="27527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Print their average to 1 decimal place</a:t>
            </a:r>
          </a:p>
        </p:txBody>
      </p:sp>
      <p:sp>
        <p:nvSpPr>
          <p:cNvPr id="6" name="body-3">
            <a:extLst xmlns:a="http://schemas.openxmlformats.org/drawingml/2006/main">
              <a:ext uri="{FF2B5EF4-FFF2-40B4-BE49-F238E27FC236}">
                <a16:creationId xmlns:a16="http://schemas.microsoft.com/office/drawing/2014/main" id="{A8617122-63B3-4938-BA52-B64161C24132}"/>
              </a:ext>
            </a:extLst>
          </p:cNvPr>
          <p:cNvSpPr>
            <a:spLocks xmlns:a="http://schemas.openxmlformats.org/drawingml/2006/main" noGrp="1"/>
          </p:cNvSpPr>
          <p:nvPr/>
        </p:nvSpPr>
        <p:spPr>
          <a:xfrm xmlns:a="http://schemas.openxmlformats.org/drawingml/2006/main">
            <a:off x="800100" y="32670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Print pass if the average is at least 60</a:t>
            </a:r>
          </a:p>
        </p:txBody>
      </p:sp>
    </p:spTree>
    <p:extLst>
      <p:ext uri="{BB962C8B-B14F-4D97-AF65-F5344CB8AC3E}">
        <p14:creationId xmlns:p14="http://schemas.microsoft.com/office/powerpoint/2010/main" val="47989486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00668106-154B-4C93-9C27-EF04CA91A41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8A57170-809B-4E91-B20C-C7FB7CC2BD4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31 / 62</a:t>
            </a:r>
          </a:p>
        </p:txBody>
      </p:sp>
      <p:sp>
        <p:nvSpPr>
          <p:cNvPr id="3" name="heading-1">
            <a:extLst xmlns:a="http://schemas.openxmlformats.org/drawingml/2006/main">
              <a:ext uri="{FF2B5EF4-FFF2-40B4-BE49-F238E27FC236}">
                <a16:creationId xmlns:a16="http://schemas.microsoft.com/office/drawing/2014/main" id="{2BFBA4AE-7D11-46EB-8E5E-F52F8B86657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Average: calculation and formatting</a:t>
            </a:r>
          </a:p>
        </p:txBody>
      </p:sp>
      <p:sp>
        <p:nvSpPr>
          <p:cNvPr id="4" name="code-1">
            <a:extLst xmlns:a="http://schemas.openxmlformats.org/drawingml/2006/main">
              <a:ext uri="{FF2B5EF4-FFF2-40B4-BE49-F238E27FC236}">
                <a16:creationId xmlns:a16="http://schemas.microsoft.com/office/drawing/2014/main" id="{F616CAAF-B8E3-4C69-9F9B-3D796569AC20}"/>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double</a:t>
            </a:r>
            <a:r>
              <a:rPr sz="2250">
                <a:solidFill>
                  <a:srgbClr val="222222"/>
                </a:solidFill>
                <a:latin typeface="Menlo"/>
                <a:ea typeface="Menlo"/>
                <a:cs typeface="Menlo"/>
              </a:rPr>
              <a:t> average </a:t>
            </a:r>
            <a:r>
              <a:rPr sz="2250">
                <a:solidFill>
                  <a:srgbClr val="222222"/>
                </a:solidFill>
                <a:latin typeface="Menlo"/>
                <a:ea typeface="Menlo"/>
                <a:cs typeface="Menlo"/>
              </a:rPr>
              <a:t>= </a:t>
            </a:r>
            <a:r>
              <a:rPr sz="2250">
                <a:solidFill>
                  <a:srgbClr val="222222"/>
                </a:solidFill>
                <a:latin typeface="Menlo"/>
                <a:ea typeface="Menlo"/>
                <a:cs typeface="Menlo"/>
              </a:rPr>
              <a:t>(a + b + c)</a:t>
            </a:r>
            <a:r>
              <a:rPr sz="2250">
                <a:solidFill>
                  <a:srgbClr val="222222"/>
                </a:solidFill>
                <a:latin typeface="Menlo"/>
                <a:ea typeface="Menlo"/>
                <a:cs typeface="Menlo"/>
              </a:rPr>
              <a:t> / </a:t>
            </a:r>
            <a:r>
              <a:rPr sz="2250">
                <a:solidFill>
                  <a:srgbClr val="9A4D00"/>
                </a:solidFill>
                <a:latin typeface="Menlo"/>
                <a:ea typeface="Menlo"/>
                <a:cs typeface="Menlo"/>
              </a:rPr>
              <a:t>3.0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C0413D23-A058-4497-AAB2-1356598CA942}"/>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222222"/>
                </a:solidFill>
                <a:latin typeface="Menlo"/>
                <a:ea typeface="Menlo"/>
                <a:cs typeface="Menlo"/>
              </a:rPr>
              <a:t>std::</a:t>
            </a:r>
            <a:r>
              <a:rPr sz="2250">
                <a:solidFill>
                  <a:srgbClr val="222222"/>
                </a:solidFill>
                <a:latin typeface="Menlo"/>
                <a:ea typeface="Menlo"/>
                <a:cs typeface="Menlo"/>
              </a:rPr>
              <a:t>fixed</a:t>
            </a:r>
          </a:p>
        </p:txBody>
      </p:sp>
      <p:sp>
        <p:nvSpPr>
          <p:cNvPr id="6" name="code-3">
            <a:extLst xmlns:a="http://schemas.openxmlformats.org/drawingml/2006/main">
              <a:ext uri="{FF2B5EF4-FFF2-40B4-BE49-F238E27FC236}">
                <a16:creationId xmlns:a16="http://schemas.microsoft.com/office/drawing/2014/main" id="{E8A00DA8-CADA-4233-90E9-B44D77CBB868}"/>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&lt;&lt; </a:t>
            </a:r>
            <a:r>
              <a:rPr sz="2250">
                <a:solidFill>
                  <a:srgbClr val="222222"/>
                </a:solidFill>
                <a:latin typeface="Menlo"/>
                <a:ea typeface="Menlo"/>
                <a:cs typeface="Menlo"/>
              </a:rPr>
              <a:t>std::</a:t>
            </a:r>
            <a:r>
              <a:rPr sz="2250">
                <a:solidFill>
                  <a:srgbClr val="005CC5"/>
                </a:solidFill>
                <a:latin typeface="Menlo"/>
                <a:ea typeface="Menlo"/>
                <a:cs typeface="Menlo"/>
              </a:rPr>
              <a:t>setprecision</a:t>
            </a:r>
            <a:r>
              <a:rPr sz="2250">
                <a:solidFill>
                  <a:srgbClr val="222222"/>
                </a:solidFill>
                <a:latin typeface="Menlo"/>
                <a:ea typeface="Menlo"/>
                <a:cs typeface="Menlo"/>
              </a:rPr>
              <a:t>(</a:t>
            </a:r>
            <a:r>
              <a:rPr sz="2250">
                <a:solidFill>
                  <a:srgbClr val="9A4D00"/>
                </a:solidFill>
                <a:latin typeface="Menlo"/>
                <a:ea typeface="Menlo"/>
                <a:cs typeface="Menlo"/>
              </a:rPr>
              <a:t>1</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DE2C8AE9-0E56-4792-96D8-705928276F24}"/>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&lt;&lt; average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AEEBF84E-0EEE-4156-9720-AC0C5561A056}"/>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(average &gt;= </a:t>
            </a:r>
            <a:r>
              <a:rPr sz="2250">
                <a:solidFill>
                  <a:srgbClr val="9A4D00"/>
                </a:solidFill>
                <a:latin typeface="Menlo"/>
                <a:ea typeface="Menlo"/>
                <a:cs typeface="Menlo"/>
              </a:rPr>
              <a:t>60</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9" name="code-6">
            <a:extLst xmlns:a="http://schemas.openxmlformats.org/drawingml/2006/main">
              <a:ext uri="{FF2B5EF4-FFF2-40B4-BE49-F238E27FC236}">
                <a16:creationId xmlns:a16="http://schemas.microsoft.com/office/drawing/2014/main" id="{90C928EB-C3F0-4CC4-B850-E83CA7A95C45}"/>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"pass</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1592474E-6259-42A7-AEF7-17D4A87176C0}"/>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53215E20-4A02-44FB-9C22-9FAA44AE68F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Displaying 1 decimal place does not change the stored average.</a:t>
            </a:r>
          </a:p>
        </p:txBody>
      </p:sp>
    </p:spTree>
    <p:extLst>
      <p:ext uri="{BB962C8B-B14F-4D97-AF65-F5344CB8AC3E}">
        <p14:creationId xmlns:p14="http://schemas.microsoft.com/office/powerpoint/2010/main" val="405508607"/>
      </p:ext>
    </p:extLst>
  </p:cSld>
</p:sld>
</file>

<file path=ppt/slides/slide3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A7FEC709-D16E-48BE-A833-B776E60E9DA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940BC20-EF18-4C3B-A6CE-4683BD2810D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32 / 62</a:t>
            </a:r>
          </a:p>
        </p:txBody>
      </p:sp>
      <p:sp>
        <p:nvSpPr>
          <p:cNvPr id="3" name="heading-1">
            <a:extLst xmlns:a="http://schemas.openxmlformats.org/drawingml/2006/main">
              <a:ext uri="{FF2B5EF4-FFF2-40B4-BE49-F238E27FC236}">
                <a16:creationId xmlns:a16="http://schemas.microsoft.com/office/drawing/2014/main" id="{37A3C6CC-F85B-4DC0-BBA4-A9C4896A26DC}"/>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Break</a:t>
            </a:r>
          </a:p>
        </p:txBody>
      </p:sp>
      <p:sp>
        <p:nvSpPr>
          <p:cNvPr id="4" name="body-1">
            <a:extLst xmlns:a="http://schemas.openxmlformats.org/drawingml/2006/main">
              <a:ext uri="{FF2B5EF4-FFF2-40B4-BE49-F238E27FC236}">
                <a16:creationId xmlns:a16="http://schemas.microsoft.com/office/drawing/2014/main" id="{40207F8C-D163-4CEF-A49A-7C58BB37AA3B}"/>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10 minutes</a:t>
            </a:r>
          </a:p>
        </p:txBody>
      </p:sp>
      <p:sp>
        <p:nvSpPr>
          <p:cNvPr id="5" name="body-2">
            <a:extLst xmlns:a="http://schemas.openxmlformats.org/drawingml/2006/main">
              <a:ext uri="{FF2B5EF4-FFF2-40B4-BE49-F238E27FC236}">
                <a16:creationId xmlns:a16="http://schemas.microsoft.com/office/drawing/2014/main" id="{8902B232-33FC-4412-9899-051B027B78CF}"/>
              </a:ext>
            </a:extLst>
          </p:cNvPr>
          <p:cNvSpPr>
            <a:spLocks xmlns:a="http://schemas.openxmlformats.org/drawingml/2006/main" noGrp="1"/>
          </p:cNvSpPr>
          <p:nvPr/>
        </p:nvSpPr>
        <p:spPr>
          <a:xfrm xmlns:a="http://schemas.openxmlformats.org/drawingml/2006/main">
            <a:off x="800100" y="535305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Next: strings, then a complete program</a:t>
            </a:r>
          </a:p>
        </p:txBody>
      </p:sp>
    </p:spTree>
    <p:extLst>
      <p:ext uri="{BB962C8B-B14F-4D97-AF65-F5344CB8AC3E}">
        <p14:creationId xmlns:p14="http://schemas.microsoft.com/office/powerpoint/2010/main" val="615845439"/>
      </p:ext>
    </p:extLst>
  </p:cSld>
</p:sld>
</file>

<file path=ppt/slides/slide3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60B155F5-29C0-4D3D-B84B-5AC87823E878}"/>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B6F434A-B725-4E26-88CC-01FED28F94E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33 / 62</a:t>
            </a:r>
          </a:p>
        </p:txBody>
      </p:sp>
      <p:sp>
        <p:nvSpPr>
          <p:cNvPr id="3" name="heading-1">
            <a:extLst xmlns:a="http://schemas.openxmlformats.org/drawingml/2006/main">
              <a:ext uri="{FF2B5EF4-FFF2-40B4-BE49-F238E27FC236}">
                <a16:creationId xmlns:a16="http://schemas.microsoft.com/office/drawing/2014/main" id="{8A59048C-57EA-4A81-96EB-DDDFB6D58C32}"/>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Loops and collections</a:t>
            </a:r>
          </a:p>
        </p:txBody>
      </p:sp>
      <p:sp>
        <p:nvSpPr>
          <p:cNvPr id="4" name="body-1">
            <a:extLst xmlns:a="http://schemas.openxmlformats.org/drawingml/2006/main">
              <a:ext uri="{FF2B5EF4-FFF2-40B4-BE49-F238E27FC236}">
                <a16:creationId xmlns:a16="http://schemas.microsoft.com/office/drawing/2014/main" id="{D40AA861-43CF-4385-920B-0188F18CF4EE}"/>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Let a loop handle repeated work</a:t>
            </a:r>
          </a:p>
        </p:txBody>
      </p:sp>
    </p:spTree>
    <p:extLst>
      <p:ext uri="{BB962C8B-B14F-4D97-AF65-F5344CB8AC3E}">
        <p14:creationId xmlns:p14="http://schemas.microsoft.com/office/powerpoint/2010/main" val="15978595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CEB29CAB-EFF1-43A6-B62E-27DCF40842C8}"/>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36D282F-EFEF-4836-A314-47D664B5C72C}"/>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34 / 62</a:t>
            </a:r>
          </a:p>
        </p:txBody>
      </p:sp>
      <p:sp>
        <p:nvSpPr>
          <p:cNvPr id="3" name="heading-1">
            <a:extLst xmlns:a="http://schemas.openxmlformats.org/drawingml/2006/main">
              <a:ext uri="{FF2B5EF4-FFF2-40B4-BE49-F238E27FC236}">
                <a16:creationId xmlns:a16="http://schemas.microsoft.com/office/drawing/2014/main" id="{DE291924-D26A-4742-A832-C4B677B5C1CC}"/>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execution cycle of for</a:t>
            </a:r>
          </a:p>
        </p:txBody>
      </p:sp>
      <p:sp>
        <p:nvSpPr>
          <p:cNvPr id="4" name="code-1">
            <a:extLst xmlns:a="http://schemas.openxmlformats.org/drawingml/2006/main">
              <a:ext uri="{FF2B5EF4-FFF2-40B4-BE49-F238E27FC236}">
                <a16:creationId xmlns:a16="http://schemas.microsoft.com/office/drawing/2014/main" id="{200B88FE-2150-4958-9FA6-7BCD73E679C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sum </a:t>
            </a:r>
            <a:r>
              <a:rPr sz="2250">
                <a:solidFill>
                  <a:srgbClr val="222222"/>
                </a:solidFill>
                <a:latin typeface="Menlo"/>
                <a:ea typeface="Menlo"/>
                <a:cs typeface="Menlo"/>
              </a:rPr>
              <a:t>= </a:t>
            </a:r>
            <a:r>
              <a:rPr sz="2250">
                <a:solidFill>
                  <a:srgbClr val="9A4D00"/>
                </a:solidFill>
                <a:latin typeface="Menlo"/>
                <a:ea typeface="Menlo"/>
                <a:cs typeface="Menlo"/>
              </a:rPr>
              <a:t>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F0DAB632-C00C-4103-B221-A0B93898D1CC}"/>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i = </a:t>
            </a:r>
            <a:r>
              <a:rPr sz="2250">
                <a:solidFill>
                  <a:srgbClr val="9A4D00"/>
                </a:solidFill>
                <a:latin typeface="Menlo"/>
                <a:ea typeface="Menlo"/>
                <a:cs typeface="Menlo"/>
              </a:rPr>
              <a:t>1</a:t>
            </a:r>
            <a:r>
              <a:rPr sz="2250">
                <a:solidFill>
                  <a:srgbClr val="222222"/>
                </a:solidFill>
                <a:latin typeface="Menlo"/>
                <a:ea typeface="Menlo"/>
                <a:cs typeface="Menlo"/>
              </a:rPr>
              <a:t>; i &lt;= </a:t>
            </a:r>
            <a:r>
              <a:rPr sz="2250">
                <a:solidFill>
                  <a:srgbClr val="9A4D00"/>
                </a:solidFill>
                <a:latin typeface="Menlo"/>
                <a:ea typeface="Menlo"/>
                <a:cs typeface="Menlo"/>
              </a:rPr>
              <a:t>3</a:t>
            </a:r>
            <a:r>
              <a:rPr sz="2250">
                <a:solidFill>
                  <a:srgbClr val="222222"/>
                </a:solidFill>
                <a:latin typeface="Menlo"/>
                <a:ea typeface="Menlo"/>
                <a:cs typeface="Menlo"/>
              </a:rPr>
              <a:t>; ++i)</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527E63D8-2C10-4916-8F5E-AD565E8C706D}"/>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sum +</a:t>
            </a:r>
            <a:r>
              <a:rPr sz="2250">
                <a:solidFill>
                  <a:srgbClr val="222222"/>
                </a:solidFill>
                <a:latin typeface="Menlo"/>
                <a:ea typeface="Menlo"/>
                <a:cs typeface="Menlo"/>
              </a:rPr>
              <a:t>= i;</a:t>
            </a:r>
          </a:p>
        </p:txBody>
      </p:sp>
      <p:sp>
        <p:nvSpPr>
          <p:cNvPr id="7" name="code-4">
            <a:extLst xmlns:a="http://schemas.openxmlformats.org/drawingml/2006/main">
              <a:ext uri="{FF2B5EF4-FFF2-40B4-BE49-F238E27FC236}">
                <a16:creationId xmlns:a16="http://schemas.microsoft.com/office/drawing/2014/main" id="{CEDEFF0F-5B71-4A18-8A33-69DF01CA0AFA}"/>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696B6AAB-75A1-4880-9FCB-2AF627D93A49}"/>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Initialize once, test before the body, then update.</a:t>
            </a:r>
          </a:p>
        </p:txBody>
      </p:sp>
    </p:spTree>
    <p:extLst>
      <p:ext uri="{BB962C8B-B14F-4D97-AF65-F5344CB8AC3E}">
        <p14:creationId xmlns:p14="http://schemas.microsoft.com/office/powerpoint/2010/main" val="184805252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AC11DF4A-B48A-4C15-B93F-8592B3A84D7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6BD2C96-E736-42F9-A5D6-5534BA406373}"/>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35 / 62</a:t>
            </a:r>
          </a:p>
        </p:txBody>
      </p:sp>
      <p:sp>
        <p:nvSpPr>
          <p:cNvPr id="3" name="heading-1">
            <a:extLst xmlns:a="http://schemas.openxmlformats.org/drawingml/2006/main">
              <a:ext uri="{FF2B5EF4-FFF2-40B4-BE49-F238E27FC236}">
                <a16:creationId xmlns:a16="http://schemas.microsoft.com/office/drawing/2014/main" id="{0479E1C4-A4D4-46BC-A558-1809A9108E63}"/>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loop state trace</a:t>
            </a:r>
          </a:p>
        </p:txBody>
      </p:sp>
      <p:sp>
        <p:nvSpPr>
          <p:cNvPr id="4" name="code-1">
            <a:extLst xmlns:a="http://schemas.openxmlformats.org/drawingml/2006/main">
              <a:ext uri="{FF2B5EF4-FFF2-40B4-BE49-F238E27FC236}">
                <a16:creationId xmlns:a16="http://schemas.microsoft.com/office/drawing/2014/main" id="{DC49C304-2C12-49AD-9478-0F79C5F3B40B}"/>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i       condition       sum after body</a:t>
            </a:r>
          </a:p>
        </p:txBody>
      </p:sp>
      <p:sp>
        <p:nvSpPr>
          <p:cNvPr id="5" name="code-2">
            <a:extLst xmlns:a="http://schemas.openxmlformats.org/drawingml/2006/main">
              <a:ext uri="{FF2B5EF4-FFF2-40B4-BE49-F238E27FC236}">
                <a16:creationId xmlns:a16="http://schemas.microsoft.com/office/drawing/2014/main" id="{AEBA2809-F35B-4133-BC2F-A03B22ADB620}"/>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1       true            1</a:t>
            </a:r>
          </a:p>
        </p:txBody>
      </p:sp>
      <p:sp>
        <p:nvSpPr>
          <p:cNvPr id="6" name="code-3">
            <a:extLst xmlns:a="http://schemas.openxmlformats.org/drawingml/2006/main">
              <a:ext uri="{FF2B5EF4-FFF2-40B4-BE49-F238E27FC236}">
                <a16:creationId xmlns:a16="http://schemas.microsoft.com/office/drawing/2014/main" id="{E80D3D8D-1B94-4637-A60E-A88FF97B21F3}"/>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2       true            3</a:t>
            </a:r>
          </a:p>
        </p:txBody>
      </p:sp>
      <p:sp>
        <p:nvSpPr>
          <p:cNvPr id="7" name="code-4">
            <a:extLst xmlns:a="http://schemas.openxmlformats.org/drawingml/2006/main">
              <a:ext uri="{FF2B5EF4-FFF2-40B4-BE49-F238E27FC236}">
                <a16:creationId xmlns:a16="http://schemas.microsoft.com/office/drawing/2014/main" id="{F171DA53-670D-494F-81C1-4FADE8089429}"/>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3       true            6</a:t>
            </a:r>
          </a:p>
        </p:txBody>
      </p:sp>
      <p:sp>
        <p:nvSpPr>
          <p:cNvPr id="8" name="code-5">
            <a:extLst xmlns:a="http://schemas.openxmlformats.org/drawingml/2006/main">
              <a:ext uri="{FF2B5EF4-FFF2-40B4-BE49-F238E27FC236}">
                <a16:creationId xmlns:a16="http://schemas.microsoft.com/office/drawing/2014/main" id="{481750D8-7915-4BED-8DDD-F1E9A9810113}"/>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4       false           6</a:t>
            </a:r>
          </a:p>
        </p:txBody>
      </p:sp>
      <p:sp>
        <p:nvSpPr>
          <p:cNvPr id="9" name="cue-1">
            <a:extLst xmlns:a="http://schemas.openxmlformats.org/drawingml/2006/main">
              <a:ext uri="{FF2B5EF4-FFF2-40B4-BE49-F238E27FC236}">
                <a16:creationId xmlns:a16="http://schemas.microsoft.com/office/drawing/2014/main" id="{81B58CB5-941E-4021-A5B1-F1AD1FA8CA3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final test still runs, but its body does not.</a:t>
            </a:r>
          </a:p>
        </p:txBody>
      </p:sp>
    </p:spTree>
    <p:extLst>
      <p:ext uri="{BB962C8B-B14F-4D97-AF65-F5344CB8AC3E}">
        <p14:creationId xmlns:p14="http://schemas.microsoft.com/office/powerpoint/2010/main" val="125967256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EFCE370C-332F-4F5B-9A3E-8FB9A77C0B6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3B2A2E1C-78C9-42D1-A797-320F695932E4}"/>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36 / 62</a:t>
            </a:r>
          </a:p>
        </p:txBody>
      </p:sp>
      <p:sp>
        <p:nvSpPr>
          <p:cNvPr id="3" name="heading-1">
            <a:extLst xmlns:a="http://schemas.openxmlformats.org/drawingml/2006/main">
              <a:ext uri="{FF2B5EF4-FFF2-40B4-BE49-F238E27FC236}">
                <a16:creationId xmlns:a16="http://schemas.microsoft.com/office/drawing/2014/main" id="{8D14721F-5710-4275-A4F4-19DB9CC4429A}"/>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Loop boundaries</a:t>
            </a:r>
          </a:p>
        </p:txBody>
      </p:sp>
      <p:sp>
        <p:nvSpPr>
          <p:cNvPr id="4" name="code-1">
            <a:extLst xmlns:a="http://schemas.openxmlformats.org/drawingml/2006/main">
              <a:ext uri="{FF2B5EF4-FFF2-40B4-BE49-F238E27FC236}">
                <a16:creationId xmlns:a16="http://schemas.microsoft.com/office/drawing/2014/main" id="{305A3903-17AB-488F-B590-5C63C835713F}"/>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i = </a:t>
            </a:r>
            <a:r>
              <a:rPr sz="2250">
                <a:solidFill>
                  <a:srgbClr val="9A4D00"/>
                </a:solidFill>
                <a:latin typeface="Menlo"/>
                <a:ea typeface="Menlo"/>
                <a:cs typeface="Menlo"/>
              </a:rPr>
              <a:t>0</a:t>
            </a:r>
            <a:r>
              <a:rPr sz="2250">
                <a:solidFill>
                  <a:srgbClr val="222222"/>
                </a:solidFill>
                <a:latin typeface="Menlo"/>
                <a:ea typeface="Menlo"/>
                <a:cs typeface="Menlo"/>
              </a:rPr>
              <a:t>; i &lt; </a:t>
            </a:r>
            <a:r>
              <a:rPr sz="2250">
                <a:solidFill>
                  <a:srgbClr val="9A4D00"/>
                </a:solidFill>
                <a:latin typeface="Menlo"/>
                <a:ea typeface="Menlo"/>
                <a:cs typeface="Menlo"/>
              </a:rPr>
              <a:t>3</a:t>
            </a:r>
            <a:r>
              <a:rPr sz="2250">
                <a:solidFill>
                  <a:srgbClr val="222222"/>
                </a:solidFill>
                <a:latin typeface="Menlo"/>
                <a:ea typeface="Menlo"/>
                <a:cs typeface="Menlo"/>
              </a:rPr>
              <a:t>; ++i)</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54A7A29F-7778-44DD-992A-EA19DBEE76CF}"/>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i &lt;&lt; </a:t>
            </a:r>
            <a:r>
              <a:rPr sz="2250">
                <a:solidFill>
                  <a:srgbClr val="0B6B3A"/>
                </a:solidFill>
                <a:latin typeface="Menlo"/>
                <a:ea typeface="Menlo"/>
                <a:cs typeface="Menlo"/>
              </a:rPr>
              <a:t>' '</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184784BE-DF38-470E-B728-A184F0E51CE5}"/>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407B2CD4-DBAB-4A42-BA2E-6F8E528BEBB5}"/>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Prints 0 1 2</a:t>
            </a:r>
          </a:p>
        </p:txBody>
      </p:sp>
      <p:sp>
        <p:nvSpPr>
          <p:cNvPr id="8" name="cue-2">
            <a:extLst xmlns:a="http://schemas.openxmlformats.org/drawingml/2006/main">
              <a:ext uri="{FF2B5EF4-FFF2-40B4-BE49-F238E27FC236}">
                <a16:creationId xmlns:a16="http://schemas.microsoft.com/office/drawing/2014/main" id="{69069F2E-A8DA-450E-83F4-3F4C4C755EE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What appears if the test becomes &lt;= 3?</a:t>
            </a:r>
          </a:p>
        </p:txBody>
      </p:sp>
    </p:spTree>
    <p:extLst>
      <p:ext uri="{BB962C8B-B14F-4D97-AF65-F5344CB8AC3E}">
        <p14:creationId xmlns:p14="http://schemas.microsoft.com/office/powerpoint/2010/main" val="148584191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BEAE3EB0-BA9A-4C2A-81AA-E88A878DB27C}"/>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FE708140-089E-4E40-A925-F869B5B442E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37 / 62</a:t>
            </a:r>
          </a:p>
        </p:txBody>
      </p:sp>
      <p:sp>
        <p:nvSpPr>
          <p:cNvPr id="3" name="heading-1">
            <a:extLst xmlns:a="http://schemas.openxmlformats.org/drawingml/2006/main">
              <a:ext uri="{FF2B5EF4-FFF2-40B4-BE49-F238E27FC236}">
                <a16:creationId xmlns:a16="http://schemas.microsoft.com/office/drawing/2014/main" id="{65320246-C5C1-4BFA-810F-BB2086BEBF0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continue and break</a:t>
            </a:r>
          </a:p>
        </p:txBody>
      </p:sp>
      <p:sp>
        <p:nvSpPr>
          <p:cNvPr id="4" name="code-1">
            <a:extLst xmlns:a="http://schemas.openxmlformats.org/drawingml/2006/main">
              <a:ext uri="{FF2B5EF4-FFF2-40B4-BE49-F238E27FC236}">
                <a16:creationId xmlns:a16="http://schemas.microsoft.com/office/drawing/2014/main" id="{32AB03C2-DECC-463E-B4A8-88E0A068816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i = </a:t>
            </a:r>
            <a:r>
              <a:rPr sz="2250">
                <a:solidFill>
                  <a:srgbClr val="9A4D00"/>
                </a:solidFill>
                <a:latin typeface="Menlo"/>
                <a:ea typeface="Menlo"/>
                <a:cs typeface="Menlo"/>
              </a:rPr>
              <a:t>0</a:t>
            </a:r>
            <a:r>
              <a:rPr sz="2250">
                <a:solidFill>
                  <a:srgbClr val="222222"/>
                </a:solidFill>
                <a:latin typeface="Menlo"/>
                <a:ea typeface="Menlo"/>
                <a:cs typeface="Menlo"/>
              </a:rPr>
              <a:t>; i &lt; </a:t>
            </a:r>
            <a:r>
              <a:rPr sz="2250">
                <a:solidFill>
                  <a:srgbClr val="9A4D00"/>
                </a:solidFill>
                <a:latin typeface="Menlo"/>
                <a:ea typeface="Menlo"/>
                <a:cs typeface="Menlo"/>
              </a:rPr>
              <a:t>5</a:t>
            </a:r>
            <a:r>
              <a:rPr sz="2250">
                <a:solidFill>
                  <a:srgbClr val="222222"/>
                </a:solidFill>
                <a:latin typeface="Menlo"/>
                <a:ea typeface="Menlo"/>
                <a:cs typeface="Menlo"/>
              </a:rPr>
              <a:t>; ++i)</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4D627162-D8CF-452A-9B4E-FD1FAB19BDE0}"/>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(i == </a:t>
            </a:r>
            <a:r>
              <a:rPr sz="2250">
                <a:solidFill>
                  <a:srgbClr val="9A4D00"/>
                </a:solidFill>
                <a:latin typeface="Menlo"/>
                <a:ea typeface="Menlo"/>
                <a:cs typeface="Menlo"/>
              </a:rPr>
              <a:t>1</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005CC5"/>
                </a:solidFill>
                <a:latin typeface="Menlo"/>
                <a:ea typeface="Menlo"/>
                <a:cs typeface="Menlo"/>
              </a:rPr>
              <a:t>continue</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E6064B67-4536-493E-8DED-CA37BB025DD8}"/>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(i == </a:t>
            </a:r>
            <a:r>
              <a:rPr sz="2250">
                <a:solidFill>
                  <a:srgbClr val="9A4D00"/>
                </a:solidFill>
                <a:latin typeface="Menlo"/>
                <a:ea typeface="Menlo"/>
                <a:cs typeface="Menlo"/>
              </a:rPr>
              <a:t>4</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005CC5"/>
                </a:solidFill>
                <a:latin typeface="Menlo"/>
                <a:ea typeface="Menlo"/>
                <a:cs typeface="Menlo"/>
              </a:rPr>
              <a:t>break</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49677CAA-5F8D-4995-89F6-AEDA3F6CB63B}"/>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i &lt;&lt; </a:t>
            </a:r>
            <a:r>
              <a:rPr sz="2250">
                <a:solidFill>
                  <a:srgbClr val="0B6B3A"/>
                </a:solidFill>
                <a:latin typeface="Menlo"/>
                <a:ea typeface="Menlo"/>
                <a:cs typeface="Menlo"/>
              </a:rPr>
              <a:t>' '</a:t>
            </a:r>
            <a:r>
              <a:rPr sz="2250">
                <a:solidFill>
                  <a:srgbClr val="222222"/>
                </a:solidFill>
                <a:latin typeface="Menlo"/>
                <a:ea typeface="Menlo"/>
                <a:cs typeface="Menlo"/>
              </a:rPr>
              <a:t> ;</a:t>
            </a:r>
          </a:p>
        </p:txBody>
      </p:sp>
      <p:sp>
        <p:nvSpPr>
          <p:cNvPr id="8" name="code-5">
            <a:extLst xmlns:a="http://schemas.openxmlformats.org/drawingml/2006/main">
              <a:ext uri="{FF2B5EF4-FFF2-40B4-BE49-F238E27FC236}">
                <a16:creationId xmlns:a16="http://schemas.microsoft.com/office/drawing/2014/main" id="{AB81A43E-40C9-4C56-B2E6-D991E8F27FD5}"/>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55D17E24-DEE0-4D57-84C0-A0ABC80B4A79}"/>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Prints 0 2 3</a:t>
            </a:r>
          </a:p>
        </p:txBody>
      </p:sp>
      <p:sp>
        <p:nvSpPr>
          <p:cNvPr id="10" name="cue-2">
            <a:extLst xmlns:a="http://schemas.openxmlformats.org/drawingml/2006/main">
              <a:ext uri="{FF2B5EF4-FFF2-40B4-BE49-F238E27FC236}">
                <a16:creationId xmlns:a16="http://schemas.microsoft.com/office/drawing/2014/main" id="{E27ACA86-BA4F-44CE-828D-7F7F251BE05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continue skips this iteration. break exits the loop.</a:t>
            </a:r>
          </a:p>
        </p:txBody>
      </p:sp>
    </p:spTree>
    <p:extLst>
      <p:ext uri="{BB962C8B-B14F-4D97-AF65-F5344CB8AC3E}">
        <p14:creationId xmlns:p14="http://schemas.microsoft.com/office/powerpoint/2010/main" val="129756486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6A5A5D7F-1C85-4EAE-8EC6-D4C405BBD594}"/>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86038A5-70FB-4200-932A-CD20DFEB3A7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38 / 62</a:t>
            </a:r>
          </a:p>
        </p:txBody>
      </p:sp>
      <p:sp>
        <p:nvSpPr>
          <p:cNvPr id="3" name="heading-1">
            <a:extLst xmlns:a="http://schemas.openxmlformats.org/drawingml/2006/main">
              <a:ext uri="{FF2B5EF4-FFF2-40B4-BE49-F238E27FC236}">
                <a16:creationId xmlns:a16="http://schemas.microsoft.com/office/drawing/2014/main" id="{EB87962C-F588-4E9F-9DF9-93FEB65CFFBC}"/>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Array indices</a:t>
            </a:r>
          </a:p>
        </p:txBody>
      </p:sp>
      <p:sp>
        <p:nvSpPr>
          <p:cNvPr id="4" name="code-1">
            <a:extLst xmlns:a="http://schemas.openxmlformats.org/drawingml/2006/main">
              <a:ext uri="{FF2B5EF4-FFF2-40B4-BE49-F238E27FC236}">
                <a16:creationId xmlns:a16="http://schemas.microsoft.com/office/drawing/2014/main" id="{E7059DCB-D300-4F3C-9DA1-78BD82BF5CAD}"/>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scores[</a:t>
            </a:r>
            <a:r>
              <a:rPr sz="2250">
                <a:solidFill>
                  <a:srgbClr val="9A4D00"/>
                </a:solidFill>
                <a:latin typeface="Menlo"/>
                <a:ea typeface="Menlo"/>
                <a:cs typeface="Menlo"/>
              </a:rPr>
              <a:t>5</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9A4D00"/>
                </a:solidFill>
                <a:latin typeface="Menlo"/>
                <a:ea typeface="Menlo"/>
                <a:cs typeface="Menlo"/>
              </a:rPr>
              <a:t>94</a:t>
            </a:r>
            <a:r>
              <a:rPr sz="2250">
                <a:solidFill>
                  <a:srgbClr val="222222"/>
                </a:solidFill>
                <a:latin typeface="Menlo"/>
                <a:ea typeface="Menlo"/>
                <a:cs typeface="Menlo"/>
              </a:rPr>
              <a:t>, </a:t>
            </a:r>
            <a:r>
              <a:rPr sz="2250">
                <a:solidFill>
                  <a:srgbClr val="9A4D00"/>
                </a:solidFill>
                <a:latin typeface="Menlo"/>
                <a:ea typeface="Menlo"/>
                <a:cs typeface="Menlo"/>
              </a:rPr>
              <a:t>87</a:t>
            </a:r>
            <a:r>
              <a:rPr sz="2250">
                <a:solidFill>
                  <a:srgbClr val="222222"/>
                </a:solidFill>
                <a:latin typeface="Menlo"/>
                <a:ea typeface="Menlo"/>
                <a:cs typeface="Menlo"/>
              </a:rPr>
              <a:t>, </a:t>
            </a:r>
            <a:r>
              <a:rPr sz="2250">
                <a:solidFill>
                  <a:srgbClr val="9A4D00"/>
                </a:solidFill>
                <a:latin typeface="Menlo"/>
                <a:ea typeface="Menlo"/>
                <a:cs typeface="Menlo"/>
              </a:rPr>
              <a:t>50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40A536C9-48A4-427C-8626-B337F8E2218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AF92D1BE-A20D-4E5F-85BA-390B3605998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scores[</a:t>
            </a:r>
            <a:r>
              <a:rPr sz="2250">
                <a:solidFill>
                  <a:srgbClr val="9A4D00"/>
                </a:solidFill>
                <a:latin typeface="Menlo"/>
                <a:ea typeface="Menlo"/>
                <a:cs typeface="Menlo"/>
              </a:rPr>
              <a:t>0</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C1CCD85E-7DCB-497F-A778-A7495B7A5D82}"/>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scores[</a:t>
            </a:r>
            <a:r>
              <a:rPr sz="2250">
                <a:solidFill>
                  <a:srgbClr val="9A4D00"/>
                </a:solidFill>
                <a:latin typeface="Menlo"/>
                <a:ea typeface="Menlo"/>
                <a:cs typeface="Menlo"/>
              </a:rPr>
              <a:t>4</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2DF4F9B6-C32D-44D8-9BFE-BBF8AB329715}"/>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5 positions: 0, 1, 2, 3, 4</a:t>
            </a:r>
          </a:p>
        </p:txBody>
      </p:sp>
      <p:sp>
        <p:nvSpPr>
          <p:cNvPr id="9" name="cue-2">
            <a:extLst xmlns:a="http://schemas.openxmlformats.org/drawingml/2006/main">
              <a:ext uri="{FF2B5EF4-FFF2-40B4-BE49-F238E27FC236}">
                <a16:creationId xmlns:a16="http://schemas.microsoft.com/office/drawing/2014/main" id="{FEE9FD2A-5EDC-4744-AD77-70D44719EAB4}"/>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remaining elements are initialized to 0.</a:t>
            </a:r>
          </a:p>
        </p:txBody>
      </p:sp>
    </p:spTree>
    <p:extLst>
      <p:ext uri="{BB962C8B-B14F-4D97-AF65-F5344CB8AC3E}">
        <p14:creationId xmlns:p14="http://schemas.microsoft.com/office/powerpoint/2010/main" val="56688496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5D70176A-B6DC-475B-AF4F-10184CA7AA05}"/>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36F1FEA-9C6E-4545-9637-0C0C67646F9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39 / 62</a:t>
            </a:r>
          </a:p>
        </p:txBody>
      </p:sp>
      <p:sp>
        <p:nvSpPr>
          <p:cNvPr id="3" name="heading-1">
            <a:extLst xmlns:a="http://schemas.openxmlformats.org/drawingml/2006/main">
              <a:ext uri="{FF2B5EF4-FFF2-40B4-BE49-F238E27FC236}">
                <a16:creationId xmlns:a16="http://schemas.microsoft.com/office/drawing/2014/main" id="{E3A7EB53-6800-4742-813F-2870E433D6F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Initialization affects element values</a:t>
            </a:r>
          </a:p>
        </p:txBody>
      </p:sp>
      <p:sp>
        <p:nvSpPr>
          <p:cNvPr id="4" name="code-1">
            <a:extLst xmlns:a="http://schemas.openxmlformats.org/drawingml/2006/main">
              <a:ext uri="{FF2B5EF4-FFF2-40B4-BE49-F238E27FC236}">
                <a16:creationId xmlns:a16="http://schemas.microsoft.com/office/drawing/2014/main" id="{33D749B7-59C3-4196-BE05-6DA31A03E66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a:t>
            </a:r>
            <a:r>
              <a:rPr sz="2250">
                <a:solidFill>
                  <a:srgbClr val="9A4D00"/>
                </a:solidFill>
                <a:latin typeface="Menlo"/>
                <a:ea typeface="Menlo"/>
                <a:cs typeface="Menlo"/>
              </a:rPr>
              <a:t>3</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9A4D00"/>
                </a:solidFill>
                <a:latin typeface="Menlo"/>
                <a:ea typeface="Menlo"/>
                <a:cs typeface="Menlo"/>
              </a:rPr>
              <a:t>0</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0, 0, 0</a:t>
            </a:r>
          </a:p>
        </p:txBody>
      </p:sp>
      <p:sp>
        <p:nvSpPr>
          <p:cNvPr id="5" name="code-2">
            <a:extLst xmlns:a="http://schemas.openxmlformats.org/drawingml/2006/main">
              <a:ext uri="{FF2B5EF4-FFF2-40B4-BE49-F238E27FC236}">
                <a16:creationId xmlns:a16="http://schemas.microsoft.com/office/drawing/2014/main" id="{35E5E911-A5EB-4C6E-A61D-B3F2DDB45FA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b[</a:t>
            </a:r>
            <a:r>
              <a:rPr sz="2250">
                <a:solidFill>
                  <a:srgbClr val="9A4D00"/>
                </a:solidFill>
                <a:latin typeface="Menlo"/>
                <a:ea typeface="Menlo"/>
                <a:cs typeface="Menlo"/>
              </a:rPr>
              <a:t>3</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9A4D00"/>
                </a:solidFill>
                <a:latin typeface="Menlo"/>
                <a:ea typeface="Menlo"/>
                <a:cs typeface="Menlo"/>
              </a:rPr>
              <a:t>5</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5, 0, 0</a:t>
            </a:r>
          </a:p>
        </p:txBody>
      </p:sp>
      <p:sp>
        <p:nvSpPr>
          <p:cNvPr id="6" name="code-3">
            <a:extLst xmlns:a="http://schemas.openxmlformats.org/drawingml/2006/main">
              <a:ext uri="{FF2B5EF4-FFF2-40B4-BE49-F238E27FC236}">
                <a16:creationId xmlns:a16="http://schemas.microsoft.com/office/drawing/2014/main" id="{D6938868-A9B5-43B5-A8A3-D5B4EE34413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c[</a:t>
            </a:r>
            <a:r>
              <a:rPr sz="2250">
                <a:solidFill>
                  <a:srgbClr val="9A4D00"/>
                </a:solidFill>
                <a:latin typeface="Menlo"/>
                <a:ea typeface="Menlo"/>
                <a:cs typeface="Menlo"/>
              </a:rPr>
              <a:t>3</a:t>
            </a:r>
            <a:r>
              <a:rPr sz="2250">
                <a:solidFill>
                  <a:srgbClr val="222222"/>
                </a:solidFill>
                <a:latin typeface="Menlo"/>
                <a:ea typeface="Menlo"/>
                <a:cs typeface="Menlo"/>
              </a:rPr>
              <a:t>];         </a:t>
            </a:r>
            <a:r>
              <a:rPr sz="2250">
                <a:solidFill>
                  <a:srgbClr val="59636E"/>
                </a:solidFill>
                <a:latin typeface="Menlo"/>
                <a:ea typeface="Menlo"/>
                <a:cs typeface="Menlo"/>
              </a:rPr>
              <a:t>// uninitialized local ints</a:t>
            </a:r>
          </a:p>
        </p:txBody>
      </p:sp>
      <p:sp>
        <p:nvSpPr>
          <p:cNvPr id="7" name="cue-1">
            <a:extLst xmlns:a="http://schemas.openxmlformats.org/drawingml/2006/main">
              <a:ext uri="{FF2B5EF4-FFF2-40B4-BE49-F238E27FC236}">
                <a16:creationId xmlns:a16="http://schemas.microsoft.com/office/drawing/2014/main" id="{CB1BF939-2435-4AAF-BFFA-2BD2E7120862}"/>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Uninitialized local elements are not valid values to read.</a:t>
            </a:r>
          </a:p>
        </p:txBody>
      </p:sp>
    </p:spTree>
    <p:extLst>
      <p:ext uri="{BB962C8B-B14F-4D97-AF65-F5344CB8AC3E}">
        <p14:creationId xmlns:p14="http://schemas.microsoft.com/office/powerpoint/2010/main" val="24385786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D16591C9-3A03-4C1E-90B5-60F84A413ED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28C7BC86-68C6-4A51-A4F1-3C824895152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40 / 62</a:t>
            </a:r>
          </a:p>
        </p:txBody>
      </p:sp>
      <p:sp>
        <p:nvSpPr>
          <p:cNvPr id="3" name="heading-1">
            <a:extLst xmlns:a="http://schemas.openxmlformats.org/drawingml/2006/main">
              <a:ext uri="{FF2B5EF4-FFF2-40B4-BE49-F238E27FC236}">
                <a16:creationId xmlns:a16="http://schemas.microsoft.com/office/drawing/2014/main" id="{B43786A6-1A3D-4AD8-82F3-129FDE557942}"/>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Assigning a std::array</a:t>
            </a:r>
          </a:p>
        </p:txBody>
      </p:sp>
      <p:sp>
        <p:nvSpPr>
          <p:cNvPr id="4" name="code-1">
            <a:extLst xmlns:a="http://schemas.openxmlformats.org/drawingml/2006/main">
              <a:ext uri="{FF2B5EF4-FFF2-40B4-BE49-F238E27FC236}">
                <a16:creationId xmlns:a16="http://schemas.microsoft.com/office/drawing/2014/main" id="{E4D53030-1F80-48C4-A9C4-453CCF984E3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array&lt;</a:t>
            </a:r>
            <a:r>
              <a:rPr sz="2250">
                <a:solidFill>
                  <a:srgbClr val="6F42C1"/>
                </a:solidFill>
                <a:latin typeface="Menlo"/>
                <a:ea typeface="Menlo"/>
                <a:cs typeface="Menlo"/>
              </a:rPr>
              <a:t>int</a:t>
            </a:r>
            <a:r>
              <a:rPr sz="2250">
                <a:solidFill>
                  <a:srgbClr val="222222"/>
                </a:solidFill>
                <a:latin typeface="Menlo"/>
                <a:ea typeface="Menlo"/>
                <a:cs typeface="Menlo"/>
              </a:rPr>
              <a:t>, 3&gt;</a:t>
            </a:r>
            <a:r>
              <a:rPr sz="2250">
                <a:solidFill>
                  <a:srgbClr val="222222"/>
                </a:solidFill>
                <a:latin typeface="Menlo"/>
                <a:ea typeface="Menlo"/>
                <a:cs typeface="Menlo"/>
              </a:rPr>
              <a:t> a </a:t>
            </a:r>
            <a:r>
              <a:rPr sz="2250">
                <a:solidFill>
                  <a:srgbClr val="222222"/>
                </a:solidFill>
                <a:latin typeface="Menlo"/>
                <a:ea typeface="Menlo"/>
                <a:cs typeface="Menlo"/>
              </a:rPr>
              <a:t>= {</a:t>
            </a:r>
            <a:r>
              <a:rPr sz="2250">
                <a:solidFill>
                  <a:srgbClr val="9A4D00"/>
                </a:solidFill>
                <a:latin typeface="Menlo"/>
                <a:ea typeface="Menlo"/>
                <a:cs typeface="Menlo"/>
              </a:rPr>
              <a:t>94</a:t>
            </a:r>
            <a:r>
              <a:rPr sz="2250">
                <a:solidFill>
                  <a:srgbClr val="222222"/>
                </a:solidFill>
                <a:latin typeface="Menlo"/>
                <a:ea typeface="Menlo"/>
                <a:cs typeface="Menlo"/>
              </a:rPr>
              <a:t>, </a:t>
            </a:r>
            <a:r>
              <a:rPr sz="2250">
                <a:solidFill>
                  <a:srgbClr val="9A4D00"/>
                </a:solidFill>
                <a:latin typeface="Menlo"/>
                <a:ea typeface="Menlo"/>
                <a:cs typeface="Menlo"/>
              </a:rPr>
              <a:t>87</a:t>
            </a:r>
            <a:r>
              <a:rPr sz="2250">
                <a:solidFill>
                  <a:srgbClr val="222222"/>
                </a:solidFill>
                <a:latin typeface="Menlo"/>
                <a:ea typeface="Menlo"/>
                <a:cs typeface="Menlo"/>
              </a:rPr>
              <a:t>, </a:t>
            </a:r>
            <a:r>
              <a:rPr sz="2250">
                <a:solidFill>
                  <a:srgbClr val="9A4D00"/>
                </a:solidFill>
                <a:latin typeface="Menlo"/>
                <a:ea typeface="Menlo"/>
                <a:cs typeface="Menlo"/>
              </a:rPr>
              <a:t>50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83B59605-0DE6-4301-8481-76A70FB4392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array&lt;</a:t>
            </a:r>
            <a:r>
              <a:rPr sz="2250">
                <a:solidFill>
                  <a:srgbClr val="6F42C1"/>
                </a:solidFill>
                <a:latin typeface="Menlo"/>
                <a:ea typeface="Menlo"/>
                <a:cs typeface="Menlo"/>
              </a:rPr>
              <a:t>int</a:t>
            </a:r>
            <a:r>
              <a:rPr sz="2250">
                <a:solidFill>
                  <a:srgbClr val="222222"/>
                </a:solidFill>
                <a:latin typeface="Menlo"/>
                <a:ea typeface="Menlo"/>
                <a:cs typeface="Menlo"/>
              </a:rPr>
              <a:t>, 3&gt;</a:t>
            </a:r>
            <a:r>
              <a:rPr sz="2250">
                <a:solidFill>
                  <a:srgbClr val="222222"/>
                </a:solidFill>
                <a:latin typeface="Menlo"/>
                <a:ea typeface="Menlo"/>
                <a:cs typeface="Menlo"/>
              </a:rPr>
              <a:t> b </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EE6658CC-AFB4-4DF1-A4F5-1175F5562620}"/>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 </a:t>
            </a:r>
            <a:r>
              <a:rPr sz="2250">
                <a:solidFill>
                  <a:srgbClr val="222222"/>
                </a:solidFill>
                <a:latin typeface="Menlo"/>
                <a:ea typeface="Menlo"/>
                <a:cs typeface="Menlo"/>
              </a:rPr>
              <a:t>= a;</a:t>
            </a:r>
          </a:p>
        </p:txBody>
      </p:sp>
      <p:sp>
        <p:nvSpPr>
          <p:cNvPr id="7" name="code-4">
            <a:extLst xmlns:a="http://schemas.openxmlformats.org/drawingml/2006/main">
              <a:ext uri="{FF2B5EF4-FFF2-40B4-BE49-F238E27FC236}">
                <a16:creationId xmlns:a16="http://schemas.microsoft.com/office/drawing/2014/main" id="{8C1046D5-ECB8-42DE-B6E0-42B8D01D6D90}"/>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t>
            </a:r>
            <a:r>
              <a:rPr sz="2250">
                <a:solidFill>
                  <a:srgbClr val="9A4D00"/>
                </a:solidFill>
                <a:latin typeface="Menlo"/>
                <a:ea typeface="Menlo"/>
                <a:cs typeface="Menlo"/>
              </a:rPr>
              <a:t>0</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9A4D00"/>
                </a:solidFill>
                <a:latin typeface="Menlo"/>
                <a:ea typeface="Menlo"/>
                <a:cs typeface="Menlo"/>
              </a:rPr>
              <a:t>100</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9CFA71C0-295C-4633-9ED6-DC8BAF326178}"/>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a[0] remains 94</a:t>
            </a:r>
          </a:p>
        </p:txBody>
      </p:sp>
      <p:sp>
        <p:nvSpPr>
          <p:cNvPr id="9" name="cue-2">
            <a:extLst xmlns:a="http://schemas.openxmlformats.org/drawingml/2006/main">
              <a:ext uri="{FF2B5EF4-FFF2-40B4-BE49-F238E27FC236}">
                <a16:creationId xmlns:a16="http://schemas.microsoft.com/office/drawing/2014/main" id="{4FA9FB98-3EA1-4B9B-B1B2-FFBA28C6A46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Built-in arrays do not support b = a.</a:t>
            </a:r>
          </a:p>
        </p:txBody>
      </p:sp>
    </p:spTree>
    <p:extLst>
      <p:ext uri="{BB962C8B-B14F-4D97-AF65-F5344CB8AC3E}">
        <p14:creationId xmlns:p14="http://schemas.microsoft.com/office/powerpoint/2010/main" val="3344569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3B6883F1-D0DC-4890-8E68-5F5CE0355EBB}"/>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A5C849F-1EF8-4B66-8EE8-444BCE4258B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41 / 62</a:t>
            </a:r>
          </a:p>
        </p:txBody>
      </p:sp>
      <p:sp>
        <p:nvSpPr>
          <p:cNvPr id="3" name="heading-1">
            <a:extLst xmlns:a="http://schemas.openxmlformats.org/drawingml/2006/main">
              <a:ext uri="{FF2B5EF4-FFF2-40B4-BE49-F238E27FC236}">
                <a16:creationId xmlns:a16="http://schemas.microsoft.com/office/drawing/2014/main" id="{F956DA80-D455-409F-83F8-A971B09C4A97}"/>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Copies hold independent elements</a:t>
            </a:r>
          </a:p>
        </p:txBody>
      </p:sp>
      <p:sp>
        <p:nvSpPr>
          <p:cNvPr id="4" name="code-1">
            <a:extLst xmlns:a="http://schemas.openxmlformats.org/drawingml/2006/main">
              <a:ext uri="{FF2B5EF4-FFF2-40B4-BE49-F238E27FC236}">
                <a16:creationId xmlns:a16="http://schemas.microsoft.com/office/drawing/2014/main" id="{82D1C3A0-3F74-4C33-B3CE-46E770DE84E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a:  94  87  50</a:t>
            </a:r>
          </a:p>
        </p:txBody>
      </p:sp>
      <p:sp>
        <p:nvSpPr>
          <p:cNvPr id="5" name="code-2">
            <a:extLst xmlns:a="http://schemas.openxmlformats.org/drawingml/2006/main">
              <a:ext uri="{FF2B5EF4-FFF2-40B4-BE49-F238E27FC236}">
                <a16:creationId xmlns:a16="http://schemas.microsoft.com/office/drawing/2014/main" id="{F5D6BADD-27DB-4272-9A52-32D5B654C70F}"/>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b:  94  87  50   // after b = a</a:t>
            </a:r>
          </a:p>
        </p:txBody>
      </p:sp>
      <p:sp>
        <p:nvSpPr>
          <p:cNvPr id="6" name="code-3">
            <a:extLst xmlns:a="http://schemas.openxmlformats.org/drawingml/2006/main">
              <a:ext uri="{FF2B5EF4-FFF2-40B4-BE49-F238E27FC236}">
                <a16:creationId xmlns:a16="http://schemas.microsoft.com/office/drawing/2014/main" id="{5FDAEBDD-5C38-4167-815D-09B302AC7D2A}"/>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7" name="code-4">
            <a:extLst xmlns:a="http://schemas.openxmlformats.org/drawingml/2006/main">
              <a:ext uri="{FF2B5EF4-FFF2-40B4-BE49-F238E27FC236}">
                <a16:creationId xmlns:a16="http://schemas.microsoft.com/office/drawing/2014/main" id="{2B06EAEF-914F-419A-BECA-11DC0C5FB16E}"/>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b[0] = 100</a:t>
            </a:r>
          </a:p>
        </p:txBody>
      </p:sp>
      <p:sp>
        <p:nvSpPr>
          <p:cNvPr id="8" name="code-5">
            <a:extLst xmlns:a="http://schemas.openxmlformats.org/drawingml/2006/main">
              <a:ext uri="{FF2B5EF4-FFF2-40B4-BE49-F238E27FC236}">
                <a16:creationId xmlns:a16="http://schemas.microsoft.com/office/drawing/2014/main" id="{9188ED66-FFC7-472A-AB72-F97F1E8F1DB5}"/>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9" name="code-6">
            <a:extLst xmlns:a="http://schemas.openxmlformats.org/drawingml/2006/main">
              <a:ext uri="{FF2B5EF4-FFF2-40B4-BE49-F238E27FC236}">
                <a16:creationId xmlns:a16="http://schemas.microsoft.com/office/drawing/2014/main" id="{BF5BA5EA-E406-45D8-ACE7-9011BA183C73}"/>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a:  94  87  50</a:t>
            </a:r>
          </a:p>
        </p:txBody>
      </p:sp>
      <p:sp>
        <p:nvSpPr>
          <p:cNvPr id="10" name="code-7">
            <a:extLst xmlns:a="http://schemas.openxmlformats.org/drawingml/2006/main">
              <a:ext uri="{FF2B5EF4-FFF2-40B4-BE49-F238E27FC236}">
                <a16:creationId xmlns:a16="http://schemas.microsoft.com/office/drawing/2014/main" id="{B50367A4-5FC8-4B92-9D18-21A8FD728CA5}"/>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b: 100  87  50</a:t>
            </a:r>
          </a:p>
        </p:txBody>
      </p:sp>
      <p:sp>
        <p:nvSpPr>
          <p:cNvPr id="11" name="cue-1">
            <a:extLst xmlns:a="http://schemas.openxmlformats.org/drawingml/2006/main">
              <a:ext uri="{FF2B5EF4-FFF2-40B4-BE49-F238E27FC236}">
                <a16:creationId xmlns:a16="http://schemas.microsoft.com/office/drawing/2014/main" id="{B15C4897-FACA-4A09-B810-54345D601F3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value copy creates a separate object. Later changes do not synchronize.</a:t>
            </a:r>
          </a:p>
        </p:txBody>
      </p:sp>
    </p:spTree>
    <p:extLst>
      <p:ext uri="{BB962C8B-B14F-4D97-AF65-F5344CB8AC3E}">
        <p14:creationId xmlns:p14="http://schemas.microsoft.com/office/powerpoint/2010/main" val="119405714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DB6DD310-DB0F-4A73-AC7F-38EF0202720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0426E265-E895-400D-9FC7-2A8E870988F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42 / 62</a:t>
            </a:r>
          </a:p>
        </p:txBody>
      </p:sp>
      <p:sp>
        <p:nvSpPr>
          <p:cNvPr id="3" name="heading-1">
            <a:extLst xmlns:a="http://schemas.openxmlformats.org/drawingml/2006/main">
              <a:ext uri="{FF2B5EF4-FFF2-40B4-BE49-F238E27FC236}">
                <a16:creationId xmlns:a16="http://schemas.microsoft.com/office/drawing/2014/main" id="{82162127-C600-4F74-B991-8781F07B1855}"/>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Copies in a range loop</a:t>
            </a:r>
          </a:p>
        </p:txBody>
      </p:sp>
      <p:sp>
        <p:nvSpPr>
          <p:cNvPr id="4" name="code-1">
            <a:extLst xmlns:a="http://schemas.openxmlformats.org/drawingml/2006/main">
              <a:ext uri="{FF2B5EF4-FFF2-40B4-BE49-F238E27FC236}">
                <a16:creationId xmlns:a16="http://schemas.microsoft.com/office/drawing/2014/main" id="{5ED80102-2C3E-431C-A978-1F401B52D890}"/>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array&lt;</a:t>
            </a:r>
            <a:r>
              <a:rPr sz="2250">
                <a:solidFill>
                  <a:srgbClr val="6F42C1"/>
                </a:solidFill>
                <a:latin typeface="Menlo"/>
                <a:ea typeface="Menlo"/>
                <a:cs typeface="Menlo"/>
              </a:rPr>
              <a:t>int</a:t>
            </a:r>
            <a:r>
              <a:rPr sz="2250">
                <a:solidFill>
                  <a:srgbClr val="222222"/>
                </a:solidFill>
                <a:latin typeface="Menlo"/>
                <a:ea typeface="Menlo"/>
                <a:cs typeface="Menlo"/>
              </a:rPr>
              <a:t>, 3&gt;</a:t>
            </a:r>
            <a:r>
              <a:rPr sz="2250">
                <a:solidFill>
                  <a:srgbClr val="222222"/>
                </a:solidFill>
                <a:latin typeface="Menlo"/>
                <a:ea typeface="Menlo"/>
                <a:cs typeface="Menlo"/>
              </a:rPr>
              <a:t> scores </a:t>
            </a:r>
            <a:r>
              <a:rPr sz="2250">
                <a:solidFill>
                  <a:srgbClr val="222222"/>
                </a:solidFill>
                <a:latin typeface="Menlo"/>
                <a:ea typeface="Menlo"/>
                <a:cs typeface="Menlo"/>
              </a:rPr>
              <a:t>= {</a:t>
            </a:r>
            <a:r>
              <a:rPr sz="2250">
                <a:solidFill>
                  <a:srgbClr val="9A4D00"/>
                </a:solidFill>
                <a:latin typeface="Menlo"/>
                <a:ea typeface="Menlo"/>
                <a:cs typeface="Menlo"/>
              </a:rPr>
              <a:t>60</a:t>
            </a:r>
            <a:r>
              <a:rPr sz="2250">
                <a:solidFill>
                  <a:srgbClr val="222222"/>
                </a:solidFill>
                <a:latin typeface="Menlo"/>
                <a:ea typeface="Menlo"/>
                <a:cs typeface="Menlo"/>
              </a:rPr>
              <a:t>, </a:t>
            </a:r>
            <a:r>
              <a:rPr sz="2250">
                <a:solidFill>
                  <a:srgbClr val="9A4D00"/>
                </a:solidFill>
                <a:latin typeface="Menlo"/>
                <a:ea typeface="Menlo"/>
                <a:cs typeface="Menlo"/>
              </a:rPr>
              <a:t>70</a:t>
            </a:r>
            <a:r>
              <a:rPr sz="2250">
                <a:solidFill>
                  <a:srgbClr val="222222"/>
                </a:solidFill>
                <a:latin typeface="Menlo"/>
                <a:ea typeface="Menlo"/>
                <a:cs typeface="Menlo"/>
              </a:rPr>
              <a:t>, </a:t>
            </a:r>
            <a:r>
              <a:rPr sz="2250">
                <a:solidFill>
                  <a:srgbClr val="9A4D00"/>
                </a:solidFill>
                <a:latin typeface="Menlo"/>
                <a:ea typeface="Menlo"/>
                <a:cs typeface="Menlo"/>
              </a:rPr>
              <a:t>80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C6FEA12D-41A8-4233-9B6B-88E8EEE2595A}"/>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610150CC-AADA-43CA-89CE-00A02FE726E7}"/>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score : scores)</a:t>
            </a:r>
            <a:r>
              <a:rPr sz="2250">
                <a:solidFill>
                  <a:srgbClr val="222222"/>
                </a:solidFill>
                <a:latin typeface="Menlo"/>
                <a:ea typeface="Menlo"/>
                <a:cs typeface="Menlo"/>
              </a:rPr>
              <a:t> {</a:t>
            </a:r>
          </a:p>
        </p:txBody>
      </p:sp>
      <p:sp>
        <p:nvSpPr>
          <p:cNvPr id="7" name="code-4">
            <a:extLst xmlns:a="http://schemas.openxmlformats.org/drawingml/2006/main">
              <a:ext uri="{FF2B5EF4-FFF2-40B4-BE49-F238E27FC236}">
                <a16:creationId xmlns:a16="http://schemas.microsoft.com/office/drawing/2014/main" id="{8B97803C-561A-47EC-9751-DBC2425EAD4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5</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73995487-1165-42AF-9314-82AD198A6CBE}"/>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CF46658D-1B15-432F-A7C8-C2285B7AE76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After the loop, is scores[0] 60 or 65?</a:t>
            </a:r>
          </a:p>
        </p:txBody>
      </p:sp>
    </p:spTree>
    <p:extLst>
      <p:ext uri="{BB962C8B-B14F-4D97-AF65-F5344CB8AC3E}">
        <p14:creationId xmlns:p14="http://schemas.microsoft.com/office/powerpoint/2010/main" val="209374139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0D74BC50-DB59-4213-BBF0-8EE5C5778E4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EC463269-8323-43A3-A890-A38ED409F73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43 / 62</a:t>
            </a:r>
          </a:p>
        </p:txBody>
      </p:sp>
      <p:sp>
        <p:nvSpPr>
          <p:cNvPr id="3" name="heading-1">
            <a:extLst xmlns:a="http://schemas.openxmlformats.org/drawingml/2006/main">
              <a:ext uri="{FF2B5EF4-FFF2-40B4-BE49-F238E27FC236}">
                <a16:creationId xmlns:a16="http://schemas.microsoft.com/office/drawing/2014/main" id="{D022CCC1-09BD-4C1D-834C-F68B8037394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Changing elements through a reference</a:t>
            </a:r>
          </a:p>
        </p:txBody>
      </p:sp>
      <p:sp>
        <p:nvSpPr>
          <p:cNvPr id="4" name="code-1">
            <a:extLst xmlns:a="http://schemas.openxmlformats.org/drawingml/2006/main">
              <a:ext uri="{FF2B5EF4-FFF2-40B4-BE49-F238E27FC236}">
                <a16:creationId xmlns:a16="http://schemas.microsoft.com/office/drawing/2014/main" id="{38FC6373-6172-49F4-844B-43C0A105D436}"/>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&amp; score : scores)</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3F3E7297-3556-4968-8642-7BF3A672DF22}"/>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5</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77097168-336E-40EB-9459-31E9151828AE}"/>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E7C882D9-D7DF-4B18-BA86-EB04873D2FAD}"/>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scores becomes 65, 75, 85</a:t>
            </a:r>
          </a:p>
        </p:txBody>
      </p:sp>
      <p:sp>
        <p:nvSpPr>
          <p:cNvPr id="8" name="cue-2">
            <a:extLst xmlns:a="http://schemas.openxmlformats.org/drawingml/2006/main">
              <a:ext uri="{FF2B5EF4-FFF2-40B4-BE49-F238E27FC236}">
                <a16:creationId xmlns:a16="http://schemas.microsoft.com/office/drawing/2014/main" id="{84E912A2-1496-4DCD-AC32-6EC52A263D7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Here &amp; gives an alias for each element.</a:t>
            </a:r>
          </a:p>
        </p:txBody>
      </p:sp>
    </p:spTree>
    <p:extLst>
      <p:ext uri="{BB962C8B-B14F-4D97-AF65-F5344CB8AC3E}">
        <p14:creationId xmlns:p14="http://schemas.microsoft.com/office/powerpoint/2010/main" val="9176599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F145C599-F5E3-4759-97CD-78692125051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81A547A-1753-460A-86E1-DB5F30B7DA2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44 / 62</a:t>
            </a:r>
          </a:p>
        </p:txBody>
      </p:sp>
      <p:sp>
        <p:nvSpPr>
          <p:cNvPr id="3" name="heading-1">
            <a:extLst xmlns:a="http://schemas.openxmlformats.org/drawingml/2006/main">
              <a:ext uri="{FF2B5EF4-FFF2-40B4-BE49-F238E27FC236}">
                <a16:creationId xmlns:a16="http://schemas.microsoft.com/office/drawing/2014/main" id="{4A87AAC8-E988-4B3F-A4DF-248938A2B6B3}"/>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Three range-loop forms</a:t>
            </a:r>
          </a:p>
        </p:txBody>
      </p:sp>
      <p:sp>
        <p:nvSpPr>
          <p:cNvPr id="4" name="code-1">
            <a:extLst xmlns:a="http://schemas.openxmlformats.org/drawingml/2006/main">
              <a:ext uri="{FF2B5EF4-FFF2-40B4-BE49-F238E27FC236}">
                <a16:creationId xmlns:a16="http://schemas.microsoft.com/office/drawing/2014/main" id="{1D34C178-2B2F-4799-BB9E-B1D31255020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value : scores)</a:t>
            </a:r>
            <a:r>
              <a:rPr sz="2250">
                <a:solidFill>
                  <a:srgbClr val="222222"/>
                </a:solidFill>
                <a:latin typeface="Menlo"/>
                <a:ea typeface="Menlo"/>
                <a:cs typeface="Menlo"/>
              </a:rPr>
              <a:t>      </a:t>
            </a:r>
            <a:r>
              <a:rPr sz="2250">
                <a:solidFill>
                  <a:srgbClr val="59636E"/>
                </a:solidFill>
                <a:latin typeface="Menlo"/>
                <a:ea typeface="Menlo"/>
                <a:cs typeface="Menlo"/>
              </a:rPr>
              <a:t>// copy</a:t>
            </a:r>
          </a:p>
        </p:txBody>
      </p:sp>
      <p:sp>
        <p:nvSpPr>
          <p:cNvPr id="5" name="code-2">
            <a:extLst xmlns:a="http://schemas.openxmlformats.org/drawingml/2006/main">
              <a:ext uri="{FF2B5EF4-FFF2-40B4-BE49-F238E27FC236}">
                <a16:creationId xmlns:a16="http://schemas.microsoft.com/office/drawing/2014/main" id="{B6AEC74D-AD59-469C-8D0A-9E249379CA6A}"/>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&amp; value : scores)</a:t>
            </a:r>
            <a:r>
              <a:rPr sz="2250">
                <a:solidFill>
                  <a:srgbClr val="222222"/>
                </a:solidFill>
                <a:latin typeface="Menlo"/>
                <a:ea typeface="Menlo"/>
                <a:cs typeface="Menlo"/>
              </a:rPr>
              <a:t>     </a:t>
            </a:r>
            <a:r>
              <a:rPr sz="2250">
                <a:solidFill>
                  <a:srgbClr val="59636E"/>
                </a:solidFill>
                <a:latin typeface="Menlo"/>
                <a:ea typeface="Menlo"/>
                <a:cs typeface="Menlo"/>
              </a:rPr>
              <a:t>// modify element</a:t>
            </a:r>
          </a:p>
        </p:txBody>
      </p:sp>
      <p:sp>
        <p:nvSpPr>
          <p:cNvPr id="6" name="code-3">
            <a:extLst xmlns:a="http://schemas.openxmlformats.org/drawingml/2006/main">
              <a:ext uri="{FF2B5EF4-FFF2-40B4-BE49-F238E27FC236}">
                <a16:creationId xmlns:a16="http://schemas.microsoft.com/office/drawing/2014/main" id="{11E86B5E-60D2-44DF-9E35-33B0EF35CA57}"/>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&amp; value : scores)</a:t>
            </a:r>
            <a:r>
              <a:rPr sz="2250">
                <a:solidFill>
                  <a:srgbClr val="222222"/>
                </a:solidFill>
                <a:latin typeface="Menlo"/>
                <a:ea typeface="Menlo"/>
                <a:cs typeface="Menlo"/>
              </a:rPr>
              <a:t> </a:t>
            </a:r>
            <a:r>
              <a:rPr sz="2250">
                <a:solidFill>
                  <a:srgbClr val="59636E"/>
                </a:solidFill>
                <a:latin typeface="Menlo"/>
                <a:ea typeface="Menlo"/>
                <a:cs typeface="Menlo"/>
              </a:rPr>
              <a:t>// read only</a:t>
            </a:r>
          </a:p>
        </p:txBody>
      </p:sp>
      <p:sp>
        <p:nvSpPr>
          <p:cNvPr id="7" name="cue-1">
            <a:extLst xmlns:a="http://schemas.openxmlformats.org/drawingml/2006/main">
              <a:ext uri="{FF2B5EF4-FFF2-40B4-BE49-F238E27FC236}">
                <a16:creationId xmlns:a16="http://schemas.microsoft.com/office/drawing/2014/main" id="{2E7B31BA-DCE3-4208-918F-BD2E83E4B26B}"/>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Choose the loop variable type based on whether elements should change.</a:t>
            </a:r>
          </a:p>
        </p:txBody>
      </p:sp>
    </p:spTree>
    <p:extLst>
      <p:ext uri="{BB962C8B-B14F-4D97-AF65-F5344CB8AC3E}">
        <p14:creationId xmlns:p14="http://schemas.microsoft.com/office/powerpoint/2010/main" val="1616207187"/>
      </p:ext>
    </p:extLst>
  </p:cSld>
</p:sld>
</file>

<file path=ppt/slides/slide45.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AE4487A2-C0B3-41CF-B093-F6483C2D266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A26258C-AA64-481D-8A7A-1DE1EE81FA2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45 / 62</a:t>
            </a:r>
          </a:p>
        </p:txBody>
      </p:sp>
      <p:sp>
        <p:nvSpPr>
          <p:cNvPr id="3" name="heading-1">
            <a:extLst xmlns:a="http://schemas.openxmlformats.org/drawingml/2006/main">
              <a:ext uri="{FF2B5EF4-FFF2-40B4-BE49-F238E27FC236}">
                <a16:creationId xmlns:a16="http://schemas.microsoft.com/office/drawing/2014/main" id="{14523C4A-F6D8-4AB1-9FAA-1389FE7D40BE}"/>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count passing scores</a:t>
            </a:r>
          </a:p>
        </p:txBody>
      </p:sp>
      <p:sp>
        <p:nvSpPr>
          <p:cNvPr id="4" name="body-1">
            <a:extLst xmlns:a="http://schemas.openxmlformats.org/drawingml/2006/main">
              <a:ext uri="{FF2B5EF4-FFF2-40B4-BE49-F238E27FC236}">
                <a16:creationId xmlns:a16="http://schemas.microsoft.com/office/drawing/2014/main" id="{0A0D769F-46BC-4038-AEAF-E859DC055FE4}"/>
              </a:ext>
            </a:extLst>
          </p:cNvPr>
          <p:cNvSpPr>
            <a:spLocks xmlns:a="http://schemas.openxmlformats.org/drawingml/2006/main" noGrp="1"/>
          </p:cNvSpPr>
          <p:nvPr/>
        </p:nvSpPr>
        <p:spPr>
          <a:xfrm xmlns:a="http://schemas.openxmlformats.org/drawingml/2006/main">
            <a:off x="800100" y="22383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Given {94, 87, 50, 60, 0}</a:t>
            </a:r>
          </a:p>
        </p:txBody>
      </p:sp>
      <p:sp>
        <p:nvSpPr>
          <p:cNvPr id="5" name="body-2">
            <a:extLst xmlns:a="http://schemas.openxmlformats.org/drawingml/2006/main">
              <a:ext uri="{FF2B5EF4-FFF2-40B4-BE49-F238E27FC236}">
                <a16:creationId xmlns:a16="http://schemas.microsoft.com/office/drawing/2014/main" id="{E96C478B-4389-4F58-AE73-8BBDC5710FC4}"/>
              </a:ext>
            </a:extLst>
          </p:cNvPr>
          <p:cNvSpPr>
            <a:spLocks xmlns:a="http://schemas.openxmlformats.org/drawingml/2006/main" noGrp="1"/>
          </p:cNvSpPr>
          <p:nvPr/>
        </p:nvSpPr>
        <p:spPr>
          <a:xfrm xmlns:a="http://schemas.openxmlformats.org/drawingml/2006/main">
            <a:off x="800100" y="27527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Count the elements that are at least 60</a:t>
            </a:r>
          </a:p>
        </p:txBody>
      </p:sp>
      <p:sp>
        <p:nvSpPr>
          <p:cNvPr id="6" name="body-3">
            <a:extLst xmlns:a="http://schemas.openxmlformats.org/drawingml/2006/main">
              <a:ext uri="{FF2B5EF4-FFF2-40B4-BE49-F238E27FC236}">
                <a16:creationId xmlns:a16="http://schemas.microsoft.com/office/drawing/2014/main" id="{AD9540E4-5B7C-43F0-B39C-A53FFD624004}"/>
              </a:ext>
            </a:extLst>
          </p:cNvPr>
          <p:cNvSpPr>
            <a:spLocks xmlns:a="http://schemas.openxmlformats.org/drawingml/2006/main" noGrp="1"/>
          </p:cNvSpPr>
          <p:nvPr/>
        </p:nvSpPr>
        <p:spPr>
          <a:xfrm xmlns:a="http://schemas.openxmlformats.org/drawingml/2006/main">
            <a:off x="800100" y="32670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Then find the average, expected 58.2</a:t>
            </a:r>
          </a:p>
        </p:txBody>
      </p:sp>
    </p:spTree>
    <p:extLst>
      <p:ext uri="{BB962C8B-B14F-4D97-AF65-F5344CB8AC3E}">
        <p14:creationId xmlns:p14="http://schemas.microsoft.com/office/powerpoint/2010/main" val="57327152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C730532B-8670-4F6A-9F8C-229511BBB1E0}"/>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34185AD8-1567-438E-B36D-085F9F620382}"/>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46 / 62</a:t>
            </a:r>
          </a:p>
        </p:txBody>
      </p:sp>
      <p:sp>
        <p:nvSpPr>
          <p:cNvPr id="3" name="heading-1">
            <a:extLst xmlns:a="http://schemas.openxmlformats.org/drawingml/2006/main">
              <a:ext uri="{FF2B5EF4-FFF2-40B4-BE49-F238E27FC236}">
                <a16:creationId xmlns:a16="http://schemas.microsoft.com/office/drawing/2014/main" id="{ABF53FE0-9B4D-4915-9881-25A60F878B6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Two accumulators in the score task</a:t>
            </a:r>
          </a:p>
        </p:txBody>
      </p:sp>
      <p:sp>
        <p:nvSpPr>
          <p:cNvPr id="4" name="code-1">
            <a:extLst xmlns:a="http://schemas.openxmlformats.org/drawingml/2006/main">
              <a:ext uri="{FF2B5EF4-FFF2-40B4-BE49-F238E27FC236}">
                <a16:creationId xmlns:a16="http://schemas.microsoft.com/office/drawing/2014/main" id="{FDD8FE64-4E7F-4AFF-8CFC-C1EA43CB70B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sum </a:t>
            </a:r>
            <a:r>
              <a:rPr sz="2250">
                <a:solidFill>
                  <a:srgbClr val="222222"/>
                </a:solidFill>
                <a:latin typeface="Menlo"/>
                <a:ea typeface="Menlo"/>
                <a:cs typeface="Menlo"/>
              </a:rPr>
              <a:t>= </a:t>
            </a:r>
            <a:r>
              <a:rPr sz="2250">
                <a:solidFill>
                  <a:srgbClr val="9A4D00"/>
                </a:solidFill>
                <a:latin typeface="Menlo"/>
                <a:ea typeface="Menlo"/>
                <a:cs typeface="Menlo"/>
              </a:rPr>
              <a:t>0</a:t>
            </a:r>
            <a:r>
              <a:rPr sz="2250">
                <a:solidFill>
                  <a:srgbClr val="222222"/>
                </a:solidFill>
                <a:latin typeface="Menlo"/>
                <a:ea typeface="Menlo"/>
                <a:cs typeface="Menlo"/>
              </a:rPr>
              <a:t>, passed = </a:t>
            </a:r>
            <a:r>
              <a:rPr sz="2250">
                <a:solidFill>
                  <a:srgbClr val="9A4D00"/>
                </a:solidFill>
                <a:latin typeface="Menlo"/>
                <a:ea typeface="Menlo"/>
                <a:cs typeface="Menlo"/>
              </a:rPr>
              <a:t>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2A5DF02B-04CA-4328-A56F-2F9930EA096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score : scores)</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526C903F-1A1F-4210-A0CB-E623A9715C73}"/>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sum +</a:t>
            </a:r>
            <a:r>
              <a:rPr sz="2250">
                <a:solidFill>
                  <a:srgbClr val="222222"/>
                </a:solidFill>
                <a:latin typeface="Menlo"/>
                <a:ea typeface="Menlo"/>
                <a:cs typeface="Menlo"/>
              </a:rPr>
              <a:t>= score;</a:t>
            </a:r>
          </a:p>
        </p:txBody>
      </p:sp>
      <p:sp>
        <p:nvSpPr>
          <p:cNvPr id="7" name="code-4">
            <a:extLst xmlns:a="http://schemas.openxmlformats.org/drawingml/2006/main">
              <a:ext uri="{FF2B5EF4-FFF2-40B4-BE49-F238E27FC236}">
                <a16:creationId xmlns:a16="http://schemas.microsoft.com/office/drawing/2014/main" id="{605A2842-48F8-47E5-AA8B-8677AEC4D89C}"/>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(score &gt;= </a:t>
            </a:r>
            <a:r>
              <a:rPr sz="2250">
                <a:solidFill>
                  <a:srgbClr val="9A4D00"/>
                </a:solidFill>
                <a:latin typeface="Menlo"/>
                <a:ea typeface="Menlo"/>
                <a:cs typeface="Menlo"/>
              </a:rPr>
              <a:t>60</a:t>
            </a:r>
            <a:r>
              <a:rPr sz="2250">
                <a:solidFill>
                  <a:srgbClr val="222222"/>
                </a:solidFill>
                <a:latin typeface="Menlo"/>
                <a:ea typeface="Menlo"/>
                <a:cs typeface="Menlo"/>
              </a:rPr>
              <a:t>)</a:t>
            </a:r>
            <a:r>
              <a:rPr sz="2250">
                <a:solidFill>
                  <a:srgbClr val="222222"/>
                </a:solidFill>
                <a:latin typeface="Menlo"/>
                <a:ea typeface="Menlo"/>
                <a:cs typeface="Menlo"/>
              </a:rPr>
              <a:t> ++passed;</a:t>
            </a:r>
          </a:p>
        </p:txBody>
      </p:sp>
      <p:sp>
        <p:nvSpPr>
          <p:cNvPr id="8" name="code-5">
            <a:extLst xmlns:a="http://schemas.openxmlformats.org/drawingml/2006/main">
              <a:ext uri="{FF2B5EF4-FFF2-40B4-BE49-F238E27FC236}">
                <a16:creationId xmlns:a16="http://schemas.microsoft.com/office/drawing/2014/main" id="{73DA56B4-269B-4A71-B091-51711892D2BC}"/>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A93FAAC3-4DE9-4728-90A5-D828E0D7ADB2}"/>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double</a:t>
            </a:r>
            <a:r>
              <a:rPr sz="2250">
                <a:solidFill>
                  <a:srgbClr val="222222"/>
                </a:solidFill>
                <a:latin typeface="Menlo"/>
                <a:ea typeface="Menlo"/>
                <a:cs typeface="Menlo"/>
              </a:rPr>
              <a:t> average </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E2C37D42-6C87-44B5-9E70-8460616FEF8C}"/>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static_cast</a:t>
            </a:r>
            <a:r>
              <a:rPr sz="2250">
                <a:solidFill>
                  <a:srgbClr val="222222"/>
                </a:solidFill>
                <a:latin typeface="Menlo"/>
                <a:ea typeface="Menlo"/>
                <a:cs typeface="Menlo"/>
              </a:rPr>
              <a:t>&lt;</a:t>
            </a:r>
            <a:r>
              <a:rPr sz="2250">
                <a:solidFill>
                  <a:srgbClr val="6F42C1"/>
                </a:solidFill>
                <a:latin typeface="Menlo"/>
                <a:ea typeface="Menlo"/>
                <a:cs typeface="Menlo"/>
              </a:rPr>
              <a:t>double</a:t>
            </a:r>
            <a:r>
              <a:rPr sz="2250">
                <a:solidFill>
                  <a:srgbClr val="222222"/>
                </a:solidFill>
                <a:latin typeface="Menlo"/>
                <a:ea typeface="Menlo"/>
                <a:cs typeface="Menlo"/>
              </a:rPr>
              <a:t>&gt;</a:t>
            </a:r>
            <a:r>
              <a:rPr sz="2250">
                <a:solidFill>
                  <a:srgbClr val="222222"/>
                </a:solidFill>
                <a:latin typeface="Menlo"/>
                <a:ea typeface="Menlo"/>
                <a:cs typeface="Menlo"/>
              </a:rPr>
              <a:t>(sum)</a:t>
            </a:r>
            <a:r>
              <a:rPr sz="2250">
                <a:solidFill>
                  <a:srgbClr val="222222"/>
                </a:solidFill>
                <a:latin typeface="Menlo"/>
                <a:ea typeface="Menlo"/>
                <a:cs typeface="Menlo"/>
              </a:rPr>
              <a:t> / scores.</a:t>
            </a:r>
            <a:r>
              <a:rPr sz="2250">
                <a:solidFill>
                  <a:srgbClr val="005CC5"/>
                </a:solidFill>
                <a:latin typeface="Menlo"/>
                <a:ea typeface="Menlo"/>
                <a:cs typeface="Menlo"/>
              </a:rPr>
              <a:t>size</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0B65CAD2-395D-4865-B975-7510C41941B0}"/>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For this fixed input: sum=291, passed=3, average=58.2.</a:t>
            </a:r>
          </a:p>
        </p:txBody>
      </p:sp>
    </p:spTree>
    <p:extLst>
      <p:ext uri="{BB962C8B-B14F-4D97-AF65-F5344CB8AC3E}">
        <p14:creationId xmlns:p14="http://schemas.microsoft.com/office/powerpoint/2010/main" val="161205664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543B31B6-C56A-4CB8-A245-0B4DFB3C339B}"/>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ECFCE32-04E4-4102-AE5D-95A2AADD083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47 / 62</a:t>
            </a:r>
          </a:p>
        </p:txBody>
      </p:sp>
      <p:sp>
        <p:nvSpPr>
          <p:cNvPr id="3" name="heading-1">
            <a:extLst xmlns:a="http://schemas.openxmlformats.org/drawingml/2006/main">
              <a:ext uri="{FF2B5EF4-FFF2-40B4-BE49-F238E27FC236}">
                <a16:creationId xmlns:a16="http://schemas.microsoft.com/office/drawing/2014/main" id="{7DC85DA6-B1CF-44FE-913B-21942857E845}"/>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Loops and arrays checkpoint</a:t>
            </a:r>
          </a:p>
        </p:txBody>
      </p:sp>
      <p:sp>
        <p:nvSpPr>
          <p:cNvPr id="4" name="body-1">
            <a:extLst xmlns:a="http://schemas.openxmlformats.org/drawingml/2006/main">
              <a:ext uri="{FF2B5EF4-FFF2-40B4-BE49-F238E27FC236}">
                <a16:creationId xmlns:a16="http://schemas.microsoft.com/office/drawing/2014/main" id="{51920368-74AE-4BEF-8067-476DDDAE5CAC}"/>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Why does double x = 3 / 2 give 1?</a:t>
            </a:r>
          </a:p>
        </p:txBody>
      </p:sp>
      <p:sp>
        <p:nvSpPr>
          <p:cNvPr id="5" name="body-2">
            <a:extLst xmlns:a="http://schemas.openxmlformats.org/drawingml/2006/main">
              <a:ext uri="{FF2B5EF4-FFF2-40B4-BE49-F238E27FC236}">
                <a16:creationId xmlns:a16="http://schemas.microsoft.com/office/drawing/2014/main" id="{2F469D82-7A19-4404-99BB-9AEDA31D1282}"/>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Why might score += 5 leave an array unchanged?</a:t>
            </a:r>
          </a:p>
        </p:txBody>
      </p:sp>
    </p:spTree>
    <p:extLst>
      <p:ext uri="{BB962C8B-B14F-4D97-AF65-F5344CB8AC3E}">
        <p14:creationId xmlns:p14="http://schemas.microsoft.com/office/powerpoint/2010/main" val="1867631705"/>
      </p:ext>
    </p:extLst>
  </p:cSld>
</p:sld>
</file>

<file path=ppt/slides/slide4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3045A29D-2C36-4E7F-803F-C19CC54715E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FAB0F5AB-98F2-4B84-864D-FE2631FB65E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48 / 62</a:t>
            </a:r>
          </a:p>
        </p:txBody>
      </p:sp>
      <p:sp>
        <p:nvSpPr>
          <p:cNvPr id="3" name="heading-1">
            <a:extLst xmlns:a="http://schemas.openxmlformats.org/drawingml/2006/main">
              <a:ext uri="{FF2B5EF4-FFF2-40B4-BE49-F238E27FC236}">
                <a16:creationId xmlns:a16="http://schemas.microsoft.com/office/drawing/2014/main" id="{6C46ADFE-B22D-4002-9F58-9E3E0DAF5ACC}"/>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Strings</a:t>
            </a:r>
          </a:p>
        </p:txBody>
      </p:sp>
      <p:sp>
        <p:nvSpPr>
          <p:cNvPr id="4" name="body-1">
            <a:extLst xmlns:a="http://schemas.openxmlformats.org/drawingml/2006/main">
              <a:ext uri="{FF2B5EF4-FFF2-40B4-BE49-F238E27FC236}">
                <a16:creationId xmlns:a16="http://schemas.microsoft.com/office/drawing/2014/main" id="{B3314907-E93F-41C2-B80A-6E67632DC9B6}"/>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Locate and edit a name in a string</a:t>
            </a:r>
          </a:p>
        </p:txBody>
      </p:sp>
    </p:spTree>
    <p:extLst>
      <p:ext uri="{BB962C8B-B14F-4D97-AF65-F5344CB8AC3E}">
        <p14:creationId xmlns:p14="http://schemas.microsoft.com/office/powerpoint/2010/main" val="110249641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BB8EBDD3-43CB-4C37-94BE-687FA6C92F7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403B142-8483-4081-8D3C-07036890B24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49 / 62</a:t>
            </a:r>
          </a:p>
        </p:txBody>
      </p:sp>
      <p:sp>
        <p:nvSpPr>
          <p:cNvPr id="3" name="heading-1">
            <a:extLst xmlns:a="http://schemas.openxmlformats.org/drawingml/2006/main">
              <a:ext uri="{FF2B5EF4-FFF2-40B4-BE49-F238E27FC236}">
                <a16:creationId xmlns:a16="http://schemas.microsoft.com/office/drawing/2014/main" id="{CA3F34A1-EDFA-4FB7-93C6-46D1C2F4ED0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Strings have indices too</a:t>
            </a:r>
          </a:p>
        </p:txBody>
      </p:sp>
      <p:sp>
        <p:nvSpPr>
          <p:cNvPr id="4" name="code-1">
            <a:extLst xmlns:a="http://schemas.openxmlformats.org/drawingml/2006/main">
              <a:ext uri="{FF2B5EF4-FFF2-40B4-BE49-F238E27FC236}">
                <a16:creationId xmlns:a16="http://schemas.microsoft.com/office/drawing/2014/main" id="{3A65CDC3-7D7D-4C35-9003-97686D542FB6}"/>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t>
            </a:r>
            <a:r>
              <a:rPr sz="2250">
                <a:solidFill>
                  <a:srgbClr val="222222"/>
                </a:solidFill>
                <a:latin typeface="Menlo"/>
                <a:ea typeface="Menlo"/>
                <a:cs typeface="Menlo"/>
              </a:rPr>
              <a:t>string </a:t>
            </a:r>
            <a:r>
              <a:rPr sz="2250">
                <a:solidFill>
                  <a:srgbClr val="6F42C1"/>
                </a:solidFill>
                <a:latin typeface="Menlo"/>
                <a:ea typeface="Menlo"/>
                <a:cs typeface="Menlo"/>
              </a:rPr>
              <a:t>name</a:t>
            </a:r>
            <a:r>
              <a:rPr sz="2250">
                <a:solidFill>
                  <a:srgbClr val="222222"/>
                </a:solidFill>
                <a:latin typeface="Menlo"/>
                <a:ea typeface="Menlo"/>
                <a:cs typeface="Menlo"/>
              </a:rPr>
              <a:t>(</a:t>
            </a:r>
            <a:r>
              <a:rPr sz="2250">
                <a:solidFill>
                  <a:srgbClr val="0B6B3A"/>
                </a:solidFill>
                <a:latin typeface="Menlo"/>
                <a:ea typeface="Menlo"/>
                <a:cs typeface="Menlo"/>
              </a:rPr>
              <a:t>"soyo"</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6F4B6BC4-24D4-4A47-8D3A-117C2DF5C87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name.</a:t>
            </a:r>
            <a:r>
              <a:rPr sz="2250">
                <a:solidFill>
                  <a:srgbClr val="005CC5"/>
                </a:solidFill>
                <a:latin typeface="Menlo"/>
                <a:ea typeface="Menlo"/>
                <a:cs typeface="Menlo"/>
              </a:rPr>
              <a:t>size</a:t>
            </a:r>
            <a:r>
              <a:rPr sz="2250">
                <a:solidFill>
                  <a:srgbClr val="222222"/>
                </a:solidFill>
                <a:latin typeface="Menlo"/>
                <a:ea typeface="Menlo"/>
                <a:cs typeface="Menlo"/>
              </a:rPr>
              <a:t>()</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4549B798-DE0E-4A08-ACA4-8B4FC925A50B}"/>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name[</a:t>
            </a:r>
            <a:r>
              <a:rPr sz="2250">
                <a:solidFill>
                  <a:srgbClr val="9A4D00"/>
                </a:solidFill>
                <a:latin typeface="Menlo"/>
                <a:ea typeface="Menlo"/>
                <a:cs typeface="Menlo"/>
              </a:rPr>
              <a:t>0</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0B6B3A"/>
                </a:solidFill>
                <a:latin typeface="Menlo"/>
                <a:ea typeface="Menlo"/>
                <a:cs typeface="Menlo"/>
              </a:rPr>
              <a:t>'S'</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8194E672-CB8A-451B-8A06-F82188D4D2C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size is 4. The updated string is Soyo.</a:t>
            </a:r>
          </a:p>
        </p:txBody>
      </p:sp>
    </p:spTree>
    <p:extLst>
      <p:ext uri="{BB962C8B-B14F-4D97-AF65-F5344CB8AC3E}">
        <p14:creationId xmlns:p14="http://schemas.microsoft.com/office/powerpoint/2010/main" val="72865409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1A90C0AD-D072-4595-85CC-E4AC2DFAB0B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45E18DA-3642-425F-9079-71723FF4351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50 / 62</a:t>
            </a:r>
          </a:p>
        </p:txBody>
      </p:sp>
      <p:sp>
        <p:nvSpPr>
          <p:cNvPr id="3" name="heading-1">
            <a:extLst xmlns:a="http://schemas.openxmlformats.org/drawingml/2006/main">
              <a:ext uri="{FF2B5EF4-FFF2-40B4-BE49-F238E27FC236}">
                <a16:creationId xmlns:a16="http://schemas.microsoft.com/office/drawing/2014/main" id="{F694FEE6-4B16-4C89-9DC2-3930A8CAFD8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find returns a position</a:t>
            </a:r>
          </a:p>
        </p:txBody>
      </p:sp>
      <p:sp>
        <p:nvSpPr>
          <p:cNvPr id="4" name="code-1">
            <a:extLst xmlns:a="http://schemas.openxmlformats.org/drawingml/2006/main">
              <a:ext uri="{FF2B5EF4-FFF2-40B4-BE49-F238E27FC236}">
                <a16:creationId xmlns:a16="http://schemas.microsoft.com/office/drawing/2014/main" id="{9EB4394D-AC54-4C9A-BB21-E63F1CF06FF2}"/>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t>
            </a:r>
            <a:r>
              <a:rPr sz="2250">
                <a:solidFill>
                  <a:srgbClr val="222222"/>
                </a:solidFill>
                <a:latin typeface="Menlo"/>
                <a:ea typeface="Menlo"/>
                <a:cs typeface="Menlo"/>
              </a:rPr>
              <a:t>string </a:t>
            </a:r>
            <a:r>
              <a:rPr sz="2250">
                <a:solidFill>
                  <a:srgbClr val="6F42C1"/>
                </a:solidFill>
                <a:latin typeface="Menlo"/>
                <a:ea typeface="Menlo"/>
                <a:cs typeface="Menlo"/>
              </a:rPr>
              <a:t>members</a:t>
            </a:r>
            <a:r>
              <a:rPr sz="2250">
                <a:solidFill>
                  <a:srgbClr val="222222"/>
                </a:solidFill>
                <a:latin typeface="Menlo"/>
                <a:ea typeface="Menlo"/>
                <a:cs typeface="Menlo"/>
              </a:rPr>
              <a:t>(</a:t>
            </a:r>
            <a:r>
              <a:rPr sz="2250">
                <a:solidFill>
                  <a:srgbClr val="0B6B3A"/>
                </a:solidFill>
                <a:latin typeface="Menlo"/>
                <a:ea typeface="Menlo"/>
                <a:cs typeface="Menlo"/>
              </a:rPr>
              <a:t>"soyo,anon,taki"</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D98B0F99-CD45-4D36-90F6-EE089D118CF2}"/>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a:t>
            </a:r>
            <a:r>
              <a:rPr sz="2250">
                <a:solidFill>
                  <a:srgbClr val="222222"/>
                </a:solidFill>
                <a:latin typeface="Menlo"/>
                <a:ea typeface="Menlo"/>
                <a:cs typeface="Menlo"/>
              </a:rPr>
              <a:t>size_type pos </a:t>
            </a:r>
            <a:r>
              <a:rPr sz="2250">
                <a:solidFill>
                  <a:srgbClr val="222222"/>
                </a:solidFill>
                <a:latin typeface="Menlo"/>
                <a:ea typeface="Menlo"/>
                <a:cs typeface="Menlo"/>
              </a:rPr>
              <a:t>= members.</a:t>
            </a:r>
            <a:r>
              <a:rPr sz="2250">
                <a:solidFill>
                  <a:srgbClr val="005CC5"/>
                </a:solidFill>
                <a:latin typeface="Menlo"/>
                <a:ea typeface="Menlo"/>
                <a:cs typeface="Menlo"/>
              </a:rPr>
              <a:t>find</a:t>
            </a:r>
            <a:r>
              <a:rPr sz="2250">
                <a:solidFill>
                  <a:srgbClr val="222222"/>
                </a:solidFill>
                <a:latin typeface="Menlo"/>
                <a:ea typeface="Menlo"/>
                <a:cs typeface="Menlo"/>
              </a:rPr>
              <a:t>(</a:t>
            </a:r>
            <a:r>
              <a:rPr sz="2250">
                <a:solidFill>
                  <a:srgbClr val="0B6B3A"/>
                </a:solidFill>
                <a:latin typeface="Menlo"/>
                <a:ea typeface="Menlo"/>
                <a:cs typeface="Menlo"/>
              </a:rPr>
              <a:t>"anon"</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6" name="cue-1">
            <a:extLst xmlns:a="http://schemas.openxmlformats.org/drawingml/2006/main">
              <a:ext uri="{FF2B5EF4-FFF2-40B4-BE49-F238E27FC236}">
                <a16:creationId xmlns:a16="http://schemas.microsoft.com/office/drawing/2014/main" id="{3FB17EEE-CBFB-4ED1-985F-A0FA31CA59BF}"/>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At which index does anon begin?</a:t>
            </a:r>
          </a:p>
        </p:txBody>
      </p:sp>
    </p:spTree>
    <p:extLst>
      <p:ext uri="{BB962C8B-B14F-4D97-AF65-F5344CB8AC3E}">
        <p14:creationId xmlns:p14="http://schemas.microsoft.com/office/powerpoint/2010/main" val="114615074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85121A19-33BE-4AA5-A6E3-EB9DDC47FCB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04A3492-A4CC-49C8-8FC8-BEFB1607724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51 / 62</a:t>
            </a:r>
          </a:p>
        </p:txBody>
      </p:sp>
      <p:sp>
        <p:nvSpPr>
          <p:cNvPr id="3" name="heading-1">
            <a:extLst xmlns:a="http://schemas.openxmlformats.org/drawingml/2006/main">
              <a:ext uri="{FF2B5EF4-FFF2-40B4-BE49-F238E27FC236}">
                <a16:creationId xmlns:a16="http://schemas.microsoft.com/office/drawing/2014/main" id="{4A033A83-1904-4D25-9992-DC79A71C354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missing match gives npos</a:t>
            </a:r>
          </a:p>
        </p:txBody>
      </p:sp>
      <p:sp>
        <p:nvSpPr>
          <p:cNvPr id="4" name="code-1">
            <a:extLst xmlns:a="http://schemas.openxmlformats.org/drawingml/2006/main">
              <a:ext uri="{FF2B5EF4-FFF2-40B4-BE49-F238E27FC236}">
                <a16:creationId xmlns:a16="http://schemas.microsoft.com/office/drawing/2014/main" id="{60C410CB-F9EE-4770-BF84-1CBAA307EC3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a:t>
            </a:r>
            <a:r>
              <a:rPr sz="2250">
                <a:solidFill>
                  <a:srgbClr val="222222"/>
                </a:solidFill>
                <a:latin typeface="Menlo"/>
                <a:ea typeface="Menlo"/>
                <a:cs typeface="Menlo"/>
              </a:rPr>
              <a:t>size_type pos </a:t>
            </a:r>
            <a:r>
              <a:rPr sz="2250">
                <a:solidFill>
                  <a:srgbClr val="222222"/>
                </a:solidFill>
                <a:latin typeface="Menlo"/>
                <a:ea typeface="Menlo"/>
                <a:cs typeface="Menlo"/>
              </a:rPr>
              <a:t>= members.</a:t>
            </a:r>
            <a:r>
              <a:rPr sz="2250">
                <a:solidFill>
                  <a:srgbClr val="005CC5"/>
                </a:solidFill>
                <a:latin typeface="Menlo"/>
                <a:ea typeface="Menlo"/>
                <a:cs typeface="Menlo"/>
              </a:rPr>
              <a:t>find</a:t>
            </a:r>
            <a:r>
              <a:rPr sz="2250">
                <a:solidFill>
                  <a:srgbClr val="222222"/>
                </a:solidFill>
                <a:latin typeface="Menlo"/>
                <a:ea typeface="Menlo"/>
                <a:cs typeface="Menlo"/>
              </a:rPr>
              <a:t>(</a:t>
            </a:r>
            <a:r>
              <a:rPr sz="2250">
                <a:solidFill>
                  <a:srgbClr val="0B6B3A"/>
                </a:solidFill>
                <a:latin typeface="Menlo"/>
                <a:ea typeface="Menlo"/>
                <a:cs typeface="Menlo"/>
              </a:rPr>
              <a:t>"rana"</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10449DBD-E8FE-485D-AA32-54F1E094CBC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(pos != std::string::npos)</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27985AAD-BE3E-40C1-95D1-77E19796D311}"/>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pos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EAD6802D-A1E9-44AD-AF05-2547DC7C8204}"/>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349D2ECD-60AE-4326-9076-EC685156585D}"/>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Position 0 is a match. if(pos) is not a match test.</a:t>
            </a:r>
          </a:p>
        </p:txBody>
      </p:sp>
    </p:spTree>
    <p:extLst>
      <p:ext uri="{BB962C8B-B14F-4D97-AF65-F5344CB8AC3E}">
        <p14:creationId xmlns:p14="http://schemas.microsoft.com/office/powerpoint/2010/main" val="211064963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C396433D-4C07-4353-A99E-303730E7A5A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70E8F4E-B510-40A2-9D2F-D046AF444F6A}"/>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52 / 62</a:t>
            </a:r>
          </a:p>
        </p:txBody>
      </p:sp>
      <p:sp>
        <p:nvSpPr>
          <p:cNvPr id="3" name="heading-1">
            <a:extLst xmlns:a="http://schemas.openxmlformats.org/drawingml/2006/main">
              <a:ext uri="{FF2B5EF4-FFF2-40B4-BE49-F238E27FC236}">
                <a16:creationId xmlns:a16="http://schemas.microsoft.com/office/drawing/2014/main" id="{A7001848-6704-4DC9-B37E-D20DB6C85E5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Three search boundary cases</a:t>
            </a:r>
          </a:p>
        </p:txBody>
      </p:sp>
      <p:sp>
        <p:nvSpPr>
          <p:cNvPr id="4" name="code-1">
            <a:extLst xmlns:a="http://schemas.openxmlformats.org/drawingml/2006/main">
              <a:ext uri="{FF2B5EF4-FFF2-40B4-BE49-F238E27FC236}">
                <a16:creationId xmlns:a16="http://schemas.microsoft.com/office/drawing/2014/main" id="{42DA7DAD-61B7-45F0-A82F-5444AF3673C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members </a:t>
            </a:r>
            <a:r>
              <a:rPr sz="2250">
                <a:solidFill>
                  <a:srgbClr val="222222"/>
                </a:solidFill>
                <a:latin typeface="Menlo"/>
                <a:ea typeface="Menlo"/>
                <a:cs typeface="Menlo"/>
              </a:rPr>
              <a:t>= </a:t>
            </a:r>
            <a:r>
              <a:rPr sz="2250">
                <a:solidFill>
                  <a:srgbClr val="0B6B3A"/>
                </a:solidFill>
                <a:latin typeface="Menlo"/>
                <a:ea typeface="Menlo"/>
                <a:cs typeface="Menlo"/>
              </a:rPr>
              <a:t>"soyo,anon,taki"</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B41ABA59-7443-4816-BDBF-6D6F7E327FE0}"/>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find</a:t>
            </a:r>
            <a:r>
              <a:rPr sz="2250">
                <a:solidFill>
                  <a:srgbClr val="222222"/>
                </a:solidFill>
                <a:latin typeface="Menlo"/>
                <a:ea typeface="Menlo"/>
                <a:cs typeface="Menlo"/>
              </a:rPr>
              <a:t>(</a:t>
            </a:r>
            <a:r>
              <a:rPr sz="2250">
                <a:solidFill>
                  <a:srgbClr val="0B6B3A"/>
                </a:solidFill>
                <a:latin typeface="Menlo"/>
                <a:ea typeface="Menlo"/>
                <a:cs typeface="Menlo"/>
              </a:rPr>
              <a:t>"soyo"</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0:</a:t>
            </a:r>
            <a:r>
              <a:rPr sz="2250">
                <a:solidFill>
                  <a:srgbClr val="59636E"/>
                </a:solidFill>
                <a:latin typeface="Menlo"/>
                <a:ea typeface="Menlo"/>
                <a:cs typeface="Menlo"/>
              </a:rPr>
              <a:t> found at the </a:t>
            </a:r>
            <a:r>
              <a:rPr sz="2250">
                <a:solidFill>
                  <a:srgbClr val="59636E"/>
                </a:solidFill>
                <a:latin typeface="Menlo"/>
                <a:ea typeface="Menlo"/>
                <a:cs typeface="Menlo"/>
              </a:rPr>
              <a:t>start</a:t>
            </a:r>
          </a:p>
        </p:txBody>
      </p:sp>
      <p:sp>
        <p:nvSpPr>
          <p:cNvPr id="6" name="code-3">
            <a:extLst xmlns:a="http://schemas.openxmlformats.org/drawingml/2006/main">
              <a:ext uri="{FF2B5EF4-FFF2-40B4-BE49-F238E27FC236}">
                <a16:creationId xmlns:a16="http://schemas.microsoft.com/office/drawing/2014/main" id="{AEFEF2EF-B5DC-4019-947E-538AF25D068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find</a:t>
            </a:r>
            <a:r>
              <a:rPr sz="2250">
                <a:solidFill>
                  <a:srgbClr val="222222"/>
                </a:solidFill>
                <a:latin typeface="Menlo"/>
                <a:ea typeface="Menlo"/>
                <a:cs typeface="Menlo"/>
              </a:rPr>
              <a:t>(</a:t>
            </a:r>
            <a:r>
              <a:rPr sz="2250">
                <a:solidFill>
                  <a:srgbClr val="0B6B3A"/>
                </a:solidFill>
                <a:latin typeface="Menlo"/>
                <a:ea typeface="Menlo"/>
                <a:cs typeface="Menlo"/>
              </a:rPr>
              <a:t>"taki"</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10: found later</a:t>
            </a:r>
          </a:p>
        </p:txBody>
      </p:sp>
      <p:sp>
        <p:nvSpPr>
          <p:cNvPr id="7" name="code-4">
            <a:extLst xmlns:a="http://schemas.openxmlformats.org/drawingml/2006/main">
              <a:ext uri="{FF2B5EF4-FFF2-40B4-BE49-F238E27FC236}">
                <a16:creationId xmlns:a16="http://schemas.microsoft.com/office/drawing/2014/main" id="{BB5BFF10-BCB7-4F5E-ABDA-15E572456E7A}"/>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find</a:t>
            </a:r>
            <a:r>
              <a:rPr sz="2250">
                <a:solidFill>
                  <a:srgbClr val="222222"/>
                </a:solidFill>
                <a:latin typeface="Menlo"/>
                <a:ea typeface="Menlo"/>
                <a:cs typeface="Menlo"/>
              </a:rPr>
              <a:t>(</a:t>
            </a:r>
            <a:r>
              <a:rPr sz="2250">
                <a:solidFill>
                  <a:srgbClr val="0B6B3A"/>
                </a:solidFill>
                <a:latin typeface="Menlo"/>
                <a:ea typeface="Menlo"/>
                <a:cs typeface="Menlo"/>
              </a:rPr>
              <a:t>"rana"</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npos: not found</a:t>
            </a:r>
          </a:p>
        </p:txBody>
      </p:sp>
      <p:sp>
        <p:nvSpPr>
          <p:cNvPr id="8" name="cue-1">
            <a:extLst xmlns:a="http://schemas.openxmlformats.org/drawingml/2006/main">
              <a:ext uri="{FF2B5EF4-FFF2-40B4-BE49-F238E27FC236}">
                <a16:creationId xmlns:a16="http://schemas.microsoft.com/office/drawing/2014/main" id="{88AC8940-58B9-40C5-B69D-2082A7C9564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Cover a match at 0, a later match, and no match.</a:t>
            </a:r>
          </a:p>
        </p:txBody>
      </p:sp>
    </p:spTree>
    <p:extLst>
      <p:ext uri="{BB962C8B-B14F-4D97-AF65-F5344CB8AC3E}">
        <p14:creationId xmlns:p14="http://schemas.microsoft.com/office/powerpoint/2010/main" val="88751900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08388620-7517-480C-9039-D68D2F56FD5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F3DAFABF-F170-4EBC-91C2-CFDCAADBC79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53 / 62</a:t>
            </a:r>
          </a:p>
        </p:txBody>
      </p:sp>
      <p:sp>
        <p:nvSpPr>
          <p:cNvPr id="3" name="heading-1">
            <a:extLst xmlns:a="http://schemas.openxmlformats.org/drawingml/2006/main">
              <a:ext uri="{FF2B5EF4-FFF2-40B4-BE49-F238E27FC236}">
                <a16:creationId xmlns:a16="http://schemas.microsoft.com/office/drawing/2014/main" id="{3C1A0522-EE86-4D05-8D28-87D2760E4A78}"/>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replace shifts later positions</a:t>
            </a:r>
          </a:p>
        </p:txBody>
      </p:sp>
      <p:sp>
        <p:nvSpPr>
          <p:cNvPr id="4" name="code-1">
            <a:extLst xmlns:a="http://schemas.openxmlformats.org/drawingml/2006/main">
              <a:ext uri="{FF2B5EF4-FFF2-40B4-BE49-F238E27FC236}">
                <a16:creationId xmlns:a16="http://schemas.microsoft.com/office/drawing/2014/main" id="{55F81DE1-E5C0-44D6-8422-0EDE962A7C1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a:t>
            </a:r>
            <a:r>
              <a:rPr sz="2250">
                <a:solidFill>
                  <a:srgbClr val="222222"/>
                </a:solidFill>
                <a:latin typeface="Menlo"/>
                <a:ea typeface="Menlo"/>
                <a:cs typeface="Menlo"/>
              </a:rPr>
              <a:t>size_type pos </a:t>
            </a:r>
            <a:r>
              <a:rPr sz="2250">
                <a:solidFill>
                  <a:srgbClr val="222222"/>
                </a:solidFill>
                <a:latin typeface="Menlo"/>
                <a:ea typeface="Menlo"/>
                <a:cs typeface="Menlo"/>
              </a:rPr>
              <a:t>= members.</a:t>
            </a:r>
            <a:r>
              <a:rPr sz="2250">
                <a:solidFill>
                  <a:srgbClr val="005CC5"/>
                </a:solidFill>
                <a:latin typeface="Menlo"/>
                <a:ea typeface="Menlo"/>
                <a:cs typeface="Menlo"/>
              </a:rPr>
              <a:t>find</a:t>
            </a:r>
            <a:r>
              <a:rPr sz="2250">
                <a:solidFill>
                  <a:srgbClr val="222222"/>
                </a:solidFill>
                <a:latin typeface="Menlo"/>
                <a:ea typeface="Menlo"/>
                <a:cs typeface="Menlo"/>
              </a:rPr>
              <a:t>(</a:t>
            </a:r>
            <a:r>
              <a:rPr sz="2250">
                <a:solidFill>
                  <a:srgbClr val="0B6B3A"/>
                </a:solidFill>
                <a:latin typeface="Menlo"/>
                <a:ea typeface="Menlo"/>
                <a:cs typeface="Menlo"/>
              </a:rPr>
              <a:t>"anon"</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98C704EE-08D1-4894-BE9E-FF96439B9FCE}"/>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(pos != std::string::npos)</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93657F59-8BDE-4F21-BFD8-848862C71C3A}"/>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members.</a:t>
            </a:r>
            <a:r>
              <a:rPr sz="2250">
                <a:solidFill>
                  <a:srgbClr val="005CC5"/>
                </a:solidFill>
                <a:latin typeface="Menlo"/>
                <a:ea typeface="Menlo"/>
                <a:cs typeface="Menlo"/>
              </a:rPr>
              <a:t>replace</a:t>
            </a:r>
            <a:r>
              <a:rPr sz="2250">
                <a:solidFill>
                  <a:srgbClr val="222222"/>
                </a:solidFill>
                <a:latin typeface="Menlo"/>
                <a:ea typeface="Menlo"/>
                <a:cs typeface="Menlo"/>
              </a:rPr>
              <a:t>(pos, </a:t>
            </a:r>
            <a:r>
              <a:rPr sz="2250">
                <a:solidFill>
                  <a:srgbClr val="9A4D00"/>
                </a:solidFill>
                <a:latin typeface="Menlo"/>
                <a:ea typeface="Menlo"/>
                <a:cs typeface="Menlo"/>
              </a:rPr>
              <a:t>4</a:t>
            </a:r>
            <a:r>
              <a:rPr sz="2250">
                <a:solidFill>
                  <a:srgbClr val="222222"/>
                </a:solidFill>
                <a:latin typeface="Menlo"/>
                <a:ea typeface="Menlo"/>
                <a:cs typeface="Menlo"/>
              </a:rPr>
              <a:t>, </a:t>
            </a:r>
            <a:r>
              <a:rPr sz="2250">
                <a:solidFill>
                  <a:srgbClr val="0B6B3A"/>
                </a:solidFill>
                <a:latin typeface="Menlo"/>
                <a:ea typeface="Menlo"/>
                <a:cs typeface="Menlo"/>
              </a:rPr>
              <a:t>"rana"</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11CD6865-BBBE-46EE-AC32-9D21CE9F09C3}"/>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0EA95798-0A4D-4B7F-8544-720D83B74971}"/>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Result: soyo,rana,taki</a:t>
            </a:r>
          </a:p>
        </p:txBody>
      </p:sp>
      <p:sp>
        <p:nvSpPr>
          <p:cNvPr id="9" name="cue-2">
            <a:extLst xmlns:a="http://schemas.openxmlformats.org/drawingml/2006/main">
              <a:ext uri="{FF2B5EF4-FFF2-40B4-BE49-F238E27FC236}">
                <a16:creationId xmlns:a16="http://schemas.microsoft.com/office/drawing/2014/main" id="{0A5C61A0-F9E6-4379-A710-A4424EA94D8F}"/>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After a longer replacement, find later positions again.</a:t>
            </a:r>
          </a:p>
        </p:txBody>
      </p:sp>
    </p:spTree>
    <p:extLst>
      <p:ext uri="{BB962C8B-B14F-4D97-AF65-F5344CB8AC3E}">
        <p14:creationId xmlns:p14="http://schemas.microsoft.com/office/powerpoint/2010/main" val="85572734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9AB4A530-0C7F-4D4B-B4AE-7320BA022AB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495E04E4-C4C9-4FE9-A0BA-B97693FF7182}"/>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54 / 62</a:t>
            </a:r>
          </a:p>
        </p:txBody>
      </p:sp>
      <p:sp>
        <p:nvSpPr>
          <p:cNvPr id="3" name="heading-1">
            <a:extLst xmlns:a="http://schemas.openxmlformats.org/drawingml/2006/main">
              <a:ext uri="{FF2B5EF4-FFF2-40B4-BE49-F238E27FC236}">
                <a16:creationId xmlns:a16="http://schemas.microsoft.com/office/drawing/2014/main" id="{46E8E8AD-6E38-4F17-B010-1571C643AEE3}"/>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Appending and erasing</a:t>
            </a:r>
          </a:p>
        </p:txBody>
      </p:sp>
      <p:sp>
        <p:nvSpPr>
          <p:cNvPr id="4" name="code-1">
            <a:extLst xmlns:a="http://schemas.openxmlformats.org/drawingml/2006/main">
              <a:ext uri="{FF2B5EF4-FFF2-40B4-BE49-F238E27FC236}">
                <a16:creationId xmlns:a16="http://schemas.microsoft.com/office/drawing/2014/main" id="{3C82CBC0-F6B8-4471-B761-5666E663869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members +</a:t>
            </a:r>
            <a:r>
              <a:rPr sz="2250">
                <a:solidFill>
                  <a:srgbClr val="222222"/>
                </a:solidFill>
                <a:latin typeface="Menlo"/>
                <a:ea typeface="Menlo"/>
                <a:cs typeface="Menlo"/>
              </a:rPr>
              <a:t>= </a:t>
            </a:r>
            <a:r>
              <a:rPr sz="2250">
                <a:solidFill>
                  <a:srgbClr val="0B6B3A"/>
                </a:solidFill>
                <a:latin typeface="Menlo"/>
                <a:ea typeface="Menlo"/>
                <a:cs typeface="Menlo"/>
              </a:rPr>
              <a:t>",tomori"</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E1081132-BDF0-4EFC-B08C-3F5AD76C5537}"/>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members.</a:t>
            </a:r>
            <a:r>
              <a:rPr sz="2250">
                <a:solidFill>
                  <a:srgbClr val="005CC5"/>
                </a:solidFill>
                <a:latin typeface="Menlo"/>
                <a:ea typeface="Menlo"/>
                <a:cs typeface="Menlo"/>
              </a:rPr>
              <a:t>insert</a:t>
            </a:r>
            <a:r>
              <a:rPr sz="2250">
                <a:solidFill>
                  <a:srgbClr val="222222"/>
                </a:solidFill>
                <a:latin typeface="Menlo"/>
                <a:ea typeface="Menlo"/>
                <a:cs typeface="Menlo"/>
              </a:rPr>
              <a:t>(</a:t>
            </a:r>
            <a:r>
              <a:rPr sz="2250">
                <a:solidFill>
                  <a:srgbClr val="9A4D00"/>
                </a:solidFill>
                <a:latin typeface="Menlo"/>
                <a:ea typeface="Menlo"/>
                <a:cs typeface="Menlo"/>
              </a:rPr>
              <a:t>0</a:t>
            </a:r>
            <a:r>
              <a:rPr sz="2250">
                <a:solidFill>
                  <a:srgbClr val="222222"/>
                </a:solidFill>
                <a:latin typeface="Menlo"/>
                <a:ea typeface="Menlo"/>
                <a:cs typeface="Menlo"/>
              </a:rPr>
              <a:t>, </a:t>
            </a:r>
            <a:r>
              <a:rPr sz="2250">
                <a:solidFill>
                  <a:srgbClr val="0B6B3A"/>
                </a:solidFill>
                <a:latin typeface="Menlo"/>
                <a:ea typeface="Menlo"/>
                <a:cs typeface="Menlo"/>
              </a:rPr>
              <a:t>"rana,"</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D4D10820-0159-4E57-BB2F-B5FDA58EDA1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members.</a:t>
            </a:r>
            <a:r>
              <a:rPr sz="2250">
                <a:solidFill>
                  <a:srgbClr val="005CC5"/>
                </a:solidFill>
                <a:latin typeface="Menlo"/>
                <a:ea typeface="Menlo"/>
                <a:cs typeface="Menlo"/>
              </a:rPr>
              <a:t>erase</a:t>
            </a:r>
            <a:r>
              <a:rPr sz="2250">
                <a:solidFill>
                  <a:srgbClr val="222222"/>
                </a:solidFill>
                <a:latin typeface="Menlo"/>
                <a:ea typeface="Menlo"/>
                <a:cs typeface="Menlo"/>
              </a:rPr>
              <a:t>(</a:t>
            </a:r>
            <a:r>
              <a:rPr sz="2250">
                <a:solidFill>
                  <a:srgbClr val="9A4D00"/>
                </a:solidFill>
                <a:latin typeface="Menlo"/>
                <a:ea typeface="Menlo"/>
                <a:cs typeface="Menlo"/>
              </a:rPr>
              <a:t>0</a:t>
            </a:r>
            <a:r>
              <a:rPr sz="2250">
                <a:solidFill>
                  <a:srgbClr val="222222"/>
                </a:solidFill>
                <a:latin typeface="Menlo"/>
                <a:ea typeface="Menlo"/>
                <a:cs typeface="Menlo"/>
              </a:rPr>
              <a:t>, </a:t>
            </a:r>
            <a:r>
              <a:rPr sz="2250">
                <a:solidFill>
                  <a:srgbClr val="9A4D00"/>
                </a:solidFill>
                <a:latin typeface="Menlo"/>
                <a:ea typeface="Menlo"/>
                <a:cs typeface="Menlo"/>
              </a:rPr>
              <a:t>5</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626005F8-2771-4D78-97A1-0AF7A410C04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Who removes the separator when deleting a name?</a:t>
            </a:r>
          </a:p>
        </p:txBody>
      </p:sp>
    </p:spTree>
    <p:extLst>
      <p:ext uri="{BB962C8B-B14F-4D97-AF65-F5344CB8AC3E}">
        <p14:creationId xmlns:p14="http://schemas.microsoft.com/office/powerpoint/2010/main" val="24531662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5385593D-0303-4758-AFD3-2889B53B0835}"/>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AD58A71-4565-40E6-B2FB-0DA9A09F97B7}"/>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55 / 62</a:t>
            </a:r>
          </a:p>
        </p:txBody>
      </p:sp>
      <p:sp>
        <p:nvSpPr>
          <p:cNvPr id="3" name="heading-1">
            <a:extLst xmlns:a="http://schemas.openxmlformats.org/drawingml/2006/main">
              <a:ext uri="{FF2B5EF4-FFF2-40B4-BE49-F238E27FC236}">
                <a16:creationId xmlns:a16="http://schemas.microsoft.com/office/drawing/2014/main" id="{5BB70FBC-FD84-49D7-83F7-E78389DDCDA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State after each string edit</a:t>
            </a:r>
          </a:p>
        </p:txBody>
      </p:sp>
      <p:sp>
        <p:nvSpPr>
          <p:cNvPr id="4" name="code-1">
            <a:extLst xmlns:a="http://schemas.openxmlformats.org/drawingml/2006/main">
              <a:ext uri="{FF2B5EF4-FFF2-40B4-BE49-F238E27FC236}">
                <a16:creationId xmlns:a16="http://schemas.microsoft.com/office/drawing/2014/main" id="{81B6FC68-8465-49A8-9BEC-A46E85ABC18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start:    soyo,anon,taki</a:t>
            </a:r>
          </a:p>
        </p:txBody>
      </p:sp>
      <p:sp>
        <p:nvSpPr>
          <p:cNvPr id="5" name="code-2">
            <a:extLst xmlns:a="http://schemas.openxmlformats.org/drawingml/2006/main">
              <a:ext uri="{FF2B5EF4-FFF2-40B4-BE49-F238E27FC236}">
                <a16:creationId xmlns:a16="http://schemas.microsoft.com/office/drawing/2014/main" id="{6196AD7B-855A-4D95-93BA-B80E2FB7CA67}"/>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append:   soyo,anon,taki,tomori</a:t>
            </a:r>
          </a:p>
        </p:txBody>
      </p:sp>
      <p:sp>
        <p:nvSpPr>
          <p:cNvPr id="6" name="code-3">
            <a:extLst xmlns:a="http://schemas.openxmlformats.org/drawingml/2006/main">
              <a:ext uri="{FF2B5EF4-FFF2-40B4-BE49-F238E27FC236}">
                <a16:creationId xmlns:a16="http://schemas.microsoft.com/office/drawing/2014/main" id="{80A12650-708A-439B-843A-78806D14CA3E}"/>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insert:   rana,soyo,anon,taki,tomori</a:t>
            </a:r>
          </a:p>
        </p:txBody>
      </p:sp>
      <p:sp>
        <p:nvSpPr>
          <p:cNvPr id="7" name="code-4">
            <a:extLst xmlns:a="http://schemas.openxmlformats.org/drawingml/2006/main">
              <a:ext uri="{FF2B5EF4-FFF2-40B4-BE49-F238E27FC236}">
                <a16:creationId xmlns:a16="http://schemas.microsoft.com/office/drawing/2014/main" id="{D5B0B054-2FE2-47C9-9305-778BFF23C385}"/>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erase:    soyo,anon,taki,tomori</a:t>
            </a:r>
          </a:p>
        </p:txBody>
      </p:sp>
      <p:sp>
        <p:nvSpPr>
          <p:cNvPr id="8" name="cue-1">
            <a:extLst xmlns:a="http://schemas.openxmlformats.org/drawingml/2006/main">
              <a:ext uri="{FF2B5EF4-FFF2-40B4-BE49-F238E27FC236}">
                <a16:creationId xmlns:a16="http://schemas.microsoft.com/office/drawing/2014/main" id="{05574A1F-5EEE-40C1-ADE7-FBD93AD23A9F}"/>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Each edit starts from the previous result.</a:t>
            </a:r>
          </a:p>
        </p:txBody>
      </p:sp>
    </p:spTree>
    <p:extLst>
      <p:ext uri="{BB962C8B-B14F-4D97-AF65-F5344CB8AC3E}">
        <p14:creationId xmlns:p14="http://schemas.microsoft.com/office/powerpoint/2010/main" val="106634615"/>
      </p:ext>
    </p:extLst>
  </p:cSld>
</p:sld>
</file>

<file path=ppt/slides/slide5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7D5DB61E-61D3-4B4D-913D-CD666136F32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CA056D9-A6F6-40DD-8799-67F883549E2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56 / 62</a:t>
            </a:r>
          </a:p>
        </p:txBody>
      </p:sp>
      <p:sp>
        <p:nvSpPr>
          <p:cNvPr id="3" name="heading-1">
            <a:extLst xmlns:a="http://schemas.openxmlformats.org/drawingml/2006/main">
              <a:ext uri="{FF2B5EF4-FFF2-40B4-BE49-F238E27FC236}">
                <a16:creationId xmlns:a16="http://schemas.microsoft.com/office/drawing/2014/main" id="{521F4D32-6AB6-4DB0-A39A-D1D6EEC0BB00}"/>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find and replace a member</a:t>
            </a:r>
          </a:p>
        </p:txBody>
      </p:sp>
      <p:sp>
        <p:nvSpPr>
          <p:cNvPr id="4" name="body-1">
            <a:extLst xmlns:a="http://schemas.openxmlformats.org/drawingml/2006/main">
              <a:ext uri="{FF2B5EF4-FFF2-40B4-BE49-F238E27FC236}">
                <a16:creationId xmlns:a16="http://schemas.microsoft.com/office/drawing/2014/main" id="{EAA3F83B-4BEB-459B-9761-0DD5EC5FE351}"/>
              </a:ext>
            </a:extLst>
          </p:cNvPr>
          <p:cNvSpPr>
            <a:spLocks xmlns:a="http://schemas.openxmlformats.org/drawingml/2006/main" noGrp="1"/>
          </p:cNvSpPr>
          <p:nvPr/>
        </p:nvSpPr>
        <p:spPr>
          <a:xfrm xmlns:a="http://schemas.openxmlformats.org/drawingml/2006/main">
            <a:off x="800100" y="22383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Start with soyo,anon,taki</a:t>
            </a:r>
          </a:p>
        </p:txBody>
      </p:sp>
      <p:sp>
        <p:nvSpPr>
          <p:cNvPr id="5" name="body-2">
            <a:extLst xmlns:a="http://schemas.openxmlformats.org/drawingml/2006/main">
              <a:ext uri="{FF2B5EF4-FFF2-40B4-BE49-F238E27FC236}">
                <a16:creationId xmlns:a16="http://schemas.microsoft.com/office/drawing/2014/main" id="{E5904344-A5C9-4E30-BCF2-2181758D0D6E}"/>
              </a:ext>
            </a:extLst>
          </p:cNvPr>
          <p:cNvSpPr>
            <a:spLocks xmlns:a="http://schemas.openxmlformats.org/drawingml/2006/main" noGrp="1"/>
          </p:cNvSpPr>
          <p:nvPr/>
        </p:nvSpPr>
        <p:spPr>
          <a:xfrm xmlns:a="http://schemas.openxmlformats.org/drawingml/2006/main">
            <a:off x="800100" y="27527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Replace anon with tomori if found</a:t>
            </a:r>
          </a:p>
        </p:txBody>
      </p:sp>
      <p:sp>
        <p:nvSpPr>
          <p:cNvPr id="6" name="body-3">
            <a:extLst xmlns:a="http://schemas.openxmlformats.org/drawingml/2006/main">
              <a:ext uri="{FF2B5EF4-FFF2-40B4-BE49-F238E27FC236}">
                <a16:creationId xmlns:a16="http://schemas.microsoft.com/office/drawing/2014/main" id="{D66F2909-5FD4-4A69-8E4C-0B276B49966A}"/>
              </a:ext>
            </a:extLst>
          </p:cNvPr>
          <p:cNvSpPr>
            <a:spLocks xmlns:a="http://schemas.openxmlformats.org/drawingml/2006/main" noGrp="1"/>
          </p:cNvSpPr>
          <p:nvPr/>
        </p:nvSpPr>
        <p:spPr>
          <a:xfrm xmlns:a="http://schemas.openxmlformats.org/drawingml/2006/main">
            <a:off x="800100" y="32670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Keep the string unchanged if absent</a:t>
            </a:r>
          </a:p>
        </p:txBody>
      </p:sp>
    </p:spTree>
    <p:extLst>
      <p:ext uri="{BB962C8B-B14F-4D97-AF65-F5344CB8AC3E}">
        <p14:creationId xmlns:p14="http://schemas.microsoft.com/office/powerpoint/2010/main" val="743370824"/>
      </p:ext>
    </p:extLst>
  </p:cSld>
</p:sld>
</file>

<file path=ppt/slides/slide5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82CAEBD0-6D2A-412C-A352-CE5CAE0EE10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427DE30-B840-4F1A-A0E4-85C2774EE562}"/>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57 / 62</a:t>
            </a:r>
          </a:p>
        </p:txBody>
      </p:sp>
      <p:sp>
        <p:nvSpPr>
          <p:cNvPr id="3" name="heading-1">
            <a:extLst xmlns:a="http://schemas.openxmlformats.org/drawingml/2006/main">
              <a:ext uri="{FF2B5EF4-FFF2-40B4-BE49-F238E27FC236}">
                <a16:creationId xmlns:a16="http://schemas.microsoft.com/office/drawing/2014/main" id="{EB316624-D767-479B-AF1D-B1F74D67C53B}"/>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Putting it together</a:t>
            </a:r>
          </a:p>
        </p:txBody>
      </p:sp>
      <p:sp>
        <p:nvSpPr>
          <p:cNvPr id="4" name="body-1">
            <a:extLst xmlns:a="http://schemas.openxmlformats.org/drawingml/2006/main">
              <a:ext uri="{FF2B5EF4-FFF2-40B4-BE49-F238E27FC236}">
                <a16:creationId xmlns:a16="http://schemas.microsoft.com/office/drawing/2014/main" id="{7C1D8E3A-D381-4796-A0FB-BE51B70E22AD}"/>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Related data can belong to one object</a:t>
            </a:r>
          </a:p>
        </p:txBody>
      </p:sp>
    </p:spTree>
    <p:extLst>
      <p:ext uri="{BB962C8B-B14F-4D97-AF65-F5344CB8AC3E}">
        <p14:creationId xmlns:p14="http://schemas.microsoft.com/office/powerpoint/2010/main" val="144358603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ABDCF0DA-8A0A-413C-A194-601BBDEC7E2B}"/>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9EE2CDC-5B60-4EBC-B364-C7AEADB32CE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58 / 62</a:t>
            </a:r>
          </a:p>
        </p:txBody>
      </p:sp>
      <p:sp>
        <p:nvSpPr>
          <p:cNvPr id="3" name="heading-1">
            <a:extLst xmlns:a="http://schemas.openxmlformats.org/drawingml/2006/main">
              <a:ext uri="{FF2B5EF4-FFF2-40B4-BE49-F238E27FC236}">
                <a16:creationId xmlns:a16="http://schemas.microsoft.com/office/drawing/2014/main" id="{DA5264CD-034C-4427-A4A4-26A4EC32066F}"/>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single record</a:t>
            </a:r>
          </a:p>
        </p:txBody>
      </p:sp>
      <p:sp>
        <p:nvSpPr>
          <p:cNvPr id="4" name="code-1">
            <a:extLst xmlns:a="http://schemas.openxmlformats.org/drawingml/2006/main">
              <a:ext uri="{FF2B5EF4-FFF2-40B4-BE49-F238E27FC236}">
                <a16:creationId xmlns:a16="http://schemas.microsoft.com/office/drawing/2014/main" id="{DD917AEA-3336-417F-A21A-2AAF22FA20E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struct</a:t>
            </a:r>
            <a:r>
              <a:rPr sz="2250">
                <a:solidFill>
                  <a:srgbClr val="222222"/>
                </a:solidFill>
                <a:latin typeface="Menlo"/>
                <a:ea typeface="Menlo"/>
                <a:cs typeface="Menlo"/>
              </a:rPr>
              <a:t> </a:t>
            </a:r>
            <a:r>
              <a:rPr sz="2250">
                <a:solidFill>
                  <a:srgbClr val="222222"/>
                </a:solidFill>
                <a:latin typeface="Menlo"/>
                <a:ea typeface="Menlo"/>
                <a:cs typeface="Menlo"/>
              </a:rPr>
              <a:t>BandRecord</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C048F9F3-0260-4D70-9555-6A391679EEAF}"/>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string guitar;</a:t>
            </a:r>
          </a:p>
        </p:txBody>
      </p:sp>
      <p:sp>
        <p:nvSpPr>
          <p:cNvPr id="6" name="code-3">
            <a:extLst xmlns:a="http://schemas.openxmlformats.org/drawingml/2006/main">
              <a:ext uri="{FF2B5EF4-FFF2-40B4-BE49-F238E27FC236}">
                <a16:creationId xmlns:a16="http://schemas.microsoft.com/office/drawing/2014/main" id="{5886196D-6F9D-4327-9C9E-1BDDD51FD281}"/>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string vocal;</a:t>
            </a:r>
          </a:p>
        </p:txBody>
      </p:sp>
      <p:sp>
        <p:nvSpPr>
          <p:cNvPr id="7" name="code-4">
            <a:extLst xmlns:a="http://schemas.openxmlformats.org/drawingml/2006/main">
              <a:ext uri="{FF2B5EF4-FFF2-40B4-BE49-F238E27FC236}">
                <a16:creationId xmlns:a16="http://schemas.microsoft.com/office/drawing/2014/main" id="{7BF38DA2-CEE6-4F13-A58B-27200894D843}"/>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A22BD559-DD07-4B47-8D46-58AA96182F2D}"/>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9" name="code-6">
            <a:extLst xmlns:a="http://schemas.openxmlformats.org/drawingml/2006/main">
              <a:ext uri="{FF2B5EF4-FFF2-40B4-BE49-F238E27FC236}">
                <a16:creationId xmlns:a16="http://schemas.microsoft.com/office/drawing/2014/main" id="{0591C2FF-EC76-4B11-987D-18FBBF07E502}"/>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BandRecord band </a:t>
            </a:r>
            <a:r>
              <a:rPr sz="2250">
                <a:solidFill>
                  <a:srgbClr val="222222"/>
                </a:solidFill>
                <a:latin typeface="Menlo"/>
                <a:ea typeface="Menlo"/>
                <a:cs typeface="Menlo"/>
              </a:rPr>
              <a:t>= {</a:t>
            </a:r>
            <a:r>
              <a:rPr sz="2250">
                <a:solidFill>
                  <a:srgbClr val="0B6B3A"/>
                </a:solidFill>
                <a:latin typeface="Menlo"/>
                <a:ea typeface="Menlo"/>
                <a:cs typeface="Menlo"/>
              </a:rPr>
              <a:t>"mutsumi"</a:t>
            </a:r>
            <a:r>
              <a:rPr sz="2250">
                <a:solidFill>
                  <a:srgbClr val="222222"/>
                </a:solidFill>
                <a:latin typeface="Menlo"/>
                <a:ea typeface="Menlo"/>
                <a:cs typeface="Menlo"/>
              </a:rPr>
              <a:t>, </a:t>
            </a:r>
            <a:r>
              <a:rPr sz="2250">
                <a:solidFill>
                  <a:srgbClr val="0B6B3A"/>
                </a:solidFill>
                <a:latin typeface="Menlo"/>
                <a:ea typeface="Menlo"/>
                <a:cs typeface="Menlo"/>
              </a:rPr>
              <a:t>"hatsune"</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3998073A-79CD-41BA-8ADB-A646A4A010F4}"/>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band.guitar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160489E3-92B3-43F4-A7AC-B146D5F31E5E}"/>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type describes the structure. An object stores one instance.</a:t>
            </a:r>
          </a:p>
        </p:txBody>
      </p:sp>
    </p:spTree>
    <p:extLst>
      <p:ext uri="{BB962C8B-B14F-4D97-AF65-F5344CB8AC3E}">
        <p14:creationId xmlns:p14="http://schemas.microsoft.com/office/powerpoint/2010/main" val="132189655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59A77656-ACB4-425E-8BC9-55C5030A9A3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251D7BB-F169-4E4E-8FF7-77B0631985D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59 / 62</a:t>
            </a:r>
          </a:p>
        </p:txBody>
      </p:sp>
      <p:sp>
        <p:nvSpPr>
          <p:cNvPr id="3" name="heading-1">
            <a:extLst xmlns:a="http://schemas.openxmlformats.org/drawingml/2006/main">
              <a:ext uri="{FF2B5EF4-FFF2-40B4-BE49-F238E27FC236}">
                <a16:creationId xmlns:a16="http://schemas.microsoft.com/office/drawing/2014/main" id="{AD0C9295-C623-4271-8418-2C20000DFB22}"/>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type and two records</a:t>
            </a:r>
          </a:p>
        </p:txBody>
      </p:sp>
      <p:sp>
        <p:nvSpPr>
          <p:cNvPr id="4" name="code-1">
            <a:extLst xmlns:a="http://schemas.openxmlformats.org/drawingml/2006/main">
              <a:ext uri="{FF2B5EF4-FFF2-40B4-BE49-F238E27FC236}">
                <a16:creationId xmlns:a16="http://schemas.microsoft.com/office/drawing/2014/main" id="{863C8A7E-2861-4673-BCE9-D46090DC023F}"/>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BandRecord a </a:t>
            </a:r>
            <a:r>
              <a:rPr sz="2250">
                <a:solidFill>
                  <a:srgbClr val="222222"/>
                </a:solidFill>
                <a:latin typeface="Menlo"/>
                <a:ea typeface="Menlo"/>
                <a:cs typeface="Menlo"/>
              </a:rPr>
              <a:t>= {</a:t>
            </a:r>
            <a:r>
              <a:rPr sz="2250">
                <a:solidFill>
                  <a:srgbClr val="0B6B3A"/>
                </a:solidFill>
                <a:latin typeface="Menlo"/>
                <a:ea typeface="Menlo"/>
                <a:cs typeface="Menlo"/>
              </a:rPr>
              <a:t>"mutsumi"</a:t>
            </a:r>
            <a:r>
              <a:rPr sz="2250">
                <a:solidFill>
                  <a:srgbClr val="222222"/>
                </a:solidFill>
                <a:latin typeface="Menlo"/>
                <a:ea typeface="Menlo"/>
                <a:cs typeface="Menlo"/>
              </a:rPr>
              <a:t>, </a:t>
            </a:r>
            <a:r>
              <a:rPr sz="2250">
                <a:solidFill>
                  <a:srgbClr val="0B6B3A"/>
                </a:solidFill>
                <a:latin typeface="Menlo"/>
                <a:ea typeface="Menlo"/>
                <a:cs typeface="Menlo"/>
              </a:rPr>
              <a:t>"hatsune"</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591AECF1-3074-4542-BEE9-DD4378528A78}"/>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BandRecord b </a:t>
            </a:r>
            <a:r>
              <a:rPr sz="2250">
                <a:solidFill>
                  <a:srgbClr val="222222"/>
                </a:solidFill>
                <a:latin typeface="Menlo"/>
                <a:ea typeface="Menlo"/>
                <a:cs typeface="Menlo"/>
              </a:rPr>
              <a:t>= {</a:t>
            </a:r>
            <a:r>
              <a:rPr sz="2250">
                <a:solidFill>
                  <a:srgbClr val="0B6B3A"/>
                </a:solidFill>
                <a:latin typeface="Menlo"/>
                <a:ea typeface="Menlo"/>
                <a:cs typeface="Menlo"/>
              </a:rPr>
              <a:t>"anon"</a:t>
            </a:r>
            <a:r>
              <a:rPr sz="2250">
                <a:solidFill>
                  <a:srgbClr val="222222"/>
                </a:solidFill>
                <a:latin typeface="Menlo"/>
                <a:ea typeface="Menlo"/>
                <a:cs typeface="Menlo"/>
              </a:rPr>
              <a:t>, </a:t>
            </a:r>
            <a:r>
              <a:rPr sz="2250">
                <a:solidFill>
                  <a:srgbClr val="0B6B3A"/>
                </a:solidFill>
                <a:latin typeface="Menlo"/>
                <a:ea typeface="Menlo"/>
                <a:cs typeface="Menlo"/>
              </a:rPr>
              <a:t>"tomori"</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B171931D-F245-4924-84F4-34AB42893B85}"/>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a.guitar </a:t>
            </a:r>
            <a:r>
              <a:rPr sz="2250">
                <a:solidFill>
                  <a:srgbClr val="222222"/>
                </a:solidFill>
                <a:latin typeface="Menlo"/>
                <a:ea typeface="Menlo"/>
                <a:cs typeface="Menlo"/>
              </a:rPr>
              <a:t>= </a:t>
            </a:r>
            <a:r>
              <a:rPr sz="2250">
                <a:solidFill>
                  <a:srgbClr val="0B6B3A"/>
                </a:solidFill>
                <a:latin typeface="Menlo"/>
                <a:ea typeface="Menlo"/>
                <a:cs typeface="Menlo"/>
              </a:rPr>
              <a:t>"soyo"</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49EF3EB3-0E60-4370-801B-0191F09E543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Two objects of the same type hold their own fields.</a:t>
            </a:r>
          </a:p>
        </p:txBody>
      </p:sp>
    </p:spTree>
    <p:extLst>
      <p:ext uri="{BB962C8B-B14F-4D97-AF65-F5344CB8AC3E}">
        <p14:creationId xmlns:p14="http://schemas.microsoft.com/office/powerpoint/2010/main" val="349400855"/>
      </p:ext>
    </p:extLst>
  </p:cSld>
</p:sld>
</file>

<file path=ppt/slides/slide6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974B3A47-237E-44C3-B9CE-3FDA961C8761}"/>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9E210F0-E8C9-4B85-A601-EF3D555B0E84}"/>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60 / 62</a:t>
            </a:r>
          </a:p>
        </p:txBody>
      </p:sp>
      <p:sp>
        <p:nvSpPr>
          <p:cNvPr id="3" name="heading-1">
            <a:extLst xmlns:a="http://schemas.openxmlformats.org/drawingml/2006/main">
              <a:ext uri="{FF2B5EF4-FFF2-40B4-BE49-F238E27FC236}">
                <a16:creationId xmlns:a16="http://schemas.microsoft.com/office/drawing/2014/main" id="{50A0AFBC-607F-4798-82FD-0A454B931614}"/>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Integrated task: a score report</a:t>
            </a:r>
          </a:p>
        </p:txBody>
      </p:sp>
      <p:sp>
        <p:nvSpPr>
          <p:cNvPr id="4" name="body-1">
            <a:extLst xmlns:a="http://schemas.openxmlformats.org/drawingml/2006/main">
              <a:ext uri="{FF2B5EF4-FFF2-40B4-BE49-F238E27FC236}">
                <a16:creationId xmlns:a16="http://schemas.microsoft.com/office/drawing/2014/main" id="{D2D4B16E-36C2-4AE2-A915-5FD30FE8A5B4}"/>
              </a:ext>
            </a:extLst>
          </p:cNvPr>
          <p:cNvSpPr>
            <a:spLocks xmlns:a="http://schemas.openxmlformats.org/drawingml/2006/main" noGrp="1"/>
          </p:cNvSpPr>
          <p:nvPr/>
        </p:nvSpPr>
        <p:spPr>
          <a:xfrm xmlns:a="http://schemas.openxmlformats.org/drawingml/2006/main">
            <a:off x="800100" y="22383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Read 3 scores into a std::array</a:t>
            </a:r>
          </a:p>
        </p:txBody>
      </p:sp>
      <p:sp>
        <p:nvSpPr>
          <p:cNvPr id="5" name="body-2">
            <a:extLst xmlns:a="http://schemas.openxmlformats.org/drawingml/2006/main">
              <a:ext uri="{FF2B5EF4-FFF2-40B4-BE49-F238E27FC236}">
                <a16:creationId xmlns:a16="http://schemas.microsoft.com/office/drawing/2014/main" id="{075F13CB-578C-468F-AA8D-BC1F50881647}"/>
              </a:ext>
            </a:extLst>
          </p:cNvPr>
          <p:cNvSpPr>
            <a:spLocks xmlns:a="http://schemas.openxmlformats.org/drawingml/2006/main" noGrp="1"/>
          </p:cNvSpPr>
          <p:nvPr/>
        </p:nvSpPr>
        <p:spPr>
          <a:xfrm xmlns:a="http://schemas.openxmlformats.org/drawingml/2006/main">
            <a:off x="800100" y="27527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Sum them in a loop and print the average to 1 decimal</a:t>
            </a:r>
          </a:p>
        </p:txBody>
      </p:sp>
      <p:sp>
        <p:nvSpPr>
          <p:cNvPr id="6" name="body-3">
            <a:extLst xmlns:a="http://schemas.openxmlformats.org/drawingml/2006/main">
              <a:ext uri="{FF2B5EF4-FFF2-40B4-BE49-F238E27FC236}">
                <a16:creationId xmlns:a16="http://schemas.microsoft.com/office/drawing/2014/main" id="{C60E857F-F246-4D35-8792-9E2DDEF161D7}"/>
              </a:ext>
            </a:extLst>
          </p:cNvPr>
          <p:cNvSpPr>
            <a:spLocks xmlns:a="http://schemas.openxmlformats.org/drawingml/2006/main" noGrp="1"/>
          </p:cNvSpPr>
          <p:nvPr/>
        </p:nvSpPr>
        <p:spPr>
          <a:xfrm xmlns:a="http://schemas.openxmlformats.org/drawingml/2006/main">
            <a:off x="800100" y="32670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Print the number of passing scores</a:t>
            </a:r>
          </a:p>
        </p:txBody>
      </p:sp>
    </p:spTree>
    <p:extLst>
      <p:ext uri="{BB962C8B-B14F-4D97-AF65-F5344CB8AC3E}">
        <p14:creationId xmlns:p14="http://schemas.microsoft.com/office/powerpoint/2010/main" val="76741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2A8E8D75-A362-4A3E-9588-23A0AEBA84A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567BE17-DBF0-40B1-A1D4-D49EADBB131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61 / 62</a:t>
            </a:r>
          </a:p>
        </p:txBody>
      </p:sp>
      <p:sp>
        <p:nvSpPr>
          <p:cNvPr id="3" name="heading-1">
            <a:extLst xmlns:a="http://schemas.openxmlformats.org/drawingml/2006/main">
              <a:ext uri="{FF2B5EF4-FFF2-40B4-BE49-F238E27FC236}">
                <a16:creationId xmlns:a16="http://schemas.microsoft.com/office/drawing/2014/main" id="{7627A619-A06E-48ED-BF23-1BC183D8ED5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Checking the integrated program</a:t>
            </a:r>
          </a:p>
        </p:txBody>
      </p:sp>
      <p:sp>
        <p:nvSpPr>
          <p:cNvPr id="4" name="body-1">
            <a:extLst xmlns:a="http://schemas.openxmlformats.org/drawingml/2006/main">
              <a:ext uri="{FF2B5EF4-FFF2-40B4-BE49-F238E27FC236}">
                <a16:creationId xmlns:a16="http://schemas.microsoft.com/office/drawing/2014/main" id="{864788C4-19F4-49D4-8C4F-856EF0C19374}"/>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94 87 50: average 77.0, 2 passes</a:t>
            </a:r>
          </a:p>
        </p:txBody>
      </p:sp>
      <p:sp>
        <p:nvSpPr>
          <p:cNvPr id="5" name="body-2">
            <a:extLst xmlns:a="http://schemas.openxmlformats.org/drawingml/2006/main">
              <a:ext uri="{FF2B5EF4-FFF2-40B4-BE49-F238E27FC236}">
                <a16:creationId xmlns:a16="http://schemas.microsoft.com/office/drawing/2014/main" id="{177E4529-A780-4D2F-98EB-0486CEF47D31}"/>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60 60 60: average 60.0, 3 passes</a:t>
            </a:r>
          </a:p>
        </p:txBody>
      </p:sp>
      <p:sp>
        <p:nvSpPr>
          <p:cNvPr id="6" name="body-3">
            <a:extLst xmlns:a="http://schemas.openxmlformats.org/drawingml/2006/main">
              <a:ext uri="{FF2B5EF4-FFF2-40B4-BE49-F238E27FC236}">
                <a16:creationId xmlns:a16="http://schemas.microsoft.com/office/drawing/2014/main" id="{1DCA3B29-B326-4B47-8D48-4B4DDCBE5AD3}"/>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0 0 0: average 0.0, 0 passes</a:t>
            </a:r>
          </a:p>
        </p:txBody>
      </p:sp>
      <p:sp>
        <p:nvSpPr>
          <p:cNvPr id="7" name="body-4">
            <a:extLst xmlns:a="http://schemas.openxmlformats.org/drawingml/2006/main">
              <a:ext uri="{FF2B5EF4-FFF2-40B4-BE49-F238E27FC236}">
                <a16:creationId xmlns:a16="http://schemas.microsoft.com/office/drawing/2014/main" id="{1FE4595A-44CE-4E70-9078-05EFA687BF6E}"/>
              </a:ext>
            </a:extLst>
          </p:cNvPr>
          <p:cNvSpPr>
            <a:spLocks xmlns:a="http://schemas.openxmlformats.org/drawingml/2006/main" noGrp="1"/>
          </p:cNvSpPr>
          <p:nvPr/>
        </p:nvSpPr>
        <p:spPr>
          <a:xfrm xmlns:a="http://schemas.openxmlformats.org/drawingml/2006/main">
            <a:off x="800100" y="37814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Check input, accumulators, division, then comparisons</a:t>
            </a:r>
          </a:p>
        </p:txBody>
      </p:sp>
    </p:spTree>
    <p:extLst>
      <p:ext uri="{BB962C8B-B14F-4D97-AF65-F5344CB8AC3E}">
        <p14:creationId xmlns:p14="http://schemas.microsoft.com/office/powerpoint/2010/main" val="96521353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80436CF3-57D6-42F1-B84D-3F034B685452}"/>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6E84A32-3B3E-479E-96A8-A4FFCB57499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62 / 62</a:t>
            </a:r>
          </a:p>
        </p:txBody>
      </p:sp>
      <p:sp>
        <p:nvSpPr>
          <p:cNvPr id="3" name="heading-1">
            <a:extLst xmlns:a="http://schemas.openxmlformats.org/drawingml/2006/main">
              <a:ext uri="{FF2B5EF4-FFF2-40B4-BE49-F238E27FC236}">
                <a16:creationId xmlns:a16="http://schemas.microsoft.com/office/drawing/2014/main" id="{B112E210-D599-4692-AE0C-E916BF17C223}"/>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Lesson 1 review</a:t>
            </a:r>
          </a:p>
        </p:txBody>
      </p:sp>
      <p:sp>
        <p:nvSpPr>
          <p:cNvPr id="4" name="body-1">
            <a:extLst xmlns:a="http://schemas.openxmlformats.org/drawingml/2006/main">
              <a:ext uri="{FF2B5EF4-FFF2-40B4-BE49-F238E27FC236}">
                <a16:creationId xmlns:a16="http://schemas.microsoft.com/office/drawing/2014/main" id="{728F31B0-2064-4640-B7CA-1B3012A7BDED}"/>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Where do you look first in a new program?</a:t>
            </a:r>
          </a:p>
        </p:txBody>
      </p:sp>
      <p:sp>
        <p:nvSpPr>
          <p:cNvPr id="5" name="body-2">
            <a:extLst xmlns:a="http://schemas.openxmlformats.org/drawingml/2006/main">
              <a:ext uri="{FF2B5EF4-FFF2-40B4-BE49-F238E27FC236}">
                <a16:creationId xmlns:a16="http://schemas.microsoft.com/office/drawing/2014/main" id="{1695254F-7406-4712-AB58-43523F6B71DC}"/>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What do you inspect first when a result is wrong?</a:t>
            </a:r>
          </a:p>
        </p:txBody>
      </p:sp>
      <p:sp>
        <p:nvSpPr>
          <p:cNvPr id="6" name="body-3">
            <a:extLst xmlns:a="http://schemas.openxmlformats.org/drawingml/2006/main">
              <a:ext uri="{FF2B5EF4-FFF2-40B4-BE49-F238E27FC236}">
                <a16:creationId xmlns:a16="http://schemas.microsoft.com/office/drawing/2014/main" id="{D5A3A0BC-DB2C-4DDF-8679-18C5E7DA90C9}"/>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Next: how can a function change the caller’s data?</a:t>
            </a:r>
          </a:p>
        </p:txBody>
      </p:sp>
    </p:spTree>
    <p:extLst>
      <p:ext uri="{BB962C8B-B14F-4D97-AF65-F5344CB8AC3E}">
        <p14:creationId xmlns:p14="http://schemas.microsoft.com/office/powerpoint/2010/main" val="241930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2026-10-27T06:00:31.4000000Z</dcterms:created>
  <dcterms:modified xsi:type="dcterms:W3CDTF">2026-10-27T06:00:31.4000000Z</dcterms:modified>
</coreProperties>
</file>